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8be0c31be649e8" /><Relationship Type="http://schemas.openxmlformats.org/officeDocument/2006/relationships/extended-properties" Target="/docProps/app.xml" Id="R98078063e1f4409b" /><Relationship Type="http://schemas.openxmlformats.org/officeDocument/2006/relationships/officeDocument" Target="/ppt/presentation.xml" Id="R3d928c09322049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d205701c854f8c"/>
  </p:sldMasterIdLst>
  <p:notesMasterIdLst>
    <p:notesMasterId xmlns:r="http://schemas.openxmlformats.org/officeDocument/2006/relationships" r:id="Rad2040c3e8c44109"/>
  </p:notesMasterIdLst>
  <p:sldIdLst>
    <p:sldId xmlns:r="http://schemas.openxmlformats.org/officeDocument/2006/relationships" id="256" r:id="R20b5b0baf5af4552"/>
    <p:sldId xmlns:r="http://schemas.openxmlformats.org/officeDocument/2006/relationships" id="257" r:id="Re8932fea242344ef"/>
    <p:sldId xmlns:r="http://schemas.openxmlformats.org/officeDocument/2006/relationships" id="258" r:id="R2abb8ad7cb144d94"/>
    <p:sldId xmlns:r="http://schemas.openxmlformats.org/officeDocument/2006/relationships" id="259" r:id="R9d984f29a8ab4d07"/>
    <p:sldId xmlns:r="http://schemas.openxmlformats.org/officeDocument/2006/relationships" id="260" r:id="Rd6a8b37dd9aa4413"/>
    <p:sldId xmlns:r="http://schemas.openxmlformats.org/officeDocument/2006/relationships" id="261" r:id="Rc7a68042cb5443f7"/>
    <p:sldId xmlns:r="http://schemas.openxmlformats.org/officeDocument/2006/relationships" id="262" r:id="R1c7a856ec9ed4760"/>
    <p:sldId xmlns:r="http://schemas.openxmlformats.org/officeDocument/2006/relationships" id="263" r:id="R0fdbbfffc0944400"/>
    <p:sldId xmlns:r="http://schemas.openxmlformats.org/officeDocument/2006/relationships" id="264" r:id="R95ead05b932849e1"/>
    <p:sldId xmlns:r="http://schemas.openxmlformats.org/officeDocument/2006/relationships" id="265" r:id="R42c6099dbfc74164"/>
    <p:sldId xmlns:r="http://schemas.openxmlformats.org/officeDocument/2006/relationships" id="266" r:id="Rc2acfe712d8548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f23b5ae445409b" /><Relationship Type="http://schemas.openxmlformats.org/officeDocument/2006/relationships/slideMaster" Target="/ppt/slideMasters/slideMaster1.xml" Id="R61d205701c854f8c" /><Relationship Type="http://schemas.openxmlformats.org/officeDocument/2006/relationships/notesMaster" Target="/ppt/notesMasters/notesMaster1.xml" Id="Rad2040c3e8c44109" /><Relationship Type="http://schemas.openxmlformats.org/officeDocument/2006/relationships/presProps" Target="/ppt/presProps.xml" Id="R8c37f351dc3242e3" /><Relationship Type="http://schemas.openxmlformats.org/officeDocument/2006/relationships/tableStyles" Target="/ppt/tableStyles.xml" Id="R7956b19b79924acb" /><Relationship Type="http://schemas.openxmlformats.org/officeDocument/2006/relationships/slide" Target="/ppt/slides/slide1.xml" Id="R20b5b0baf5af4552" /><Relationship Type="http://schemas.openxmlformats.org/officeDocument/2006/relationships/slide" Target="/ppt/slides/slide2.xml" Id="Re8932fea242344ef" /><Relationship Type="http://schemas.openxmlformats.org/officeDocument/2006/relationships/slide" Target="/ppt/slides/slide3.xml" Id="R2abb8ad7cb144d94" /><Relationship Type="http://schemas.openxmlformats.org/officeDocument/2006/relationships/slide" Target="/ppt/slides/slide4.xml" Id="R9d984f29a8ab4d07" /><Relationship Type="http://schemas.openxmlformats.org/officeDocument/2006/relationships/slide" Target="/ppt/slides/slide5.xml" Id="Rd6a8b37dd9aa4413" /><Relationship Type="http://schemas.openxmlformats.org/officeDocument/2006/relationships/slide" Target="/ppt/slides/slide6.xml" Id="Rc7a68042cb5443f7" /><Relationship Type="http://schemas.openxmlformats.org/officeDocument/2006/relationships/slide" Target="/ppt/slides/slide7.xml" Id="R1c7a856ec9ed4760" /><Relationship Type="http://schemas.openxmlformats.org/officeDocument/2006/relationships/slide" Target="/ppt/slides/slide8.xml" Id="R0fdbbfffc0944400" /><Relationship Type="http://schemas.openxmlformats.org/officeDocument/2006/relationships/slide" Target="/ppt/slides/slide9.xml" Id="R95ead05b932849e1" /><Relationship Type="http://schemas.openxmlformats.org/officeDocument/2006/relationships/slide" Target="/ppt/slides/slide10.xml" Id="R42c6099dbfc74164" /><Relationship Type="http://schemas.openxmlformats.org/officeDocument/2006/relationships/slide" Target="/ppt/slides/slide11.xml" Id="Rc2acfe712d8548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03089f29f24d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8158060c5941bd" /><Relationship Type="http://schemas.openxmlformats.org/officeDocument/2006/relationships/notesMaster" Target="/ppt/notesMasters/notesMaster1.xml" Id="R58a568f2bd304a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4ba85c8d24483b" /><Relationship Type="http://schemas.openxmlformats.org/officeDocument/2006/relationships/notesMaster" Target="/ppt/notesMasters/notesMaster1.xml" Id="Rc31811aa6eb443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b6eaa5180e42cd" /><Relationship Type="http://schemas.openxmlformats.org/officeDocument/2006/relationships/notesMaster" Target="/ppt/notesMasters/notesMaster1.xml" Id="R4790719d83e442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78493221ff4512" /><Relationship Type="http://schemas.openxmlformats.org/officeDocument/2006/relationships/notesMaster" Target="/ppt/notesMasters/notesMaster1.xml" Id="Ra8ac871801a241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a987ab86254ffd" /><Relationship Type="http://schemas.openxmlformats.org/officeDocument/2006/relationships/notesMaster" Target="/ppt/notesMasters/notesMaster1.xml" Id="R034d509fa1834f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8b90ed5f114928" /><Relationship Type="http://schemas.openxmlformats.org/officeDocument/2006/relationships/notesMaster" Target="/ppt/notesMasters/notesMaster1.xml" Id="R0aee628272a541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820514970e4562" /><Relationship Type="http://schemas.openxmlformats.org/officeDocument/2006/relationships/notesMaster" Target="/ppt/notesMasters/notesMaster1.xml" Id="Rfa079c50c71840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759baa76e34824" /><Relationship Type="http://schemas.openxmlformats.org/officeDocument/2006/relationships/notesMaster" Target="/ppt/notesMasters/notesMaster1.xml" Id="R9ecd5b8b72984b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6eab1e2f434343" /><Relationship Type="http://schemas.openxmlformats.org/officeDocument/2006/relationships/notesMaster" Target="/ppt/notesMasters/notesMaster1.xml" Id="R71a951770f7740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04fb223e6d4620" /><Relationship Type="http://schemas.openxmlformats.org/officeDocument/2006/relationships/notesMaster" Target="/ppt/notesMasters/notesMaster1.xml" Id="R569c26f3f54844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279d0997734bc1" /><Relationship Type="http://schemas.openxmlformats.org/officeDocument/2006/relationships/notesMaster" Target="/ppt/notesMasters/notesMaster1.xml" Id="R73ac640598ff49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21384676304a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a9c18dea0a4154" /><Relationship Type="http://schemas.openxmlformats.org/officeDocument/2006/relationships/slideLayout" Target="/ppt/slideLayouts/slideLayout1.xml" Id="R593fd257ff084b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3fd257ff084b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fc8b3a57f46f9" /><Relationship Type="http://schemas.openxmlformats.org/officeDocument/2006/relationships/image" Target="/ppt/media/image.png" Id="R3a73cf330c444f3a" /><Relationship Type="http://schemas.openxmlformats.org/officeDocument/2006/relationships/notesSlide" Target="/ppt/notesSlides/notesSlide1.xml" Id="R5a00a80816334d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56d8eb6cd44c6" /><Relationship Type="http://schemas.openxmlformats.org/officeDocument/2006/relationships/notesSlide" Target="/ppt/notesSlides/notesSlide2.xml" Id="R2e77a73955f743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be43089d34b59" /><Relationship Type="http://schemas.openxmlformats.org/officeDocument/2006/relationships/image" Target="/ppt/media/image2.png" Id="R91e2c37d587d4954" /><Relationship Type="http://schemas.openxmlformats.org/officeDocument/2006/relationships/notesSlide" Target="/ppt/notesSlides/notesSlide3.xml" Id="Rf40ae569f71443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395267a3747e3" /><Relationship Type="http://schemas.openxmlformats.org/officeDocument/2006/relationships/notesSlide" Target="/ppt/notesSlides/notesSlide4.xml" Id="R8a82dcfd6eb545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0a9387bfb48a5" /><Relationship Type="http://schemas.openxmlformats.org/officeDocument/2006/relationships/notesSlide" Target="/ppt/notesSlides/notesSlide5.xml" Id="R126ab5f112d948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f585babb849c5" /><Relationship Type="http://schemas.openxmlformats.org/officeDocument/2006/relationships/image" Target="/ppt/media/image3.png" Id="R7e87555a0aa14771" /><Relationship Type="http://schemas.openxmlformats.org/officeDocument/2006/relationships/notesSlide" Target="/ppt/notesSlides/notesSlide6.xml" Id="R6f82a19deb474c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570971b314149" /><Relationship Type="http://schemas.openxmlformats.org/officeDocument/2006/relationships/notesSlide" Target="/ppt/notesSlides/notesSlide7.xml" Id="Rd7cee769366747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d16e74b5247a2" /><Relationship Type="http://schemas.openxmlformats.org/officeDocument/2006/relationships/notesSlide" Target="/ppt/notesSlides/notesSlide8.xml" Id="R266d89582f1741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df07705c84649" /><Relationship Type="http://schemas.openxmlformats.org/officeDocument/2006/relationships/image" Target="/ppt/media/image4.png" Id="Ra11d77b46d4e4b29" /><Relationship Type="http://schemas.openxmlformats.org/officeDocument/2006/relationships/notesSlide" Target="/ppt/notesSlides/notesSlide9.xml" Id="R63b9cdb01ed84f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1b72fe51f4ed0" /><Relationship Type="http://schemas.openxmlformats.org/officeDocument/2006/relationships/notesSlide" Target="/ppt/notesSlides/notesSlide10.xml" Id="R4bae8a4428264a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27cf72dd84554" /><Relationship Type="http://schemas.openxmlformats.org/officeDocument/2006/relationships/notesSlide" Target="/ppt/notesSlides/notesSlide11.xml" Id="R5019f24f285b43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3cf330c444f3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6C468-E45F-43B3-8680-9094B88F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95B22-FD68-4A69-A259-8BE98764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4002B"/>
                </a:solidFill>
              </a:defRPr>
            </a:pPr>
            <a:r>
              <a:rPr sz="1350" b="1" i="0">
                <a:solidFill>
                  <a:srgbClr val="E4002B"/>
                </a:solidFill>
              </a:rPr>
              <a:t>TEAM BRAISE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0124A-EE55-485C-BAF5-74E8F92C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FFF"/>
                </a:solidFill>
              </a:defRPr>
            </a:pPr>
            <a:r>
              <a:rPr sz="4650" b="1" i="0">
                <a:solidFill>
                  <a:srgbClr val="FFFFFF"/>
                </a:solidFill>
              </a:rPr>
              <a:t>KFC Commerce</a:t>
            </a:r>
          </a:p>
          <a:p xmlns:a="http://schemas.openxmlformats.org/drawingml/2006/main">
            <a:pPr algn="l">
              <a:defRPr sz="4650" b="1" i="0">
                <a:solidFill>
                  <a:srgbClr val="FFFFFF"/>
                </a:solidFill>
              </a:defRPr>
            </a:pPr>
            <a:r>
              <a:rPr sz="465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1DE3F-13DB-4ACB-8F3F-C0AC53FD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2E8"/>
                </a:solidFill>
              </a:defRPr>
            </a:pPr>
            <a:r>
              <a:rPr sz="2550" b="1" i="0">
                <a:solidFill>
                  <a:srgbClr val="F7F2E8"/>
                </a:solidFill>
              </a:rPr>
              <a:t>From conversation</a:t>
            </a:r>
          </a:p>
          <a:p xmlns:a="http://schemas.openxmlformats.org/drawingml/2006/main">
            <a:pPr algn="l">
              <a:defRPr sz="2550" b="1" i="0">
                <a:solidFill>
                  <a:srgbClr val="F7F2E8"/>
                </a:solidFill>
              </a:defRPr>
            </a:pPr>
            <a:r>
              <a:rPr sz="2550" b="1" i="0">
                <a:solidFill>
                  <a:srgbClr val="F7F2E8"/>
                </a:solidFill>
              </a:rPr>
              <a:t>to confirmed 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6BED6-B849-4AB6-8D6B-968AD8DD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B2A8"/>
                </a:solidFill>
              </a:defRPr>
            </a:pPr>
            <a:r>
              <a:rPr sz="1050" b="0" i="0">
                <a:solidFill>
                  <a:srgbClr val="B8B2A8"/>
                </a:solidFill>
              </a:rPr>
              <a:t>Agent engineering  x  Commerce execution  x  Product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71C3D-1A6B-4271-9494-0BA8A95A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THANG  /  PRESENTER</a:t>
            </a:r>
          </a:p>
        </p:txBody>
      </p:sp>
    </p:spTree>
    <p:extLst>
      <p:ext uri="{BB962C8B-B14F-4D97-AF65-F5344CB8AC3E}">
        <p14:creationId xmlns:p14="http://schemas.microsoft.com/office/powerpoint/2010/main" val="14024852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FF855F-7C63-47E1-B188-D45078FB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02  /  PROBLEM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E7F49-C26C-4F55-9AFF-59DECE2D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1440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B0D"/>
                </a:solidFill>
              </a:defRPr>
            </a:pPr>
            <a:r>
              <a:rPr sz="3600" b="1" i="0">
                <a:solidFill>
                  <a:srgbClr val="0B0B0D"/>
                </a:solidFill>
              </a:rPr>
              <a:t>A helpful reply is not</a:t>
            </a:r>
          </a:p>
          <a:p xmlns:a="http://schemas.openxmlformats.org/drawingml/2006/main">
            <a:pPr algn="l">
              <a:defRPr sz="3600" b="1" i="0">
                <a:solidFill>
                  <a:srgbClr val="0B0B0D"/>
                </a:solidFill>
              </a:defRPr>
            </a:pPr>
            <a:r>
              <a:rPr sz="3600" b="1" i="0">
                <a:solidFill>
                  <a:srgbClr val="0B0B0D"/>
                </a:solidFill>
              </a:rPr>
              <a:t>a completed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6386C-CAFB-4A15-96FA-08BEEB9D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E4002B"/>
                </a:solidFill>
              </a:defRPr>
            </a:pPr>
            <a:r>
              <a:rPr sz="4350" b="1" i="0">
                <a:solidFill>
                  <a:srgbClr val="E4002B"/>
                </a:solidFill>
              </a:rPr>
              <a:t>CHAT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F33DC-2D04-4A4C-90CC-79759B1B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14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0B0D"/>
                </a:solidFill>
              </a:defRPr>
            </a:pPr>
            <a:r>
              <a:rPr sz="4050" b="1" i="0">
                <a:solidFill>
                  <a:srgbClr val="0B0B0D"/>
                </a:solidFill>
              </a:rPr>
              <a:t>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C1245-8821-4FBC-80DC-DC67FC32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E4002B"/>
                </a:solidFill>
              </a:defRPr>
            </a:pPr>
            <a:r>
              <a:rPr sz="4350" b="1" i="0">
                <a:solidFill>
                  <a:srgbClr val="E4002B"/>
                </a:solidFill>
              </a:rPr>
              <a:t>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070C1-2B37-49B3-A8E7-4D9997DF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4B4742"/>
                </a:solidFill>
              </a:defRPr>
            </a:pPr>
            <a:r>
              <a:rPr sz="1725" b="0" i="0">
                <a:solidFill>
                  <a:srgbClr val="4B4742"/>
                </a:solidFill>
              </a:rPr>
              <a:t>The workflow breaks when natural intent is separated from commerce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3DAD4-1C2A-4555-A8BC-3C0FD2A8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56170-0E30-47F9-8A37-50968AAC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DB8EF-D1D8-4503-83E8-08161310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0B0D"/>
                </a:solidFill>
              </a:defRPr>
            </a:pPr>
            <a:r>
              <a:rPr sz="1575" b="1" i="0">
                <a:solidFill>
                  <a:srgbClr val="0B0B0D"/>
                </a:solidFill>
              </a:rPr>
              <a:t>INTENT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CFF8A-9EE3-439C-BDDF-50EC85D1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6A63"/>
                </a:solidFill>
              </a:defRPr>
            </a:pPr>
            <a:r>
              <a:rPr sz="1200" b="0" i="0">
                <a:solidFill>
                  <a:srgbClr val="6F6A63"/>
                </a:solidFill>
              </a:rPr>
              <a:t>What the customer means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02E4C-2EC0-421A-B315-0E37C9CB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62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D075D-AEFC-46B8-9556-F20E9A99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24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0B0D"/>
                </a:solidFill>
              </a:defRPr>
            </a:pPr>
            <a:r>
              <a:rPr sz="1575" b="1" i="0">
                <a:solidFill>
                  <a:srgbClr val="0B0B0D"/>
                </a:solidFill>
              </a:rPr>
              <a:t>CART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3C886-0EAB-4E7F-A08F-7A9257FA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244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6A63"/>
                </a:solidFill>
              </a:defRPr>
            </a:pPr>
            <a:r>
              <a:rPr sz="1200" b="0" i="0">
                <a:solidFill>
                  <a:srgbClr val="6F6A63"/>
                </a:solidFill>
              </a:rPr>
              <a:t>What they approved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50603-F049-4534-B05A-9BD2EF4C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62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C6D50-EBA0-45E1-8553-0D5B2EB6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324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0B0D"/>
                </a:solidFill>
              </a:defRPr>
            </a:pPr>
            <a:r>
              <a:rPr sz="1575" b="1" i="0">
                <a:solidFill>
                  <a:srgbClr val="0B0B0D"/>
                </a:solidFill>
              </a:rPr>
              <a:t>FULFILLMENT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FAEE0-4CC4-4218-88FB-BEAA8C0F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244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6A63"/>
                </a:solidFill>
              </a:defRPr>
            </a:pPr>
            <a:r>
              <a:rPr sz="1200" b="0" i="0">
                <a:solidFill>
                  <a:srgbClr val="6F6A63"/>
                </a:solidFill>
              </a:rPr>
              <a:t>What can be delivered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82617-D162-49E5-A0EE-D8115ABF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16DAFB-678A-4242-97B9-3F4F3E86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24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0B0D"/>
                </a:solidFill>
              </a:defRPr>
            </a:pPr>
            <a:r>
              <a:rPr sz="1575" b="1" i="0">
                <a:solidFill>
                  <a:srgbClr val="0B0B0D"/>
                </a:solidFill>
              </a:rPr>
              <a:t>ORDER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C6901-0562-4A13-8A35-5959E12F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244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6A63"/>
                </a:solidFill>
              </a:defRPr>
            </a:pPr>
            <a:r>
              <a:rPr sz="1200" b="0" i="0">
                <a:solidFill>
                  <a:srgbClr val="6F6A63"/>
                </a:solidFill>
              </a:rPr>
              <a:t>What was confirmed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33D8F9-8C56-46FF-9A19-9F1A8DBE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F6A63"/>
                </a:solidFill>
              </a:defRPr>
            </a:pPr>
            <a:r>
              <a:rPr sz="975" b="1" i="0">
                <a:solidFill>
                  <a:srgbClr val="6F6A63"/>
                </a:solidFill>
              </a:rPr>
              <a:t>TEAM BRAISE  /  KFC COMMERCE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95DF7-D4D2-41BD-B6C4-D8861F3C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0574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172CFF-A88C-4F18-99F4-C6F190DE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03  /  PRODUCT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A2A03-4BD1-49D8-A6F1-A28B2AC1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One conversation.</a:t>
            </a:r>
          </a:p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One completed order.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6DAFD-C503-44C8-A1A8-E4DA8E84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9EF49-1583-4E64-9E39-E7DC8AD8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UNDERSTAND GOAL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11519-A26A-4738-BE84-3E60D1F6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8B2A8"/>
                </a:solidFill>
              </a:defRPr>
            </a:pPr>
            <a:r>
              <a:rPr sz="1125" b="0" i="0">
                <a:solidFill>
                  <a:srgbClr val="B8B2A8"/>
                </a:solidFill>
              </a:rPr>
              <a:t>Loose items, group size, budget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FFEC4-B8D0-425C-AAC2-CECB5354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21012-9825-442A-9307-00A5185C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DECIDE NEXT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42AD7-59E5-470D-B721-73F57474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8B2A8"/>
                </a:solidFill>
              </a:defRPr>
            </a:pPr>
            <a:r>
              <a:rPr sz="1125" b="0" i="0">
                <a:solidFill>
                  <a:srgbClr val="B8B2A8"/>
                </a:solidFill>
              </a:rPr>
              <a:t>Compare basket with relevant combos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AD3D8-B7FF-4B8F-9A0F-9F7F9EE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DF959-6C1F-49C3-8717-195E6487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93CC5-000F-4710-A447-E461C62E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8B2A8"/>
                </a:solidFill>
              </a:defRPr>
            </a:pPr>
            <a:r>
              <a:rPr sz="1125" b="0" i="0">
                <a:solidFill>
                  <a:srgbClr val="B8B2A8"/>
                </a:solidFill>
              </a:rPr>
              <a:t>Update cart only after 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A1AF0-215A-42D2-8F4E-E4D81079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8403D-D569-43D7-8B5D-BE090D59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6913B-18DD-4B7D-85B8-3DAAA241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435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8B2A8"/>
                </a:solidFill>
              </a:defRPr>
            </a:pPr>
            <a:r>
              <a:rPr sz="1125" b="0" i="0">
                <a:solidFill>
                  <a:srgbClr val="B8B2A8"/>
                </a:solidFill>
              </a:rPr>
              <a:t>Confirm price, fulfillment, order state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2c37d587d4954"/>
          <a:stretch xmlns:a="http://schemas.openxmlformats.org/drawingml/2006/main"/>
        </p:blipFill>
        <p:spPr>
          <a:xfrm xmlns:a="http://schemas.openxmlformats.org/drawingml/2006/main">
            <a:off x="5905500" y="1062038"/>
            <a:ext cx="5524500" cy="4695825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2CDD2-A01E-48D3-AC8C-052BC80A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B2A8"/>
                </a:solidFill>
              </a:defRPr>
            </a:pPr>
            <a:r>
              <a:rPr sz="975" b="1" i="0">
                <a:solidFill>
                  <a:srgbClr val="B8B2A8"/>
                </a:solidFill>
              </a:rPr>
              <a:t>MAIN STORY  /  THE AGENT IS VISIBLE THROUGH THE OUTCOME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C7764-B879-4E8B-AA06-7586945F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91324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B1F1A9-F66B-47F4-A99B-1CDEEA70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04  /  WHY IT WINS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D40B5-4049-4FFB-AF18-230B9D34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09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B0B0D"/>
                </a:solidFill>
              </a:defRPr>
            </a:pPr>
            <a:r>
              <a:rPr sz="3450" b="1" i="0">
                <a:solidFill>
                  <a:srgbClr val="0B0B0D"/>
                </a:solidFill>
              </a:rPr>
              <a:t>It doesn't just take the order.</a:t>
            </a:r>
          </a:p>
          <a:p xmlns:a="http://schemas.openxmlformats.org/drawingml/2006/main">
            <a:pPr algn="l">
              <a:defRPr sz="3450" b="1" i="0">
                <a:solidFill>
                  <a:srgbClr val="0B0B0D"/>
                </a:solidFill>
              </a:defRPr>
            </a:pPr>
            <a:r>
              <a:rPr sz="3450" b="1" i="0">
                <a:solidFill>
                  <a:srgbClr val="0B0B0D"/>
                </a:solidFill>
              </a:rPr>
              <a:t>It improves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B11AE-B27A-4338-80E2-85D7405D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F6A63"/>
                </a:solidFill>
              </a:defRPr>
            </a:pPr>
            <a:r>
              <a:rPr sz="1200" b="1" i="0">
                <a:solidFill>
                  <a:srgbClr val="6F6A63"/>
                </a:solidFill>
              </a:rPr>
              <a:t>LOOSE ITEMS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842A9-6ACB-41A9-B7AE-083345DD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0B0D"/>
                </a:solidFill>
              </a:defRPr>
            </a:pPr>
            <a:r>
              <a:rPr sz="2550" b="1" i="0">
                <a:solidFill>
                  <a:srgbClr val="0B0B0D"/>
                </a:solidFill>
              </a:rPr>
              <a:t>10 pieces</a:t>
            </a:r>
          </a:p>
          <a:p xmlns:a="http://schemas.openxmlformats.org/drawingml/2006/main">
            <a:pPr algn="l">
              <a:defRPr sz="2550" b="1" i="0">
                <a:solidFill>
                  <a:srgbClr val="0B0B0D"/>
                </a:solidFill>
              </a:defRPr>
            </a:pPr>
            <a:r>
              <a:rPr sz="2550" b="1" i="0">
                <a:solidFill>
                  <a:srgbClr val="0B0B0D"/>
                </a:solidFill>
              </a:rPr>
              <a:t>+ 4 medium Pepsi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3E8EA-C273-417F-9183-838236FA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E4002B"/>
                </a:solidFill>
              </a:defRPr>
            </a:pPr>
            <a:r>
              <a:rPr sz="420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4D803-ECB3-4A36-9238-B38114E7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4002B"/>
                </a:solidFill>
              </a:defRPr>
            </a:pPr>
            <a:r>
              <a:rPr sz="1200" b="1" i="0">
                <a:solidFill>
                  <a:srgbClr val="E4002B"/>
                </a:solidFill>
              </a:rPr>
              <a:t>BETTER-FIT 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D0904-DA54-4AD7-92CD-0F59F941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0B0D"/>
                </a:solidFill>
              </a:defRPr>
            </a:pPr>
            <a:r>
              <a:rPr sz="2550" b="1" i="0">
                <a:solidFill>
                  <a:srgbClr val="0B0B0D"/>
                </a:solidFill>
              </a:rPr>
              <a:t>2 relevant combos</a:t>
            </a:r>
          </a:p>
          <a:p xmlns:a="http://schemas.openxmlformats.org/drawingml/2006/main">
            <a:pPr algn="l">
              <a:defRPr sz="2550" b="1" i="0">
                <a:solidFill>
                  <a:srgbClr val="0B0B0D"/>
                </a:solidFill>
              </a:defRPr>
            </a:pPr>
            <a:r>
              <a:rPr sz="2550" b="1" i="0">
                <a:solidFill>
                  <a:srgbClr val="0B0B0D"/>
                </a:solidFill>
              </a:rPr>
              <a:t>+ 4 large Pepsi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1711D-FB1B-4ADE-AF8E-78B23D68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6590F-FE81-4558-8120-23AF9C53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0B0D"/>
                </a:solidFill>
              </a:defRPr>
            </a:pPr>
            <a:r>
              <a:rPr sz="1425" b="1" i="0">
                <a:solidFill>
                  <a:srgbClr val="0B0B0D"/>
                </a:solidFill>
              </a:rPr>
              <a:t>Relevant suggestion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8BE97-5AD7-43E7-B3B6-8D4B53FA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143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0B0D"/>
                </a:solidFill>
              </a:defRPr>
            </a:pPr>
            <a:r>
              <a:rPr sz="1425" b="1" i="0">
                <a:solidFill>
                  <a:srgbClr val="0B0B0D"/>
                </a:solidFill>
              </a:rPr>
              <a:t>Customer-approved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5142A-7754-448E-AE17-D08B6A93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43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0B0D"/>
                </a:solidFill>
              </a:defRPr>
            </a:pPr>
            <a:r>
              <a:rPr sz="1425" b="1" i="0">
                <a:solidFill>
                  <a:srgbClr val="0B0B0D"/>
                </a:solidFill>
              </a:rPr>
              <a:t>Verified final price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2FF8E-BD91-491B-8FD5-A26DC356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6F6A63"/>
                </a:solidFill>
              </a:defRPr>
            </a:pPr>
            <a:r>
              <a:rPr sz="1125" b="0" i="1">
                <a:solidFill>
                  <a:srgbClr val="6F6A63"/>
                </a:solidFill>
              </a:rPr>
              <a:t>The customer stays in control of every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8368C-41F1-4AA2-8964-0402D9F0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F6A63"/>
                </a:solidFill>
              </a:defRPr>
            </a:pPr>
            <a:r>
              <a:rPr sz="975" b="1" i="0">
                <a:solidFill>
                  <a:srgbClr val="6F6A63"/>
                </a:solidFill>
              </a:rPr>
              <a:t>PRODUCT VALUE  /  CUSTOMER CONTROL STAYS EXPLICIT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F0CBD-6A5F-47F2-87EF-B7ACD0F6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8460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C3CD29-8A6C-4507-9781-A096AB60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05  /  EVIDENCE +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31E05-BAA9-42C9-971F-0CAA8095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0" b="1" i="0">
                <a:solidFill>
                  <a:srgbClr val="E4002B"/>
                </a:solidFill>
              </a:defRPr>
            </a:pPr>
            <a:r>
              <a:rPr sz="8100" b="1" i="0">
                <a:solidFill>
                  <a:srgbClr val="E4002B"/>
                </a:solidFill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87901-D295-48E1-B128-352C2F80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19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Representative test scenarios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4839F-0528-44BA-B199-8242E18D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78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8B2A8"/>
                </a:solidFill>
              </a:defRPr>
            </a:pPr>
            <a:r>
              <a:rPr sz="1425" b="0" i="0">
                <a:solidFill>
                  <a:srgbClr val="B8B2A8"/>
                </a:solidFill>
              </a:rPr>
              <a:t>Summarized across the complete customer 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9A5A9-84A6-4B9F-8FE2-B7D8FEE1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98426-D18A-4C9A-A969-F5753841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4002B"/>
                </a:solidFill>
              </a:defRPr>
            </a:pPr>
            <a:r>
              <a:rPr sz="1350" b="1" i="0">
                <a:solidFill>
                  <a:srgbClr val="E4002B"/>
                </a:solidFill>
              </a:rPr>
              <a:t>ORDERING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528F4-B982-4AC4-B3CC-0173E54A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01  Clear order + confirmation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89271-27B2-41F4-AACE-653ED060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02  Combo recommendation + upsell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0A468-72F3-4549-952C-B6750103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06  Natural-language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7F016-F491-428F-92DC-E76752AE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07  Personalization + loyalty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4F3AC-A168-47E1-BFA4-4129E4F9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4002B"/>
                </a:solidFill>
              </a:defRPr>
            </a:pPr>
            <a:r>
              <a:rPr sz="1350" b="1" i="0">
                <a:solidFill>
                  <a:srgbClr val="E4002B"/>
                </a:solidFill>
              </a:rPr>
              <a:t>FULFILLMENT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5C586-5CE0-49E1-84B8-900BDD99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03  Inventory + address + store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1035E-00CE-4BF0-B232-F7612A23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4002B"/>
                </a:solidFill>
              </a:defRPr>
            </a:pPr>
            <a:r>
              <a:rPr sz="1350" b="1" i="0">
                <a:solidFill>
                  <a:srgbClr val="E4002B"/>
                </a:solidFill>
              </a:rPr>
              <a:t>PAYMENT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18599-E910-4E3D-9B3E-601C9071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08  Payment failure + anomaly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3E0BF-11B2-4238-BC6D-39ECE4CB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09  Payment method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09EF6-FA6C-4EB0-B741-D24F65FD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4002B"/>
                </a:solidFill>
              </a:defRPr>
            </a:pPr>
            <a:r>
              <a:rPr sz="1350" b="1" i="0">
                <a:solidFill>
                  <a:srgbClr val="E4002B"/>
                </a:solidFill>
              </a:rPr>
              <a:t>RECOVERY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82D82-54A5-4F20-A1EB-A9499D5C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04  Post-order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4B2035-7823-42EA-9544-2C5CF33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338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05  Complaint + human handoff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A2187-9AAE-443B-887E-D32F073D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79365A-1E18-42FB-8170-3AFF61F3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Each scenario evaluates a complete customer outcome.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1A652-5AC1-4DA8-ACD5-3733ACE6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05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B2A8"/>
                </a:solidFill>
              </a:defRPr>
            </a:pPr>
            <a:r>
              <a:rPr sz="1350" b="0" i="0">
                <a:solidFill>
                  <a:srgbClr val="B8B2A8"/>
                </a:solidFill>
              </a:rPr>
              <a:t>Target: more conversations converted into completed orders.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4BDD36-A04E-466B-BAE4-B2C3B292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B2A8"/>
                </a:solidFill>
              </a:defRPr>
            </a:pPr>
            <a:r>
              <a:rPr sz="975" b="1" i="0">
                <a:solidFill>
                  <a:srgbClr val="B8B2A8"/>
                </a:solidFill>
              </a:rPr>
              <a:t>TEAM BRAISE  /  KFC COMMERCE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2B2597-33C2-4E25-82AE-227BC640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98578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2C575E-C212-4D8F-9697-3AFDBE15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06  / 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74102-3EF0-4ADB-B383-760596A6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Let's complete</a:t>
            </a:r>
          </a:p>
          <a:p xmlns:a="http://schemas.openxmlformats.org/drawingml/2006/main">
            <a:pPr algn="l"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an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ED699-CF2A-414F-BB95-FE6ECD5C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8B2A8"/>
                </a:solidFill>
              </a:defRPr>
            </a:pPr>
            <a:r>
              <a:rPr sz="1500" b="1" i="0">
                <a:solidFill>
                  <a:srgbClr val="B8B2A8"/>
                </a:solidFill>
              </a:rPr>
              <a:t>Loose items → better-fit combo → size upgrade → confirmed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CB6EB-6BF8-4CFC-8F92-E8ADA9AD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1FDA3-6917-4B60-A667-18D6313B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7F2E8"/>
                </a:solidFill>
              </a:defRPr>
            </a:pPr>
            <a:r>
              <a:rPr sz="1950" b="1" i="0">
                <a:solidFill>
                  <a:srgbClr val="F7F2E8"/>
                </a:solidFill>
              </a:rPr>
              <a:t>Choose Team Braise to turn KFC conversations into completed orders.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7555a0aa14771"/>
          <a:stretch xmlns:a="http://schemas.openxmlformats.org/drawingml/2006/main"/>
        </p:blipFill>
        <p:spPr>
          <a:xfrm xmlns:a="http://schemas.openxmlformats.org/drawingml/2006/main">
            <a:off x="7093400" y="514350"/>
            <a:ext cx="2672449" cy="58102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A063A-AE9D-4765-ACC0-03D86AF2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B2A8"/>
                </a:solidFill>
              </a:defRPr>
            </a:pPr>
            <a:r>
              <a:rPr sz="975" b="1" i="0">
                <a:solidFill>
                  <a:srgbClr val="B8B2A8"/>
                </a:solidFill>
              </a:rPr>
              <a:t>DEMO ENDS ON THE VERIFIED CUSTOMER 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9DEC9-6084-4D46-B7F2-A612CB4C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80803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69D893-CF93-4B3E-936E-420569FC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A1  /  RUNTIME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8BC01-2E9A-48DC-8ED9-408BDAAA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0B0D"/>
                </a:solidFill>
              </a:defRPr>
            </a:pPr>
            <a:r>
              <a:rPr sz="2850" b="1" i="0">
                <a:solidFill>
                  <a:srgbClr val="0B0B0D"/>
                </a:solidFill>
              </a:rPr>
              <a:t>One commerce runtime across customer and operator surfaces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8E91C-0998-4379-B705-9C148156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667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F6207-B3ED-49BA-A565-A4DB3E03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002B"/>
                </a:solidFill>
              </a:defRPr>
            </a:pPr>
            <a:r>
              <a:rPr sz="1275" b="1" i="0">
                <a:solidFill>
                  <a:srgbClr val="E4002B"/>
                </a:solidFill>
              </a:rPr>
              <a:t>CUSTOMER SURFACES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6CA83-0CBD-4735-A51B-BC773A0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0B0D"/>
                </a:solidFill>
              </a:defRPr>
            </a:pPr>
            <a:r>
              <a:rPr sz="1500" b="1" i="0">
                <a:solidFill>
                  <a:srgbClr val="0B0B0D"/>
                </a:solidFill>
              </a:rPr>
              <a:t>KFC Chat  •  Messenger  •  Zalo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79DE9-C7CD-425A-B212-06289264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667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9B0EC-BF7D-4D38-95C9-3DF1CFFD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479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002B"/>
                </a:solidFill>
              </a:defRPr>
            </a:pPr>
            <a:r>
              <a:rPr sz="1275" b="1" i="0">
                <a:solidFill>
                  <a:srgbClr val="E4002B"/>
                </a:solidFill>
              </a:rPr>
              <a:t>AGENT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F9672-3472-4FD1-B180-96CCE47B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00400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0B0D"/>
                </a:solidFill>
              </a:defRPr>
            </a:pPr>
            <a:r>
              <a:rPr sz="1500" b="1" i="0">
                <a:solidFill>
                  <a:srgbClr val="0B0B0D"/>
                </a:solidFill>
              </a:rPr>
              <a:t>Plan  •  policy  •  tools  •  verify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8E1D8-91C3-44B3-9242-4DD23621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667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D7457-F353-431D-BAD0-E43C27BE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479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002B"/>
                </a:solidFill>
              </a:defRPr>
            </a:pPr>
            <a:r>
              <a:rPr sz="1275" b="1" i="0">
                <a:solidFill>
                  <a:srgbClr val="E4002B"/>
                </a:solidFill>
              </a:rPr>
              <a:t>COMMERCE ADAPTERS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C8C9C-ECA6-4F4A-8F34-C4C8E888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00400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0B0D"/>
                </a:solidFill>
              </a:defRPr>
            </a:pPr>
            <a:r>
              <a:rPr sz="1500" b="1" i="0">
                <a:solidFill>
                  <a:srgbClr val="0B0B0D"/>
                </a:solidFill>
              </a:rPr>
              <a:t>Catalog  •  store  •  OMS  •  POS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F9307-0F59-4CB5-BB4C-98600F2C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527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E4002B"/>
                </a:solidFill>
              </a:defRPr>
            </a:pPr>
            <a:r>
              <a:rPr sz="330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F7E7E-0F40-400B-8216-6E9F437E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527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E4002B"/>
                </a:solidFill>
              </a:defRPr>
            </a:pPr>
            <a:r>
              <a:rPr sz="330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CF731-5824-4E20-8BD3-793B7B4C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0B0D"/>
                </a:solidFill>
              </a:defRPr>
            </a:pPr>
            <a:r>
              <a:rPr sz="1650" b="1" i="0">
                <a:solidFill>
                  <a:srgbClr val="0B0B0D"/>
                </a:solidFill>
              </a:rPr>
              <a:t>Durable session state and observable events connect both interfaces.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3A7646-9E54-4FAD-B18A-3A1ADB6F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F6A63"/>
                </a:solidFill>
              </a:defRPr>
            </a:pPr>
            <a:r>
              <a:rPr sz="975" b="1" i="0">
                <a:solidFill>
                  <a:srgbClr val="6F6A63"/>
                </a:solidFill>
              </a:rPr>
              <a:t>APPENDIX  /  SUPPORTING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0F686-3E1F-431F-86D9-17A129A4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5996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4CE584-6BED-4654-B56F-2AB3AFF4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A2  /  AGENT BEHAVIOR + STATE AUTHORITY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AB0F5-7ADB-4A06-82B0-2E6A4BB6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FFF"/>
                </a:solidFill>
              </a:defRPr>
            </a:pPr>
            <a:r>
              <a:rPr sz="2925" b="1" i="0">
                <a:solidFill>
                  <a:srgbClr val="FFFFFF"/>
                </a:solidFill>
              </a:rPr>
              <a:t>The response follows verified commerce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3E3D6-3CAD-48A9-8381-6D5091AE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73B84-B121-40D9-BFD7-5BD411C0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6AFD1-C1D7-472E-957A-0B478C2D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GOAL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5A9E1-6E67-45A0-B5D9-37ACDBF3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337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B8B2A8"/>
                </a:solidFill>
              </a:defRPr>
            </a:pPr>
            <a:r>
              <a:rPr sz="1950" b="0" i="0">
                <a:solidFill>
                  <a:srgbClr val="B8B2A8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987D6-C768-43CB-825A-C20BDE43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717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EFD76-FC81-47BD-A9B9-496E16F9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0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671E4-358B-4D75-B63F-D21C94ED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480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62E0A-713C-4D28-B8F3-9FB5871F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337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B8B2A8"/>
                </a:solidFill>
              </a:defRPr>
            </a:pPr>
            <a:r>
              <a:rPr sz="1950" b="0" i="0">
                <a:solidFill>
                  <a:srgbClr val="B8B2A8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9B119-4798-4C4F-B41A-71338D83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488DD-FF90-42EE-936B-CA08B705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0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EC7E6-CD4F-4315-8F5E-C7849F02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480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B591E-8849-439E-8D59-F8212605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337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B8B2A8"/>
                </a:solidFill>
              </a:defRPr>
            </a:pPr>
            <a:r>
              <a:rPr sz="1950" b="0" i="0">
                <a:solidFill>
                  <a:srgbClr val="B8B2A8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DBC33-5E3B-4A1A-A1F6-CB3D35CD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11327-70C6-4A7A-95C3-B3B9DA34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0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B7178-5F7F-48DC-8A11-EF654728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480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FCEB2-88B4-4336-B76D-ACBCAA44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337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B8B2A8"/>
                </a:solidFill>
              </a:defRPr>
            </a:pPr>
            <a:r>
              <a:rPr sz="1950" b="0" i="0">
                <a:solidFill>
                  <a:srgbClr val="B8B2A8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C8456-EB81-41CC-8C9D-4909D94E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82DA4A-6ED1-4000-B158-95A99978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0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91B7EF-859A-4424-8665-3C814344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D7E8E5-26F8-4EB1-95ED-75F8C07D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7353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978CB-92C8-484D-A684-C950E372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52950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0B0D"/>
                </a:solidFill>
              </a:defRPr>
            </a:pPr>
            <a:r>
              <a:rPr sz="1800" b="1" i="0">
                <a:solidFill>
                  <a:srgbClr val="0B0B0D"/>
                </a:solidFill>
              </a:rPr>
              <a:t>VERIFIED COMMERCE 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AC7B12-1F94-48A4-8760-CFF30BA3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Explicit confirmation gates irreversible order creation.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E87306-77D0-4122-B9BF-2022E2D8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B2A8"/>
                </a:solidFill>
              </a:defRPr>
            </a:pPr>
            <a:r>
              <a:rPr sz="975" b="1" i="0">
                <a:solidFill>
                  <a:srgbClr val="B8B2A8"/>
                </a:solidFill>
              </a:rPr>
              <a:t>APPENDIX  /  ONE AGENT, BOUNDED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1ABB1B-7BF1-4D5E-ACFA-3943DEE0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99438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7CEE49-A083-4CF7-82FE-7F525A89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A3  /  RELIABILITY + HUMAN OVERSIGHT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71114-628F-4101-B3D0-1F34133E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FFF"/>
                </a:solidFill>
              </a:defRPr>
            </a:pPr>
            <a:r>
              <a:rPr sz="2925" b="1" i="0">
                <a:solidFill>
                  <a:srgbClr val="FFFFFF"/>
                </a:solidFill>
              </a:rPr>
              <a:t>Human control without losing the customer context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d77b46d4e4b29"/>
          <a:stretch xmlns:a="http://schemas.openxmlformats.org/drawingml/2006/main"/>
        </p:blipFill>
        <p:spPr>
          <a:xfrm xmlns:a="http://schemas.openxmlformats.org/drawingml/2006/main">
            <a:off x="6096000" y="2184753"/>
            <a:ext cx="5334000" cy="323144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23483-CD90-4657-8493-545144E5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429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0B18C-1980-4B19-B1FA-8435F831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AI ACTIVE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A5C00-5E8F-4CC2-9A5C-D26644BC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86724-D546-4A18-A860-0BA453EA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146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B8B2A8"/>
                </a:solidFill>
              </a:defRPr>
            </a:pPr>
            <a:r>
              <a:rPr sz="1800" b="0" i="0">
                <a:solidFill>
                  <a:srgbClr val="B8B2A8"/>
                </a:solidFill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A9BAE-312F-4B88-848E-8F079126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3429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3392B-2D77-4E2B-AB5A-7BA636B3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0B0D"/>
                </a:solidFill>
              </a:defRPr>
            </a:pPr>
            <a:r>
              <a:rPr sz="1500" b="1" i="0">
                <a:solidFill>
                  <a:srgbClr val="0B0B0D"/>
                </a:solidFill>
              </a:rPr>
              <a:t>HUMAN JOINED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EC0B7-17CF-42E6-A1A5-9B679583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E39F1-5B7F-4998-9B8C-074C9B45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624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B8B2A8"/>
                </a:solidFill>
              </a:defRPr>
            </a:pPr>
            <a:r>
              <a:rPr sz="1800" b="0" i="0">
                <a:solidFill>
                  <a:srgbClr val="B8B2A8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E3634-7491-4863-8627-6D1A6C87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3429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CB9E7-5D04-4E40-9747-29133F19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AI RESUMED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7C632-2891-4D45-8BC2-14CC24BC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AD89E-62D2-4051-B3D3-E00BE0CB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B2A8"/>
                </a:solidFill>
              </a:defRPr>
            </a:pPr>
            <a:r>
              <a:rPr sz="1275" b="0" i="0">
                <a:solidFill>
                  <a:srgbClr val="B8B2A8"/>
                </a:solidFill>
              </a:rPr>
              <a:t>Dashboard proof is supporting evidence, not part of the 60-second customer demo.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044B7-3E6F-47DD-8B71-AB8B1DCC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B2A8"/>
                </a:solidFill>
              </a:defRPr>
            </a:pPr>
            <a:r>
              <a:rPr sz="975" b="1" i="0">
                <a:solidFill>
                  <a:srgbClr val="B8B2A8"/>
                </a:solidFill>
              </a:rPr>
              <a:t>APPENDIX  /  PAUSE, HAND OVER, RESUME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F6367-5C58-4B31-9025-BC3063A7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90289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535DFF-E767-4F0D-BAB8-6F3E220A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A4  /  EVALUATION +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263A0-ABD1-4766-ACC1-DA12C6DB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B0B0D"/>
                </a:solidFill>
              </a:defRPr>
            </a:pPr>
            <a:r>
              <a:rPr sz="2925" b="1" i="0">
                <a:solidFill>
                  <a:srgbClr val="0B0B0D"/>
                </a:solidFill>
              </a:rPr>
              <a:t>Proof must survive a repeatable live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24458-5283-464C-B0BD-55000D90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00" b="1" i="0">
                <a:solidFill>
                  <a:srgbClr val="E4002B"/>
                </a:solidFill>
              </a:defRPr>
            </a:pPr>
            <a:r>
              <a:rPr sz="7200" b="1" i="0">
                <a:solidFill>
                  <a:srgbClr val="E4002B"/>
                </a:solidFill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DCB43-CDBD-4EDA-981A-CCE1734A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0B0D"/>
                </a:solidFill>
              </a:defRPr>
            </a:pPr>
            <a:r>
              <a:rPr sz="1500" b="1" i="0">
                <a:solidFill>
                  <a:srgbClr val="0B0B0D"/>
                </a:solidFill>
              </a:rPr>
              <a:t>representative test scenarios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BCC15-109F-4BDF-B8EE-830F111E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241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E4002B"/>
                </a:solidFill>
              </a:defRPr>
            </a:pPr>
            <a:r>
              <a:rPr sz="345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DB43F-5500-41F0-A8B7-4C149C67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24100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00" b="1" i="0">
                <a:solidFill>
                  <a:srgbClr val="0B0B0D"/>
                </a:solidFill>
              </a:defRPr>
            </a:pPr>
            <a:r>
              <a:rPr sz="7200" b="1" i="0">
                <a:solidFill>
                  <a:srgbClr val="0B0B0D"/>
                </a:solidFill>
              </a:rPr>
              <a:t>3x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AF22C-ACDE-462C-B783-BF23AB9C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433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0B0D"/>
                </a:solidFill>
              </a:defRPr>
            </a:pPr>
            <a:r>
              <a:rPr sz="1500" b="1" i="0">
                <a:solidFill>
                  <a:srgbClr val="0B0B0D"/>
                </a:solidFill>
              </a:rPr>
              <a:t>clean rehearsals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AFD0B-5FFD-4C7C-92C2-5BE6C228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241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E4002B"/>
                </a:solidFill>
              </a:defRPr>
            </a:pPr>
            <a:r>
              <a:rPr sz="345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67EC4-9663-4E05-9E4F-45FBE996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00" b="1" i="0">
                <a:solidFill>
                  <a:srgbClr val="E4002B"/>
                </a:solidFill>
              </a:defRPr>
            </a:pPr>
            <a:r>
              <a:rPr sz="7200" b="1" i="0">
                <a:solidFill>
                  <a:srgbClr val="E4002B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626E3-01AB-4B39-B35F-DF657C2E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433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0B0D"/>
                </a:solidFill>
              </a:defRPr>
            </a:pPr>
            <a:r>
              <a:rPr sz="1500" b="1" i="0">
                <a:solidFill>
                  <a:srgbClr val="0B0B0D"/>
                </a:solidFill>
              </a:rPr>
              <a:t>provenance-bound artifact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4D8D7-EE7E-454D-BB2F-E1FE48F5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EDB4-9299-4C29-8706-8422F80E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4002B"/>
                </a:solidFill>
              </a:defRPr>
            </a:pPr>
            <a:r>
              <a:rPr sz="1425" b="1" i="0">
                <a:solidFill>
                  <a:srgbClr val="E4002B"/>
                </a:solidFill>
              </a:rPr>
              <a:t>Readiness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EE6B7-3D46-4D5B-ADE6-B437E283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0B0D"/>
                </a:solidFill>
              </a:defRPr>
            </a:pPr>
            <a:r>
              <a:rPr sz="1500" b="1" i="0">
                <a:solidFill>
                  <a:srgbClr val="0B0B0D"/>
                </a:solidFill>
              </a:rPr>
              <a:t>Three clean rehearsals  •  every response ≤18s  •  full demo ≤60s  •  matching recording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DE27C-7B0B-4E5B-9C8F-4534FC29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F6A63"/>
                </a:solidFill>
              </a:defRPr>
            </a:pPr>
            <a:r>
              <a:rPr sz="975" b="1" i="0">
                <a:solidFill>
                  <a:srgbClr val="6F6A63"/>
                </a:solidFill>
              </a:rPr>
              <a:t>APPENDIX  /  CURRENT LIVE READINESS REMAINS GATED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7F369-570B-4B81-AD0D-1D7EE123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79976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625865-344A-4C28-8351-5AA8B8A6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A5  /  OMS + POS ADAPTER CONTRACTS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67EFF-2702-4D75-AD0B-0D4AF683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FFF"/>
                </a:solidFill>
              </a:defRPr>
            </a:pPr>
            <a:r>
              <a:rPr sz="2925" b="1" i="0">
                <a:solidFill>
                  <a:srgbClr val="FFFFFF"/>
                </a:solidFill>
              </a:rPr>
              <a:t>Reliable adapters connect conversation to order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6350D-8404-48DE-896B-CF400C5F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76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0042F-1F05-44CF-A562-F4743B4A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CONFIRMED INTENT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B5039-29A6-4AF0-AD14-2C0A8099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B8B2A8"/>
                </a:solidFill>
              </a:defRPr>
            </a:pPr>
            <a:r>
              <a:rPr sz="1200" b="0" i="0">
                <a:solidFill>
                  <a:srgbClr val="B8B2A8"/>
                </a:solidFill>
              </a:rPr>
              <a:t>Cart + fulfillment + approval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DC8EF-BB5A-4129-87FC-8FD94170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5750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E4002B"/>
                </a:solidFill>
              </a:defRPr>
            </a:pPr>
            <a:r>
              <a:rPr sz="225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B43E4-2DEA-4248-86B4-F0A64374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2476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16314-9075-44F0-87EA-515E820D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146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ORDER COMMAND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17D3D-9989-4756-A402-24005A54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432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B8B2A8"/>
                </a:solidFill>
              </a:defRPr>
            </a:pPr>
            <a:r>
              <a:rPr sz="1200" b="0" i="0">
                <a:solidFill>
                  <a:srgbClr val="B8B2A8"/>
                </a:solidFill>
              </a:rPr>
              <a:t>Idempotency + correlation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0399B-4C47-4E24-9D8E-F8E935DE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E4002B"/>
                </a:solidFill>
              </a:defRPr>
            </a:pPr>
            <a:r>
              <a:rPr sz="225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8FD38-84F4-449C-8A64-19FA31AF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66950"/>
            <a:ext cx="2476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9DAFC-64D1-4DAC-8933-E0C7EBDF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146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OMS / POS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FA4D9-B98D-4C46-A8E6-7E9F3C24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432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B8B2A8"/>
                </a:solidFill>
              </a:defRPr>
            </a:pPr>
            <a:r>
              <a:rPr sz="1200" b="0" i="0">
                <a:solidFill>
                  <a:srgbClr val="B8B2A8"/>
                </a:solidFill>
              </a:rPr>
              <a:t>Create + project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4826A-5B17-4241-9BE0-DA1E5EBC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E4002B"/>
                </a:solidFill>
              </a:defRPr>
            </a:pPr>
            <a:r>
              <a:rPr sz="225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B9D34-4ABE-471B-B4D7-5B75FA84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66950"/>
            <a:ext cx="1809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94E10-1463-4045-AA05-01BBE846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146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VERIFIED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BCCFA-63DB-443A-9C47-5939AC1A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432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Order IDs + customer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5E721-F13B-4434-B6EC-DE8E6D2A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BE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D2F2C-BB66-43E4-B931-83E799B3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SIMULATED TODAY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4626B-5E34-4CC9-97FF-7960E0DB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196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Replaceable contracts isolate KFC- and vendor-specific APIs from the agent workflow.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0048B3-754C-49FF-816F-4816C51F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B2A8"/>
                </a:solidFill>
              </a:defRPr>
            </a:pPr>
            <a:r>
              <a:rPr sz="975" b="1" i="0">
                <a:solidFill>
                  <a:srgbClr val="B8B2A8"/>
                </a:solidFill>
              </a:rPr>
              <a:t>APPENDIX  /  HONEST INTEGRATION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173854-883A-4360-AB26-526490AF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0337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2026-07-11T13:17:21.2310000Z</dcterms:created>
  <dcterms:modified xsi:type="dcterms:W3CDTF">2026-07-11T13:17:21.2310000Z</dcterms:modified>
</coreProperties>
</file>