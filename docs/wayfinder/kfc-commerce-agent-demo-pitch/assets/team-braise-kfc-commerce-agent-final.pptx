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5f9a33cfbef4656" /><Relationship Type="http://schemas.openxmlformats.org/officeDocument/2006/relationships/extended-properties" Target="/docProps/app.xml" Id="R33026e1a92334c37" /><Relationship Type="http://schemas.openxmlformats.org/officeDocument/2006/relationships/officeDocument" Target="/ppt/presentation.xml" Id="R9f3e56c9246647d7" /></Relationships>
</file>

<file path=ppt/presentation.xml><?xml version="1.0" encoding="utf-8"?>
<p:presentation xmlns:p="http://schemas.openxmlformats.org/presentationml/2006/main">
  <p:sldMasterIdLst>
    <p:sldMasterId xmlns:r="http://schemas.openxmlformats.org/officeDocument/2006/relationships" id="2147483648" r:id="R45e43698fc784600"/>
  </p:sldMasterIdLst>
  <p:notesMasterIdLst>
    <p:notesMasterId xmlns:r="http://schemas.openxmlformats.org/officeDocument/2006/relationships" r:id="R9c4678b0c58845f9"/>
  </p:notesMasterIdLst>
  <p:sldIdLst>
    <p:sldId xmlns:r="http://schemas.openxmlformats.org/officeDocument/2006/relationships" id="256" r:id="Raae57d7ae0394a69"/>
    <p:sldId xmlns:r="http://schemas.openxmlformats.org/officeDocument/2006/relationships" id="257" r:id="R969a149daccf45b8"/>
    <p:sldId xmlns:r="http://schemas.openxmlformats.org/officeDocument/2006/relationships" id="258" r:id="R08259d455fd74b3c"/>
    <p:sldId xmlns:r="http://schemas.openxmlformats.org/officeDocument/2006/relationships" id="259" r:id="R1d379a69f08b41f1"/>
    <p:sldId xmlns:r="http://schemas.openxmlformats.org/officeDocument/2006/relationships" id="260" r:id="R2ba218d3d26d4968"/>
    <p:sldId xmlns:r="http://schemas.openxmlformats.org/officeDocument/2006/relationships" id="261" r:id="Rf4597bffba954d8f"/>
    <p:sldId xmlns:r="http://schemas.openxmlformats.org/officeDocument/2006/relationships" id="262" r:id="R114c8da2cad44cd5"/>
    <p:sldId xmlns:r="http://schemas.openxmlformats.org/officeDocument/2006/relationships" id="263" r:id="R64c672bb61b5479f"/>
    <p:sldId xmlns:r="http://schemas.openxmlformats.org/officeDocument/2006/relationships" id="264" r:id="Rba34040baab94604"/>
    <p:sldId xmlns:r="http://schemas.openxmlformats.org/officeDocument/2006/relationships" id="265" r:id="R057e28cfc7fd4ae1"/>
    <p:sldId xmlns:r="http://schemas.openxmlformats.org/officeDocument/2006/relationships" id="266" r:id="R8f4f89c056d243ae"/>
    <p:sldId xmlns:r="http://schemas.openxmlformats.org/officeDocument/2006/relationships" id="267" r:id="R062601184f5e480b"/>
    <p:sldId xmlns:r="http://schemas.openxmlformats.org/officeDocument/2006/relationships" id="268" r:id="R9966e7e62b7b4f9b"/>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3da8f1483284618" /><Relationship Type="http://schemas.openxmlformats.org/officeDocument/2006/relationships/slideMaster" Target="/ppt/slideMasters/slideMaster1.xml" Id="R45e43698fc784600" /><Relationship Type="http://schemas.openxmlformats.org/officeDocument/2006/relationships/notesMaster" Target="/ppt/notesMasters/notesMaster1.xml" Id="R9c4678b0c58845f9" /><Relationship Type="http://schemas.openxmlformats.org/officeDocument/2006/relationships/presProps" Target="/ppt/presProps.xml" Id="R432a010c9ec5431e" /><Relationship Type="http://schemas.openxmlformats.org/officeDocument/2006/relationships/tableStyles" Target="/ppt/tableStyles.xml" Id="Rec73272f2f804758" /><Relationship Type="http://schemas.openxmlformats.org/officeDocument/2006/relationships/slide" Target="/ppt/slides/slide1.xml" Id="Raae57d7ae0394a69" /><Relationship Type="http://schemas.openxmlformats.org/officeDocument/2006/relationships/slide" Target="/ppt/slides/slide2.xml" Id="R969a149daccf45b8" /><Relationship Type="http://schemas.openxmlformats.org/officeDocument/2006/relationships/slide" Target="/ppt/slides/slide3.xml" Id="R08259d455fd74b3c" /><Relationship Type="http://schemas.openxmlformats.org/officeDocument/2006/relationships/slide" Target="/ppt/slides/slide4.xml" Id="R1d379a69f08b41f1" /><Relationship Type="http://schemas.openxmlformats.org/officeDocument/2006/relationships/slide" Target="/ppt/slides/slide5.xml" Id="R2ba218d3d26d4968" /><Relationship Type="http://schemas.openxmlformats.org/officeDocument/2006/relationships/slide" Target="/ppt/slides/slide6.xml" Id="Rf4597bffba954d8f" /><Relationship Type="http://schemas.openxmlformats.org/officeDocument/2006/relationships/slide" Target="/ppt/slides/slide7.xml" Id="R114c8da2cad44cd5" /><Relationship Type="http://schemas.openxmlformats.org/officeDocument/2006/relationships/slide" Target="/ppt/slides/slide8.xml" Id="R64c672bb61b5479f" /><Relationship Type="http://schemas.openxmlformats.org/officeDocument/2006/relationships/slide" Target="/ppt/slides/slide9.xml" Id="Rba34040baab94604" /><Relationship Type="http://schemas.openxmlformats.org/officeDocument/2006/relationships/slide" Target="/ppt/slides/slide10.xml" Id="R057e28cfc7fd4ae1" /><Relationship Type="http://schemas.openxmlformats.org/officeDocument/2006/relationships/slide" Target="/ppt/slides/slide11.xml" Id="R8f4f89c056d243ae" /><Relationship Type="http://schemas.openxmlformats.org/officeDocument/2006/relationships/slide" Target="/ppt/slides/slide12.xml" Id="R062601184f5e480b" /><Relationship Type="http://schemas.openxmlformats.org/officeDocument/2006/relationships/slide" Target="/ppt/slides/slide13.xml" Id="R9966e7e62b7b4f9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c2b064fe2df415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2eb3e6acd424b7d" /><Relationship Type="http://schemas.openxmlformats.org/officeDocument/2006/relationships/notesMaster" Target="/ppt/notesMasters/notesMaster1.xml" Id="Ra651faf34c6b43cd" /></Relationships>
</file>

<file path=ppt/notesSlides/_rels/notesSlide2.xml.rels>&#65279;<?xml version="1.0" encoding="utf-8"?><Relationships xmlns="http://schemas.openxmlformats.org/package/2006/relationships"><Relationship Type="http://schemas.openxmlformats.org/officeDocument/2006/relationships/slide" Target="/ppt/slides/slide2.xml" Id="Ra9b3ef4c6e86474b" /><Relationship Type="http://schemas.openxmlformats.org/officeDocument/2006/relationships/notesMaster" Target="/ppt/notesMasters/notesMaster1.xml" Id="R723dc796b5434eba" /></Relationships>
</file>

<file path=ppt/notesSlides/_rels/notesSlide3.xml.rels>&#65279;<?xml version="1.0" encoding="utf-8"?><Relationships xmlns="http://schemas.openxmlformats.org/package/2006/relationships"><Relationship Type="http://schemas.openxmlformats.org/officeDocument/2006/relationships/slide" Target="/ppt/slides/slide3.xml" Id="R82aef8f44db046df" /><Relationship Type="http://schemas.openxmlformats.org/officeDocument/2006/relationships/notesMaster" Target="/ppt/notesMasters/notesMaster1.xml" Id="R7b54712a99994763" /></Relationships>
</file>

<file path=ppt/notesSlides/_rels/notesSlide4.xml.rels>&#65279;<?xml version="1.0" encoding="utf-8"?><Relationships xmlns="http://schemas.openxmlformats.org/package/2006/relationships"><Relationship Type="http://schemas.openxmlformats.org/officeDocument/2006/relationships/slide" Target="/ppt/slides/slide4.xml" Id="Rb8251836a5b64dba" /><Relationship Type="http://schemas.openxmlformats.org/officeDocument/2006/relationships/notesMaster" Target="/ppt/notesMasters/notesMaster1.xml" Id="R76714b860b2f43df" /></Relationships>
</file>

<file path=ppt/notesSlides/_rels/notesSlide5.xml.rels>&#65279;<?xml version="1.0" encoding="utf-8"?><Relationships xmlns="http://schemas.openxmlformats.org/package/2006/relationships"><Relationship Type="http://schemas.openxmlformats.org/officeDocument/2006/relationships/slide" Target="/ppt/slides/slide5.xml" Id="R7a3cdbc4091d42a4" /><Relationship Type="http://schemas.openxmlformats.org/officeDocument/2006/relationships/notesMaster" Target="/ppt/notesMasters/notesMaster1.xml" Id="Re62f982195444a30" /></Relationships>
</file>

<file path=ppt/notesSlides/_rels/notesSlide6.xml.rels>&#65279;<?xml version="1.0" encoding="utf-8"?><Relationships xmlns="http://schemas.openxmlformats.org/package/2006/relationships"><Relationship Type="http://schemas.openxmlformats.org/officeDocument/2006/relationships/slide" Target="/ppt/slides/slide6.xml" Id="R3e3622807f3a407f" /><Relationship Type="http://schemas.openxmlformats.org/officeDocument/2006/relationships/notesMaster" Target="/ppt/notesMasters/notesMaster1.xml" Id="R2760b22734c24862" /></Relationships>
</file>

<file path=ppt/notesSlides/_rels/notesSlide7.xml.rels>&#65279;<?xml version="1.0" encoding="utf-8"?><Relationships xmlns="http://schemas.openxmlformats.org/package/2006/relationships"><Relationship Type="http://schemas.openxmlformats.org/officeDocument/2006/relationships/slide" Target="/ppt/slides/slide7.xml" Id="R1a46c39a5605475c" /><Relationship Type="http://schemas.openxmlformats.org/officeDocument/2006/relationships/notesMaster" Target="/ppt/notesMasters/notesMaster1.xml" Id="R2c12bedcedec4ef0" /></Relationships>
</file>

<file path=ppt/notesSlides/_rels/notesSlide8.xml.rels>&#65279;<?xml version="1.0" encoding="utf-8"?><Relationships xmlns="http://schemas.openxmlformats.org/package/2006/relationships"><Relationship Type="http://schemas.openxmlformats.org/officeDocument/2006/relationships/slide" Target="/ppt/slides/slide8.xml" Id="R5ba5d80d7b754a7a" /><Relationship Type="http://schemas.openxmlformats.org/officeDocument/2006/relationships/notesMaster" Target="/ppt/notesMasters/notesMaster1.xml" Id="Rfeeaed36280e4359" /></Relationships>
</file>

<file path=ppt/notesSlides/_rels/notesSlide9.xml.rels>&#65279;<?xml version="1.0" encoding="utf-8"?><Relationships xmlns="http://schemas.openxmlformats.org/package/2006/relationships"><Relationship Type="http://schemas.openxmlformats.org/officeDocument/2006/relationships/slide" Target="/ppt/slides/slide9.xml" Id="R04e3b0326b3a4339" /><Relationship Type="http://schemas.openxmlformats.org/officeDocument/2006/relationships/notesMaster" Target="/ppt/notesMasters/notesMaster1.xml" Id="R6487913509a1445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1dc1dcf92284a67" /><Relationship Type="http://schemas.openxmlformats.org/officeDocument/2006/relationships/notesMaster" Target="/ppt/notesMasters/notesMaster1.xml" Id="Rc078483418654db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a8a0799d4f84fee" /><Relationship Type="http://schemas.openxmlformats.org/officeDocument/2006/relationships/notesMaster" Target="/ppt/notesMasters/notesMaster1.xml" Id="R4a34ff6b8db8480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80c270c9a154c81" /><Relationship Type="http://schemas.openxmlformats.org/officeDocument/2006/relationships/notesMaster" Target="/ppt/notesMasters/notesMaster1.xml" Id="R60373d727abd4c1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a1a4b904e004843" /><Relationship Type="http://schemas.openxmlformats.org/officeDocument/2006/relationships/notesMaster" Target="/ppt/notesMasters/notesMaster1.xml" Id="Rcfaba55ea62b43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0:00-0:25</a:t>
            </a:r>
          </a:p>
          <a:p xmlns:a="http://schemas.openxmlformats.org/drawingml/2006/main">
            <a:r>
              <a:t/>
            </a:r>
          </a:p>
          <a:p xmlns:a="http://schemas.openxmlformats.org/drawingml/2006/main">
            <a:r>
              <a:t>EXACT SCRIPT</a:t>
            </a:r>
          </a:p>
          <a:p xmlns:a="http://schemas.openxmlformats.org/drawingml/2006/main">
            <a:r>
              <a:t>Good morning. We're Team Braise. KFC customers already start ordering in conversation—but completing that order still sends them elsewhere. We built KFC Commerce Agent to keep the customer in chat and carry the journey through to a verified order.</a:t>
            </a:r>
          </a:p>
          <a:p xmlns:a="http://schemas.openxmlformats.org/drawingml/2006/main">
            <a:r>
              <a:t/>
            </a:r>
          </a:p>
          <a:p xmlns:a="http://schemas.openxmlformats.org/drawingml/2006/main">
            <a:r>
              <a:t>PRESENTER ACTION</a:t>
            </a:r>
          </a:p>
          <a:p xmlns:a="http://schemas.openxmlformats.org/drawingml/2006/main">
            <a:r>
              <a:t>Face the judges for the whole opening. Do not point at the hero image. Advance immediately after “verified order.”</a:t>
            </a:r>
          </a:p>
          <a:p xmlns:a="http://schemas.openxmlformats.org/drawingml/2006/main">
            <a:r>
              <a:t/>
            </a:r>
          </a:p>
          <a:p xmlns:a="http://schemas.openxmlformats.org/drawingml/2006/main">
            <a:r>
              <a:t>TRANSITION</a:t>
            </a:r>
          </a:p>
          <a:p xmlns:a="http://schemas.openxmlformats.org/drawingml/2006/main">
            <a:r>
              <a:t>The problem is not starting the conversation. It is finishing the commerce journey.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0:25-1:00</a:t>
            </a:r>
          </a:p>
          <a:p xmlns:a="http://schemas.openxmlformats.org/drawingml/2006/main">
            <a:r>
              <a:t/>
            </a:r>
          </a:p>
          <a:p xmlns:a="http://schemas.openxmlformats.org/drawingml/2006/main">
            <a:r>
              <a:t>NARRATION</a:t>
            </a:r>
          </a:p>
          <a:p xmlns:a="http://schemas.openxmlformats.org/drawingml/2006/main">
            <a:r>
              <a:t>A high-intent customer may begin in Messenger or Zalo, but then has to switch channels, rebuild the order, check fulfillment, and wait for staff. That is where intent and commerce state drift apart. Our solution keeps the journey in one conversation while coordinating the cart, fulfillment, confirmation, and the moments where a person should step in.</a:t>
            </a:r>
          </a:p>
          <a:p xmlns:a="http://schemas.openxmlformats.org/drawingml/2006/main">
            <a:r>
              <a:t/>
            </a:r>
          </a:p>
          <a:p xmlns:a="http://schemas.openxmlformats.org/drawingml/2006/main">
            <a:r>
              <a:t>EMPHASIS</a:t>
            </a:r>
          </a:p>
          <a:p xmlns:a="http://schemas.openxmlformats.org/drawingml/2006/main">
            <a:r>
              <a:t>Point once to TODAY and once to WITH KFC COMMERCE AGENT. Land on: One conversation. One channel. One completed order.</a:t>
            </a:r>
          </a:p>
          <a:p xmlns:a="http://schemas.openxmlformats.org/drawingml/2006/main">
            <a:r>
              <a:t/>
            </a:r>
          </a:p>
          <a:p xmlns:a="http://schemas.openxmlformats.org/drawingml/2006/main">
            <a:r>
              <a:t>TRANSITION</a:t>
            </a:r>
          </a:p>
          <a:p xmlns:a="http://schemas.openxmlformats.org/drawingml/2006/main">
            <a:r>
              <a:t>To finish that journey safely, the system must do more than generate a helpful reply.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1:00-1:35</a:t>
            </a:r>
          </a:p>
          <a:p xmlns:a="http://schemas.openxmlformats.org/drawingml/2006/main">
            <a:r>
              <a:t/>
            </a:r>
          </a:p>
          <a:p xmlns:a="http://schemas.openxmlformats.org/drawingml/2006/main">
            <a:r>
              <a:t>NARRATION</a:t>
            </a:r>
          </a:p>
          <a:p xmlns:a="http://schemas.openxmlformats.org/drawingml/2006/main">
            <a:r>
              <a:t>One agent keeps a verified working state. It understands the current goal, plans the next safe action, selects bounded commerce tools, and passes policy gates before execution. After each action, it inspects the resulting state and either continues, asks for clarification, or hands off. Only successful tool results become customer-visible commerce state.</a:t>
            </a:r>
          </a:p>
          <a:p xmlns:a="http://schemas.openxmlformats.org/drawingml/2006/main">
            <a:r>
              <a:t/>
            </a:r>
          </a:p>
          <a:p xmlns:a="http://schemas.openxmlformats.org/drawingml/2006/main">
            <a:r>
              <a:t>EMPHASIS</a:t>
            </a:r>
          </a:p>
          <a:p xmlns:a="http://schemas.openxmlformats.org/drawingml/2006/main">
            <a:r>
              <a:t>Trace: Context and goal → Plan → Select tools → Guard → Act → Verify and adapt. Do not describe a supervisor, specialist-agent system, infrastructure, model names, or raw tool names.</a:t>
            </a:r>
          </a:p>
          <a:p xmlns:a="http://schemas.openxmlformats.org/drawingml/2006/main">
            <a:r>
              <a:t/>
            </a:r>
          </a:p>
          <a:p xmlns:a="http://schemas.openxmlformats.org/drawingml/2006/main">
            <a:r>
              <a:t>TRANSITION</a:t>
            </a:r>
          </a:p>
          <a:p xmlns:a="http://schemas.openxmlformats.org/drawingml/2006/main">
            <a:r>
              <a:t>That governed loop produces three customer-facing advantages.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1:35-2:05</a:t>
            </a:r>
          </a:p>
          <a:p xmlns:a="http://schemas.openxmlformats.org/drawingml/2006/main">
            <a:r>
              <a:t/>
            </a:r>
          </a:p>
          <a:p xmlns:a="http://schemas.openxmlformats.org/drawingml/2006/main">
            <a:r>
              <a:t>NARRATION</a:t>
            </a:r>
          </a:p>
          <a:p xmlns:a="http://schemas.openxmlformats.org/drawingml/2006/main">
            <a:r>
              <a:t>First, the customer does not have to abandon the conversation. The agent coordinates Messenger, cart state, fulfillment, and confirmation as one journey. The screenshot shows a customer reaching explicit order confirmation in chat. The current commerce backend is simulated through a replaceable adapter—not presented as KFC production OMS.</a:t>
            </a:r>
          </a:p>
          <a:p xmlns:a="http://schemas.openxmlformats.org/drawingml/2006/main">
            <a:r>
              <a:t/>
            </a:r>
          </a:p>
          <a:p xmlns:a="http://schemas.openxmlformats.org/drawingml/2006/main">
            <a:r>
              <a:t>TRANSITION</a:t>
            </a:r>
          </a:p>
          <a:p xmlns:a="http://schemas.openxmlformats.org/drawingml/2006/main">
            <a:r>
              <a:t>But a long text thread is still a poor interface for every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2:05-2:35</a:t>
            </a:r>
          </a:p>
          <a:p xmlns:a="http://schemas.openxmlformats.org/drawingml/2006/main">
            <a:r>
              <a:t/>
            </a:r>
          </a:p>
          <a:p xmlns:a="http://schemas.openxmlformats.org/drawingml/2006/main">
            <a:r>
              <a:t>NARRATION</a:t>
            </a:r>
          </a:p>
          <a:p xmlns:a="http://schemas.openxmlformats.org/drawingml/2006/main">
            <a:r>
              <a:t>Second, verified state becomes structured GenUI. Instead of burying store, ETA, fee, payment, and confirmation inside paragraphs, the customer gets a clear next action. The model does not invent this screen independently; it is rendered from the backend's typed commerce state.</a:t>
            </a:r>
          </a:p>
          <a:p xmlns:a="http://schemas.openxmlformats.org/drawingml/2006/main">
            <a:r>
              <a:t/>
            </a:r>
          </a:p>
          <a:p xmlns:a="http://schemas.openxmlformats.org/drawingml/2006/main">
            <a:r>
              <a:t>TRANSITION</a:t>
            </a:r>
          </a:p>
          <a:p xmlns:a="http://schemas.openxmlformats.org/drawingml/2006/main">
            <a:r>
              <a:t>And when the happy path breaks, customer control must remain explicit.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2:35-3:05</a:t>
            </a:r>
          </a:p>
          <a:p xmlns:a="http://schemas.openxmlformats.org/drawingml/2006/main">
            <a:r>
              <a:t/>
            </a:r>
          </a:p>
          <a:p xmlns:a="http://schemas.openxmlformats.org/drawingml/2006/main">
            <a:r>
              <a:t>NARRATION</a:t>
            </a:r>
          </a:p>
          <a:p xmlns:a="http://schemas.openxmlformats.org/drawingml/2006/main">
            <a:r>
              <a:t>Third, the Operations Monitor exposes the live channel, conversation context, confidence, and control state. An operator can join, which pauses AI replies, respond in the same channel, and explicitly resume AI with the takeover context preserved. Human help is part of the workflow, not a disconnected escalation inbox.</a:t>
            </a:r>
          </a:p>
          <a:p xmlns:a="http://schemas.openxmlformats.org/drawingml/2006/main">
            <a:r>
              <a:t/>
            </a:r>
          </a:p>
          <a:p xmlns:a="http://schemas.openxmlformats.org/drawingml/2006/main">
            <a:r>
              <a:t>TRANSITION</a:t>
            </a:r>
          </a:p>
          <a:p xmlns:a="http://schemas.openxmlformats.org/drawingml/2006/main">
            <a:r>
              <a:t>We evaluate the complete customer outcome—not just whether the final message sounds plausible.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3:05-3:40</a:t>
            </a:r>
          </a:p>
          <a:p xmlns:a="http://schemas.openxmlformats.org/drawingml/2006/main">
            <a:r>
              <a:t/>
            </a:r>
          </a:p>
          <a:p xmlns:a="http://schemas.openxmlformats.org/drawingml/2006/main">
            <a:r>
              <a:t>NARRATION</a:t>
            </a:r>
          </a:p>
          <a:p xmlns:a="http://schemas.openxmlformats.org/drawingml/2006/main">
            <a:r>
              <a:t>We designed nine representative journeys across ordering, fulfillment, payment, and recovery. For each journey, we inspect four things: was the customer outcome completed, was commerce state valid, was approval enforced, and did failure recover or hand off correctly? Logs and outcome data then feed the next cycle: observe, find gaps, improve behavior, and re-evaluate.</a:t>
            </a:r>
          </a:p>
          <a:p xmlns:a="http://schemas.openxmlformats.org/drawingml/2006/main">
            <a:r>
              <a:t/>
            </a:r>
          </a:p>
          <a:p xmlns:a="http://schemas.openxmlformats.org/drawingml/2006/main">
            <a:r>
              <a:t>CLAIM BOUNDARY</a:t>
            </a:r>
          </a:p>
          <a:p xmlns:a="http://schemas.openxmlformats.org/drawingml/2006/main">
            <a:r>
              <a:t>Say “nine representative journeys” or “nine representative scenarios.” Do not say 9/9, all live tests pass, or imply customer research, pilot results, or measured business impact.</a:t>
            </a:r>
          </a:p>
          <a:p xmlns:a="http://schemas.openxmlformats.org/drawingml/2006/main">
            <a:r>
              <a:t/>
            </a:r>
          </a:p>
          <a:p xmlns:a="http://schemas.openxmlformats.org/drawingml/2006/main">
            <a:r>
              <a:t>TRANSITION</a:t>
            </a:r>
          </a:p>
          <a:p xmlns:a="http://schemas.openxmlformats.org/drawingml/2006/main">
            <a:r>
              <a:t>Now let's see the KFC-prioritized scenario: improve the basket without taking control away.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3:40-4:40</a:t>
            </a:r>
          </a:p>
          <a:p xmlns:a="http://schemas.openxmlformats.org/drawingml/2006/main">
            <a:r>
              <a:t>ROLES: Thang controls slides and narration. Teammate operates the prepared customer-chat tab and fallback recording and does not speak.</a:t>
            </a:r>
          </a:p>
          <a:p xmlns:a="http://schemas.openxmlformats.org/drawingml/2006/main">
            <a:r>
              <a:t/>
            </a:r>
          </a:p>
          <a:p xmlns:a="http://schemas.openxmlformats.org/drawingml/2006/main">
            <a:r>
              <a:t>SETUP</a:t>
            </a:r>
          </a:p>
          <a:p xmlns:a="http://schemas.openxmlformats.org/drawingml/2006/main">
            <a:r>
              <a:t>The customer needs food for four within a 300,000-dong budget. Watch the agent improve the basket without changing it before approval. Switch to the customer-chat tab.</a:t>
            </a:r>
          </a:p>
          <a:p xmlns:a="http://schemas.openxmlformats.org/drawingml/2006/main">
            <a:r>
              <a:t/>
            </a:r>
          </a:p>
          <a:p xmlns:a="http://schemas.openxmlformats.org/drawingml/2006/main">
            <a:r>
              <a:t>TURN 1 — TEAMMATE SUBMITS</a:t>
            </a:r>
          </a:p>
          <a:p xmlns:a="http://schemas.openxmlformats.org/drawingml/2006/main">
            <a:r>
              <a:t>Cho mình 10 miếng gà và 4 Pepsi cỡ vừa cho 4 người, ngân sách đồ ăn 300.000đ, giao đến Big C Đồng Nai, thanh toán khi nhận hàng.</a:t>
            </a:r>
          </a:p>
          <a:p xmlns:a="http://schemas.openxmlformats.org/drawingml/2006/main">
            <a:r>
              <a:t/>
            </a:r>
          </a:p>
          <a:p xmlns:a="http://schemas.openxmlformats.org/drawingml/2006/main">
            <a:r>
              <a:t>THANG</a:t>
            </a:r>
          </a:p>
          <a:p xmlns:a="http://schemas.openxmlformats.org/drawingml/2006/main">
            <a:r>
              <a:t>The customer starts with loose items and a budget. The agent must not change the cart before permission.</a:t>
            </a:r>
          </a:p>
          <a:p xmlns:a="http://schemas.openxmlformats.org/drawingml/2006/main">
            <a:r>
              <a:t>WAIT LINE IF NEEDED</a:t>
            </a:r>
          </a:p>
          <a:p xmlns:a="http://schemas.openxmlformats.org/drawingml/2006/main">
            <a:r>
              <a:t>The request is running; the current build does not expose internal sub-steps.</a:t>
            </a:r>
          </a:p>
          <a:p xmlns:a="http://schemas.openxmlformats.org/drawingml/2006/main">
            <a:r>
              <a:t>WHEN RESULT APPEARS</a:t>
            </a:r>
          </a:p>
          <a:p xmlns:a="http://schemas.openxmlformats.org/drawingml/2006/main">
            <a:r>
              <a:t>It found two verified combos that fit the same need and reduce the food subtotal from 404,000 to 258,000 dong—but it waits for the customer.</a:t>
            </a:r>
          </a:p>
          <a:p xmlns:a="http://schemas.openxmlformats.org/drawingml/2006/main">
            <a:r>
              <a:t/>
            </a:r>
          </a:p>
          <a:p xmlns:a="http://schemas.openxmlformats.org/drawingml/2006/main">
            <a:r>
              <a:t>TURN 2 — TEAMMATE SUBMITS</a:t>
            </a:r>
          </a:p>
          <a:p xmlns:a="http://schemas.openxmlformats.org/drawingml/2006/main">
            <a:r>
              <a:t>Đổi sang 2 Combo Đẫy Đà 129K nhé.</a:t>
            </a:r>
          </a:p>
          <a:p xmlns:a="http://schemas.openxmlformats.org/drawingml/2006/main">
            <a:r>
              <a:t/>
            </a:r>
          </a:p>
          <a:p xmlns:a="http://schemas.openxmlformats.org/drawingml/2006/main">
            <a:r>
              <a:t>THANG</a:t>
            </a:r>
          </a:p>
          <a:p xmlns:a="http://schemas.openxmlformats.org/drawingml/2006/main">
            <a:r>
              <a:t>With approval, the cart changes. Now it offers four large-drink upgrades for 28,000 dong and discloses the resulting price before confirmation. Do not claim the upsize is applied yet.</a:t>
            </a:r>
          </a:p>
          <a:p xmlns:a="http://schemas.openxmlformats.org/drawingml/2006/main">
            <a:r>
              <a:t/>
            </a:r>
          </a:p>
          <a:p xmlns:a="http://schemas.openxmlformats.org/drawingml/2006/main">
            <a:r>
              <a:t>TURN 3 — TEAMMATE SUBMITS</a:t>
            </a:r>
          </a:p>
          <a:p xmlns:a="http://schemas.openxmlformats.org/drawingml/2006/main">
            <a:r>
              <a:t>Đồng ý nâng cả 4 Pepsi lên cỡ lớn. Tổng món 286.000đ, phí giao 18.000đ; xác nhận đặt đơn và thanh toán khi nhận hàng.</a:t>
            </a:r>
          </a:p>
          <a:p xmlns:a="http://schemas.openxmlformats.org/drawingml/2006/main">
            <a:r>
              <a:t/>
            </a:r>
          </a:p>
          <a:p xmlns:a="http://schemas.openxmlformats.org/drawingml/2006/main">
            <a:r>
              <a:t>WHEN CONFIRMED ORDER APPEARS</a:t>
            </a:r>
          </a:p>
          <a:p xmlns:a="http://schemas.openxmlformats.org/drawingml/2006/main">
            <a:r>
              <a:t>The customer approved both modifications and the disclosed total. The result is one verified confirmed cash-on-delivery order. Hold for two seconds. Do not open the Operations Monitor. Return to this slide.</a:t>
            </a:r>
          </a:p>
          <a:p xmlns:a="http://schemas.openxmlformats.org/drawingml/2006/main">
            <a:r>
              <a:t/>
            </a:r>
          </a:p>
          <a:p xmlns:a="http://schemas.openxmlformats.org/drawingml/2006/main">
            <a:r>
              <a:t>FALLBACK</a:t>
            </a:r>
          </a:p>
          <a:p xmlns:a="http://schemas.openxmlformats.org/drawingml/2006/main">
            <a:r>
              <a:t>At 18 seconds without the complete expected response and GenUI, or on any wrong recommendation, card, composition, price, saving, cart, fee, payment state, final order, error, stale session, duplicate order, or early order, teammate switches immediately to the preloaded recording. Thang says exactly: I'll switch to the recorded run of this exact scenario. Do not repair onstage or add a fourth turn.</a:t>
            </a:r>
          </a:p>
          <a:p xmlns:a="http://schemas.openxmlformats.org/drawingml/2006/main">
            <a:r>
              <a:t/>
            </a:r>
          </a:p>
          <a:p xmlns:a="http://schemas.openxmlformats.org/drawingml/2006/main">
            <a:r>
              <a:t>EXACT CLOSE</a:t>
            </a:r>
          </a:p>
          <a:p xmlns:a="http://schemas.openxmlformats.org/drawingml/2006/main">
            <a:r>
              <a:t>Choose Team Braise to turn KFC conversations into completed orders—while keeping customers and operators in control. Stop speaking by 4:40.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ONLY — DO NOT PRESENT SEQUENTIALLY</a:t>
            </a:r>
          </a:p>
          <a:p xmlns:a="http://schemas.openxmlformats.org/drawingml/2006/main">
            <a:r>
              <a:t/>
            </a:r>
          </a:p>
          <a:p xmlns:a="http://schemas.openxmlformats.org/drawingml/2006/main">
            <a:r>
              <a:t>ANSWER FIRST</a:t>
            </a:r>
          </a:p>
          <a:p xmlns:a="http://schemas.openxmlformats.org/drawingml/2006/main">
            <a:r>
              <a:t>One request enters one governed commerce loop. The channel route starts either a synchronous chat request or durable channel run. The agent plans bounded actions, passes gates, executes tools, persists the resulting cart/order/payment state, and only then composes customer text, GenUI, and monitor events.</a:t>
            </a:r>
          </a:p>
          <a:p xmlns:a="http://schemas.openxmlformats.org/drawingml/2006/main">
            <a:r>
              <a:t/>
            </a:r>
          </a:p>
          <a:p xmlns:a="http://schemas.openxmlformats.org/drawingml/2006/main">
            <a:r>
              <a:t>IF ASKED WHAT MAKES IT AGENTIC</a:t>
            </a:r>
          </a:p>
          <a:p xmlns:a="http://schemas.openxmlformats.org/drawingml/2006/main">
            <a:r>
              <a:t>A chatbot can generate a plausible reply. Our agent repeatedly interprets the goal, proposes next actions, selects bounded commerce tools, passes policy gates, executes them, inspects the resulting state, and adapts or hands off. Verified state changes—not text alone—define success.</a:t>
            </a:r>
          </a:p>
          <a:p xmlns:a="http://schemas.openxmlformats.org/drawingml/2006/main">
            <a:r>
              <a:t/>
            </a:r>
          </a:p>
          <a:p xmlns:a="http://schemas.openxmlformats.org/drawingml/2006/main">
            <a:r>
              <a:t>BOUNDARY</a:t>
            </a:r>
          </a:p>
          <a:p xmlns:a="http://schemas.openxmlformats.org/drawingml/2006/main">
            <a:r>
              <a:t>This is one commerce agent loop, not a supervisor or autonomous specialist-agent team.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ONLY — DO NOT PRESENT SEQUENTIALLY</a:t>
            </a:r>
          </a:p>
          <a:p xmlns:a="http://schemas.openxmlformats.org/drawingml/2006/main">
            <a:r>
              <a:t/>
            </a:r>
          </a:p>
          <a:p xmlns:a="http://schemas.openxmlformats.org/drawingml/2006/main">
            <a:r>
              <a:t>ANSWER</a:t>
            </a:r>
          </a:p>
          <a:p xmlns:a="http://schemas.openxmlformats.org/drawingml/2006/main">
            <a:r>
              <a:t>The model can propose a tool call or response claim, but unknown tools and invalid arguments are rejected. Safety gates require verified item codes, valid fulfillment, explicit order confirmation, and tool evidence for sensitive claims. Customer GenUI and the final response are produced from persisted tool results and commerce state.</a:t>
            </a:r>
          </a:p>
          <a:p xmlns:a="http://schemas.openxmlformats.org/drawingml/2006/main">
            <a:r>
              <a:t/>
            </a:r>
          </a:p>
          <a:p xmlns:a="http://schemas.openxmlformats.org/drawingml/2006/main">
            <a:r>
              <a:t>SOURCE OF TRUTH</a:t>
            </a:r>
          </a:p>
          <a:p xmlns:a="http://schemas.openxmlformats.org/drawingml/2006/main">
            <a:r>
              <a:t>Persisted backend state and successful typed tool results win when the model and system disagree.</a:t>
            </a:r>
          </a:p>
          <a:p xmlns:a="http://schemas.openxmlformats.org/drawingml/2006/main">
            <a:r>
              <a:t/>
            </a:r>
          </a:p>
          <a:p xmlns:a="http://schemas.openxmlformats.org/drawingml/2006/main">
            <a:r>
              <a:t>IF ASKED WHETHER IT IS MULTI-AGENT</a:t>
            </a:r>
          </a:p>
          <a:p xmlns:a="http://schemas.openxmlformats.org/drawingml/2006/main">
            <a:r>
              <a:t>No. It is intentionally one commerce agent loop with one state authority and one policy boundary.</a:t>
            </a:r>
          </a:p>
          <a:p xmlns:a="http://schemas.openxmlformats.org/drawingml/2006/main">
            <a:r>
              <a:t/>
            </a:r>
          </a:p>
          <a:p xmlns:a="http://schemas.openxmlformats.org/drawingml/2006/main">
            <a:r>
              <a:t>BOUNDARY</a:t>
            </a:r>
          </a:p>
          <a:p xmlns:a="http://schemas.openxmlformats.org/drawingml/2006/main">
            <a:r>
              <a:t>The commerce clients are prototype/fixture backed; this is implemented safety design, not a production KFC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ONLY — DO NOT PRESENT SEQUENTIALLY</a:t>
            </a:r>
          </a:p>
          <a:p xmlns:a="http://schemas.openxmlformats.org/drawingml/2006/main">
            <a:r>
              <a:t/>
            </a:r>
          </a:p>
          <a:p xmlns:a="http://schemas.openxmlformats.org/drawingml/2006/main">
            <a:r>
              <a:t>NEW MESSAGE ANSWER</a:t>
            </a:r>
          </a:p>
          <a:p xmlns:a="http://schemas.openxmlformats.org/drawingml/2006/main">
            <a:r>
              <a:t>Channel turns are reserved, briefly coalesced, and assigned to a generation-owned run. A newer turn can supersede an older run only before an irreversible side effect. Stale responses are suppressed. Once the boundary is recorded, the system protects that execution instead of pretending it can safely rewind it.</a:t>
            </a:r>
          </a:p>
          <a:p xmlns:a="http://schemas.openxmlformats.org/drawingml/2006/main">
            <a:r>
              <a:t/>
            </a:r>
          </a:p>
          <a:p xmlns:a="http://schemas.openxmlformats.org/drawingml/2006/main">
            <a:r>
              <a:t>HUMAN TAKEOVER ANSWER</a:t>
            </a:r>
          </a:p>
          <a:p xmlns:a="http://schemas.openxmlformats.org/drawingml/2006/main">
            <a:r>
              <a:t>The session has an explicit control state. An operator can join, which pauses AI replies; the human can respond in the same channel; then Resume AI returns control with the takeover transcript preserved.</a:t>
            </a:r>
          </a:p>
          <a:p xmlns:a="http://schemas.openxmlformats.org/drawingml/2006/main">
            <a:r>
              <a:t/>
            </a:r>
          </a:p>
          <a:p xmlns:a="http://schemas.openxmlformats.org/drawingml/2006/main">
            <a:r>
              <a:t>BOUNDARY</a:t>
            </a:r>
          </a:p>
          <a:p xmlns:a="http://schemas.openxmlformats.org/drawingml/2006/main">
            <a:r>
              <a:t>Do not claim exactly-once delivery, production queue SLAs, or durable reconciliation after ambiguous external failures.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ONLY — DO NOT PRESENT SEQUENTIALLY</a:t>
            </a:r>
          </a:p>
          <a:p xmlns:a="http://schemas.openxmlformats.org/drawingml/2006/main">
            <a:r>
              <a:t/>
            </a:r>
          </a:p>
          <a:p xmlns:a="http://schemas.openxmlformats.org/drawingml/2006/main">
            <a:r>
              <a:t>ANSWER</a:t>
            </a:r>
          </a:p>
          <a:p xmlns:a="http://schemas.openxmlformats.org/drawingml/2006/main">
            <a:r>
              <a:t>We separate proof layers: deterministic contracts for gates and tools, scenario replay for end states, live Flutter and GenUI evidence for the customer surface, and live-model or deployed traces for runtime behavior. Logs and outcomes feed the next evaluation cycle. We never combine those layers into one misleading pass-rate number.</a:t>
            </a:r>
          </a:p>
          <a:p xmlns:a="http://schemas.openxmlformats.org/drawingml/2006/main">
            <a:r>
              <a:t/>
            </a:r>
          </a:p>
          <a:p xmlns:a="http://schemas.openxmlformats.org/drawingml/2006/main">
            <a:r>
              <a:t>IF ASKED “DID ALL NINE PASS?”</a:t>
            </a:r>
          </a:p>
          <a:p xmlns:a="http://schemas.openxmlformats.org/drawingml/2006/main">
            <a:r>
              <a:t>They are nine representative journey designs, not a public pass-rate claim. Evidence layers are reported separately.</a:t>
            </a:r>
          </a:p>
          <a:p xmlns:a="http://schemas.openxmlformats.org/drawingml/2006/main">
            <a:r>
              <a:t/>
            </a:r>
          </a:p>
          <a:p xmlns:a="http://schemas.openxmlformats.org/drawingml/2006/main">
            <a:r>
              <a:t>BOUNDARY</a:t>
            </a:r>
          </a:p>
          <a:p xmlns:a="http://schemas.openxmlformats.org/drawingml/2006/main">
            <a:r>
              <a:t>The nine scenarios are an engineering dataset—not user research, a pilot, or measured business impact. Do not claim all nine currently pass as live-model release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ONLY — DO NOT PRESENT SEQUENTIALLY</a:t>
            </a:r>
          </a:p>
          <a:p xmlns:a="http://schemas.openxmlformats.org/drawingml/2006/main">
            <a:r>
              <a:t/>
            </a:r>
          </a:p>
          <a:p xmlns:a="http://schemas.openxmlformats.org/drawingml/2006/main">
            <a:r>
              <a:t>INTEGRATION ANSWER</a:t>
            </a:r>
          </a:p>
          <a:p xmlns:a="http://schemas.openxmlformats.org/drawingml/2006/main">
            <a:r>
              <a:t>We demonstrated the integration shape through replaceable, simulated OMS/POS adapters: typed commands, correlation, idempotency keys, status mapping, and failure handling. We have not connected to KFC production or a named vendor sandbox. Real compatibility requires authoritative contracts, credentials, test stores, webhooks, and vendor conformance evidence.</a:t>
            </a:r>
          </a:p>
          <a:p xmlns:a="http://schemas.openxmlformats.org/drawingml/2006/main">
            <a:r>
              <a:t/>
            </a:r>
          </a:p>
          <a:p xmlns:a="http://schemas.openxmlformats.org/drawingml/2006/main">
            <a:r>
              <a:t>AMBIGUOUS FAILURE ANSWER</a:t>
            </a:r>
          </a:p>
          <a:p xmlns:a="http://schemas.openxmlformats.org/drawingml/2006/main">
            <a:r>
              <a:t>The simulated layer preserves raw OMS and POS outcomes, classifies conflicts, and attempts defined compensation where appropriate. Production deployment would require durable retries, vendor idempotency guarantees, reconciliation jobs, alerts, and an owned operations process.</a:t>
            </a:r>
          </a:p>
          <a:p xmlns:a="http://schemas.openxmlformats.org/drawingml/2006/main">
            <a:r>
              <a:t/>
            </a:r>
          </a:p>
          <a:p xmlns:a="http://schemas.openxmlformats.org/drawingml/2006/main">
            <a:r>
              <a:t>BOUNDARY</a:t>
            </a:r>
          </a:p>
          <a:p xmlns:a="http://schemas.openxmlformats.org/drawingml/2006/main">
            <a:r>
              <a:t>Demonstrated simulated OMS/POS orchestration through replaceable adapter contracts. Do not claim KFC compatibility, restart-safe idempotency, production durability, or production readiness.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d38d7843c56447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571c644c9604aa5" /><Relationship Type="http://schemas.openxmlformats.org/officeDocument/2006/relationships/slideLayout" Target="/ppt/slideLayouts/slideLayout1.xml" Id="R0c5b62a9074d4a6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c5b62a9074d4a6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3c7e73dca524c40" /><Relationship Type="http://schemas.openxmlformats.org/officeDocument/2006/relationships/image" Target="/ppt/media/image.png" Id="R55e9bed6386c4bc5" /><Relationship Type="http://schemas.openxmlformats.org/officeDocument/2006/relationships/notesSlide" Target="/ppt/notesSlides/notesSlide1.xml" Id="Rd25256e46b784b8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bd1a866f8c540b6" /><Relationship Type="http://schemas.openxmlformats.org/officeDocument/2006/relationships/notesSlide" Target="/ppt/notesSlides/notesSlide2.xml" Id="R84eacf76b270411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29e7cd04ee44ed8" /><Relationship Type="http://schemas.openxmlformats.org/officeDocument/2006/relationships/notesSlide" Target="/ppt/notesSlides/notesSlide3.xml" Id="Rb7b714008b114f7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1771aa09a034524" /><Relationship Type="http://schemas.openxmlformats.org/officeDocument/2006/relationships/image" Target="/ppt/media/image2.png" Id="R1125c6d9887e4609" /><Relationship Type="http://schemas.openxmlformats.org/officeDocument/2006/relationships/notesSlide" Target="/ppt/notesSlides/notesSlide4.xml" Id="R6748c5080fe7403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6699151aab6496a" /><Relationship Type="http://schemas.openxmlformats.org/officeDocument/2006/relationships/image" Target="/ppt/media/image3.png" Id="R6b378c16dfae4210" /><Relationship Type="http://schemas.openxmlformats.org/officeDocument/2006/relationships/notesSlide" Target="/ppt/notesSlides/notesSlide5.xml" Id="R18b1037361334cf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dd04b98b3a94c20" /><Relationship Type="http://schemas.openxmlformats.org/officeDocument/2006/relationships/image" Target="/ppt/media/image4.png" Id="Rcac307421ebc4f1a" /><Relationship Type="http://schemas.openxmlformats.org/officeDocument/2006/relationships/notesSlide" Target="/ppt/notesSlides/notesSlide6.xml" Id="Raa38549b52104db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beac28c9e67417e" /><Relationship Type="http://schemas.openxmlformats.org/officeDocument/2006/relationships/notesSlide" Target="/ppt/notesSlides/notesSlide7.xml" Id="Rfcdcc186363349f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52b99bc4cf24471" /><Relationship Type="http://schemas.openxmlformats.org/officeDocument/2006/relationships/notesSlide" Target="/ppt/notesSlides/notesSlide8.xml" Id="Rc0d3c3463675430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a985a6ed6d64ebc" /><Relationship Type="http://schemas.openxmlformats.org/officeDocument/2006/relationships/notesSlide" Target="/ppt/notesSlides/notesSlide9.xml" Id="R2817447eafc3405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7c8c354ccec4d91" /><Relationship Type="http://schemas.openxmlformats.org/officeDocument/2006/relationships/notesSlide" Target="/ppt/notesSlides/notesSlide10.xml" Id="R892cc71327404a8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2b37aa8257b4bab" /><Relationship Type="http://schemas.openxmlformats.org/officeDocument/2006/relationships/notesSlide" Target="/ppt/notesSlides/notesSlide11.xml" Id="Rbdb766ad5e924fc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64d2c9d62bf4f2d" /><Relationship Type="http://schemas.openxmlformats.org/officeDocument/2006/relationships/notesSlide" Target="/ppt/notesSlides/notesSlide12.xml" Id="R656f4a27935b425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d1147783c674241" /><Relationship Type="http://schemas.openxmlformats.org/officeDocument/2006/relationships/notesSlide" Target="/ppt/notesSlides/notesSlide13.xml" Id="Rc8e303da3aee4feb" /></Relationships>
</file>

<file path=ppt/slides/slide1.xml><?xml version="1.0" encoding="utf-8"?>
<p:sld xmlns:p="http://schemas.openxmlformats.org/presentationml/2006/main">
  <p:cSld>
    <p:bg>
      <p:bgPr>
        <a:solidFill xmlns:a="http://schemas.openxmlformats.org/drawingml/2006/main">
          <a:srgbClr val="0B0B0D"/>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5e9bed6386c4bc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CAC79E4-13B8-4ACF-A9EF-D91D9A62F907}"/>
              </a:ext>
            </a:extLst>
          </p:cNvPr>
          <p:cNvSpPr>
            <a:spLocks xmlns:a="http://schemas.openxmlformats.org/drawingml/2006/main" noGrp="1"/>
          </p:cNvSpPr>
          <p:nvPr/>
        </p:nvSpPr>
        <p:spPr>
          <a:xfrm xmlns:a="http://schemas.openxmlformats.org/drawingml/2006/main">
            <a:off x="0" y="0"/>
            <a:ext cx="6572250" cy="6858000"/>
          </a:xfrm>
          <a:prstGeom xmlns:a="http://schemas.openxmlformats.org/drawingml/2006/main" prst="rect">
            <a:avLst/>
          </a:prstGeom>
          <a:solidFill xmlns:a="http://schemas.openxmlformats.org/drawingml/2006/main">
            <a:srgbClr val="0B0B0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144513E-BCE4-4D07-B9B6-06485708FF4D}"/>
              </a:ext>
            </a:extLst>
          </p:cNvPr>
          <p:cNvSpPr>
            <a:spLocks xmlns:a="http://schemas.openxmlformats.org/drawingml/2006/main" noGrp="1"/>
          </p:cNvSpPr>
          <p:nvPr/>
        </p:nvSpPr>
        <p:spPr>
          <a:xfrm xmlns:a="http://schemas.openxmlformats.org/drawingml/2006/main">
            <a:off x="704850" y="6477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E4002B"/>
                </a:solidFill>
              </a:defRPr>
            </a:pPr>
            <a:r>
              <a:rPr sz="1350" b="1" i="0">
                <a:solidFill>
                  <a:srgbClr val="E4002B"/>
                </a:solidFill>
              </a:rPr>
              <a:t>TEAM BRAISE</a:t>
            </a:r>
          </a:p>
        </p:txBody>
      </p:sp>
      <p:sp>
        <p:nvSpPr>
          <p:cNvPr id="4" name="">
            <a:extLst xmlns:a="http://schemas.openxmlformats.org/drawingml/2006/main">
              <a:ext uri="{FF2B5EF4-FFF2-40B4-BE49-F238E27FC236}">
                <a16:creationId xmlns:a16="http://schemas.microsoft.com/office/drawing/2014/main" id="{3207D6D2-8435-45EE-986B-193E62A5E06D}"/>
              </a:ext>
            </a:extLst>
          </p:cNvPr>
          <p:cNvSpPr>
            <a:spLocks xmlns:a="http://schemas.openxmlformats.org/drawingml/2006/main" noGrp="1"/>
          </p:cNvSpPr>
          <p:nvPr/>
        </p:nvSpPr>
        <p:spPr>
          <a:xfrm xmlns:a="http://schemas.openxmlformats.org/drawingml/2006/main">
            <a:off x="685800" y="1200150"/>
            <a:ext cx="5143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500" b="1" i="0">
                <a:solidFill>
                  <a:srgbClr val="FFFFFF"/>
                </a:solidFill>
              </a:defRPr>
            </a:pPr>
            <a:r>
              <a:rPr sz="4500" b="1" i="0">
                <a:solidFill>
                  <a:srgbClr val="FFFFFF"/>
                </a:solidFill>
              </a:rPr>
              <a:t>KFC Commerce</a:t>
            </a:r>
          </a:p>
          <a:p xmlns:a="http://schemas.openxmlformats.org/drawingml/2006/main">
            <a:pPr algn="l">
              <a:defRPr sz="4500" b="1" i="0">
                <a:solidFill>
                  <a:srgbClr val="FFFFFF"/>
                </a:solidFill>
              </a:defRPr>
            </a:pPr>
            <a:r>
              <a:rPr sz="4500" b="1" i="0">
                <a:solidFill>
                  <a:srgbClr val="FFFFFF"/>
                </a:solidFill>
              </a:rPr>
              <a:t>Agent</a:t>
            </a:r>
          </a:p>
        </p:txBody>
      </p:sp>
      <p:sp>
        <p:nvSpPr>
          <p:cNvPr id="5" name="">
            <a:extLst xmlns:a="http://schemas.openxmlformats.org/drawingml/2006/main">
              <a:ext uri="{FF2B5EF4-FFF2-40B4-BE49-F238E27FC236}">
                <a16:creationId xmlns:a16="http://schemas.microsoft.com/office/drawing/2014/main" id="{C82F11CC-9453-419D-A820-AD19CB4C4459}"/>
              </a:ext>
            </a:extLst>
          </p:cNvPr>
          <p:cNvSpPr>
            <a:spLocks xmlns:a="http://schemas.openxmlformats.org/drawingml/2006/main" noGrp="1"/>
          </p:cNvSpPr>
          <p:nvPr/>
        </p:nvSpPr>
        <p:spPr>
          <a:xfrm xmlns:a="http://schemas.openxmlformats.org/drawingml/2006/main">
            <a:off x="704850" y="2914650"/>
            <a:ext cx="5143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i="0">
                <a:solidFill>
                  <a:srgbClr val="F7F2E8"/>
                </a:solidFill>
              </a:defRPr>
            </a:pPr>
            <a:r>
              <a:rPr sz="2175" b="1" i="0">
                <a:solidFill>
                  <a:srgbClr val="F7F2E8"/>
                </a:solidFill>
              </a:rPr>
              <a:t>For KFC customers, we turn natural</a:t>
            </a:r>
          </a:p>
          <a:p xmlns:a="http://schemas.openxmlformats.org/drawingml/2006/main">
            <a:pPr algn="l">
              <a:defRPr sz="2175" b="1" i="0">
                <a:solidFill>
                  <a:srgbClr val="F7F2E8"/>
                </a:solidFill>
              </a:defRPr>
            </a:pPr>
            <a:r>
              <a:rPr sz="2175" b="1" i="0">
                <a:solidFill>
                  <a:srgbClr val="F7F2E8"/>
                </a:solidFill>
              </a:rPr>
              <a:t>conversations into completed orders</a:t>
            </a:r>
          </a:p>
        </p:txBody>
      </p:sp>
      <p:sp>
        <p:nvSpPr>
          <p:cNvPr id="6" name="">
            <a:extLst xmlns:a="http://schemas.openxmlformats.org/drawingml/2006/main">
              <a:ext uri="{FF2B5EF4-FFF2-40B4-BE49-F238E27FC236}">
                <a16:creationId xmlns:a16="http://schemas.microsoft.com/office/drawing/2014/main" id="{3A64DEB1-FCEB-4AB3-8A0C-0C6DC989EB4C}"/>
              </a:ext>
            </a:extLst>
          </p:cNvPr>
          <p:cNvSpPr>
            <a:spLocks xmlns:a="http://schemas.openxmlformats.org/drawingml/2006/main" noGrp="1"/>
          </p:cNvSpPr>
          <p:nvPr/>
        </p:nvSpPr>
        <p:spPr>
          <a:xfrm xmlns:a="http://schemas.openxmlformats.org/drawingml/2006/main">
            <a:off x="704850" y="4114800"/>
            <a:ext cx="114300" cy="114300"/>
          </a:xfrm>
          <a:prstGeom xmlns:a="http://schemas.openxmlformats.org/drawingml/2006/main" prst="rect">
            <a:avLst/>
          </a:prstGeom>
          <a:solidFill xmlns:a="http://schemas.openxmlformats.org/drawingml/2006/main">
            <a:srgbClr val="E4002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492E45A-55D2-429C-A002-861C06FD1E5F}"/>
              </a:ext>
            </a:extLst>
          </p:cNvPr>
          <p:cNvSpPr>
            <a:spLocks xmlns:a="http://schemas.openxmlformats.org/drawingml/2006/main" noGrp="1"/>
          </p:cNvSpPr>
          <p:nvPr/>
        </p:nvSpPr>
        <p:spPr>
          <a:xfrm xmlns:a="http://schemas.openxmlformats.org/drawingml/2006/main">
            <a:off x="990600" y="39624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FFFFFF"/>
                </a:solidFill>
              </a:defRPr>
            </a:pPr>
            <a:r>
              <a:rPr sz="1425" b="1" i="0">
                <a:solidFill>
                  <a:srgbClr val="FFFFFF"/>
                </a:solidFill>
              </a:rPr>
              <a:t>by coordinating commerce systems, requesting</a:t>
            </a:r>
          </a:p>
          <a:p xmlns:a="http://schemas.openxmlformats.org/drawingml/2006/main">
            <a:pPr algn="l">
              <a:defRPr sz="1425" b="1" i="0">
                <a:solidFill>
                  <a:srgbClr val="FFFFFF"/>
                </a:solidFill>
              </a:defRPr>
            </a:pPr>
            <a:r>
              <a:rPr sz="1425" b="1" i="0">
                <a:solidFill>
                  <a:srgbClr val="FFFFFF"/>
                </a:solidFill>
              </a:rPr>
              <a:t>approval, and verifying the result.</a:t>
            </a:r>
          </a:p>
        </p:txBody>
      </p:sp>
      <p:sp>
        <p:nvSpPr>
          <p:cNvPr id="8" name="">
            <a:extLst xmlns:a="http://schemas.openxmlformats.org/drawingml/2006/main">
              <a:ext uri="{FF2B5EF4-FFF2-40B4-BE49-F238E27FC236}">
                <a16:creationId xmlns:a16="http://schemas.microsoft.com/office/drawing/2014/main" id="{9DD737E9-20CE-4D36-AD0B-8BF23EECB1A2}"/>
              </a:ext>
            </a:extLst>
          </p:cNvPr>
          <p:cNvSpPr>
            <a:spLocks xmlns:a="http://schemas.openxmlformats.org/drawingml/2006/main" noGrp="1"/>
          </p:cNvSpPr>
          <p:nvPr/>
        </p:nvSpPr>
        <p:spPr>
          <a:xfrm xmlns:a="http://schemas.openxmlformats.org/drawingml/2006/main">
            <a:off x="704850" y="5067300"/>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B8B2A8"/>
                </a:solidFill>
              </a:defRPr>
            </a:pPr>
            <a:r>
              <a:rPr sz="1125" b="1" i="0">
                <a:solidFill>
                  <a:srgbClr val="B8B2A8"/>
                </a:solidFill>
              </a:rPr>
              <a:t>Commerce execution  ×  Agent engineering  ×  Product experience</a:t>
            </a:r>
          </a:p>
        </p:txBody>
      </p:sp>
      <p:sp>
        <p:nvSpPr>
          <p:cNvPr id="9" name="">
            <a:extLst xmlns:a="http://schemas.openxmlformats.org/drawingml/2006/main">
              <a:ext uri="{FF2B5EF4-FFF2-40B4-BE49-F238E27FC236}">
                <a16:creationId xmlns:a16="http://schemas.microsoft.com/office/drawing/2014/main" id="{1EB5F98C-7626-4DB1-B5FB-39FF134619BE}"/>
              </a:ext>
            </a:extLst>
          </p:cNvPr>
          <p:cNvSpPr>
            <a:spLocks xmlns:a="http://schemas.openxmlformats.org/drawingml/2006/main" noGrp="1"/>
          </p:cNvSpPr>
          <p:nvPr/>
        </p:nvSpPr>
        <p:spPr>
          <a:xfrm xmlns:a="http://schemas.openxmlformats.org/drawingml/2006/main">
            <a:off x="704850" y="582930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FFFFFF"/>
                </a:solidFill>
              </a:defRPr>
            </a:pPr>
            <a:r>
              <a:rPr sz="1125" b="1" i="0">
                <a:solidFill>
                  <a:srgbClr val="FFFFFF"/>
                </a:solidFill>
              </a:rPr>
              <a:t>THANG  /  PRESENTER</a:t>
            </a:r>
          </a:p>
        </p:txBody>
      </p:sp>
    </p:spTree>
    <p:extLst>
      <p:ext uri="{BB962C8B-B14F-4D97-AF65-F5344CB8AC3E}">
        <p14:creationId xmlns:p14="http://schemas.microsoft.com/office/powerpoint/2010/main" val="1924078211"/>
      </p:ext>
    </p:extLst>
  </p:cSld>
</p:sld>
</file>

<file path=ppt/slides/slide2.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D08DFAA-28AD-40D2-92CD-A1F85D6534DC}"/>
              </a:ext>
            </a:extLst>
          </p:cNvPr>
          <p:cNvSpPr>
            <a:spLocks xmlns:a="http://schemas.openxmlformats.org/drawingml/2006/main" noGrp="1"/>
          </p:cNvSpPr>
          <p:nvPr/>
        </p:nvSpPr>
        <p:spPr>
          <a:xfrm xmlns:a="http://schemas.openxmlformats.org/drawingml/2006/main">
            <a:off x="685800" y="495300"/>
            <a:ext cx="428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E4002B"/>
                </a:solidFill>
              </a:defRPr>
            </a:pPr>
            <a:r>
              <a:rPr sz="1125" b="1" i="0">
                <a:solidFill>
                  <a:srgbClr val="E4002B"/>
                </a:solidFill>
              </a:rPr>
              <a:t>02  /  THE CUSTOMER PROBLEM</a:t>
            </a:r>
          </a:p>
        </p:txBody>
      </p:sp>
      <p:sp>
        <p:nvSpPr>
          <p:cNvPr id="2" name="">
            <a:extLst xmlns:a="http://schemas.openxmlformats.org/drawingml/2006/main">
              <a:ext uri="{FF2B5EF4-FFF2-40B4-BE49-F238E27FC236}">
                <a16:creationId xmlns:a16="http://schemas.microsoft.com/office/drawing/2014/main" id="{394C331E-9E07-4C73-90F1-6EE34741EC56}"/>
              </a:ext>
            </a:extLst>
          </p:cNvPr>
          <p:cNvSpPr>
            <a:spLocks xmlns:a="http://schemas.openxmlformats.org/drawingml/2006/main" noGrp="1"/>
          </p:cNvSpPr>
          <p:nvPr/>
        </p:nvSpPr>
        <p:spPr>
          <a:xfrm xmlns:a="http://schemas.openxmlformats.org/drawingml/2006/main">
            <a:off x="11087100" y="4953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i="0">
                <a:solidFill>
                  <a:srgbClr val="0B0B0D"/>
                </a:solidFill>
              </a:defRPr>
            </a:pPr>
            <a:r>
              <a:rPr sz="975" b="1" i="0">
                <a:solidFill>
                  <a:srgbClr val="0B0B0D"/>
                </a:solidFill>
              </a:rPr>
              <a:t>02</a:t>
            </a:r>
          </a:p>
        </p:txBody>
      </p:sp>
      <p:sp>
        <p:nvSpPr>
          <p:cNvPr id="3" name="">
            <a:extLst xmlns:a="http://schemas.openxmlformats.org/drawingml/2006/main">
              <a:ext uri="{FF2B5EF4-FFF2-40B4-BE49-F238E27FC236}">
                <a16:creationId xmlns:a16="http://schemas.microsoft.com/office/drawing/2014/main" id="{AEC482C0-BE63-4EFB-A3F3-F2A7ADFD182C}"/>
              </a:ext>
            </a:extLst>
          </p:cNvPr>
          <p:cNvSpPr>
            <a:spLocks xmlns:a="http://schemas.openxmlformats.org/drawingml/2006/main" noGrp="1"/>
          </p:cNvSpPr>
          <p:nvPr/>
        </p:nvSpPr>
        <p:spPr>
          <a:xfrm xmlns:a="http://schemas.openxmlformats.org/drawingml/2006/main">
            <a:off x="685800" y="952500"/>
            <a:ext cx="10572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i="0">
                <a:solidFill>
                  <a:srgbClr val="0B0B0D"/>
                </a:solidFill>
              </a:defRPr>
            </a:pPr>
            <a:r>
              <a:rPr sz="3300" b="1" i="0">
                <a:solidFill>
                  <a:srgbClr val="0B0B0D"/>
                </a:solidFill>
              </a:rPr>
              <a:t>High-intent customers are already in chat—</a:t>
            </a:r>
          </a:p>
          <a:p xmlns:a="http://schemas.openxmlformats.org/drawingml/2006/main">
            <a:pPr algn="l">
              <a:defRPr sz="3300" b="1" i="0">
                <a:solidFill>
                  <a:srgbClr val="0B0B0D"/>
                </a:solidFill>
              </a:defRPr>
            </a:pPr>
            <a:r>
              <a:rPr sz="3300" b="1" i="0">
                <a:solidFill>
                  <a:srgbClr val="0B0B0D"/>
                </a:solidFill>
              </a:rPr>
              <a:t>but ordering sends them elsewhere.</a:t>
            </a:r>
          </a:p>
        </p:txBody>
      </p:sp>
      <p:sp>
        <p:nvSpPr>
          <p:cNvPr id="4" name="">
            <a:extLst xmlns:a="http://schemas.openxmlformats.org/drawingml/2006/main">
              <a:ext uri="{FF2B5EF4-FFF2-40B4-BE49-F238E27FC236}">
                <a16:creationId xmlns:a16="http://schemas.microsoft.com/office/drawing/2014/main" id="{A3B57528-AEDB-45A5-89A5-1281E721B191}"/>
              </a:ext>
            </a:extLst>
          </p:cNvPr>
          <p:cNvSpPr>
            <a:spLocks xmlns:a="http://schemas.openxmlformats.org/drawingml/2006/main" noGrp="1"/>
          </p:cNvSpPr>
          <p:nvPr/>
        </p:nvSpPr>
        <p:spPr>
          <a:xfrm xmlns:a="http://schemas.openxmlformats.org/drawingml/2006/main">
            <a:off x="704850" y="24574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E4002B"/>
                </a:solidFill>
              </a:defRPr>
            </a:pPr>
            <a:r>
              <a:rPr sz="1125" b="1" i="0">
                <a:solidFill>
                  <a:srgbClr val="E4002B"/>
                </a:solidFill>
              </a:rPr>
              <a:t>TODAY</a:t>
            </a:r>
          </a:p>
        </p:txBody>
      </p:sp>
      <p:sp>
        <p:nvSpPr>
          <p:cNvPr id="5" name="">
            <a:extLst xmlns:a="http://schemas.openxmlformats.org/drawingml/2006/main">
              <a:ext uri="{FF2B5EF4-FFF2-40B4-BE49-F238E27FC236}">
                <a16:creationId xmlns:a16="http://schemas.microsoft.com/office/drawing/2014/main" id="{AF0215A7-AB53-4B3E-821E-C03B4B728BB3}"/>
              </a:ext>
            </a:extLst>
          </p:cNvPr>
          <p:cNvSpPr>
            <a:spLocks xmlns:a="http://schemas.openxmlformats.org/drawingml/2006/main" noGrp="1"/>
          </p:cNvSpPr>
          <p:nvPr/>
        </p:nvSpPr>
        <p:spPr>
          <a:xfrm xmlns:a="http://schemas.openxmlformats.org/drawingml/2006/main">
            <a:off x="704850" y="28194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0B0B0D"/>
                </a:solidFill>
              </a:defRPr>
            </a:pPr>
            <a:r>
              <a:rPr sz="1200" b="1" i="0">
                <a:solidFill>
                  <a:srgbClr val="0B0B0D"/>
                </a:solidFill>
              </a:rPr>
              <a:t>THE CUSTOMER HAS TO</a:t>
            </a:r>
          </a:p>
        </p:txBody>
      </p:sp>
      <p:sp>
        <p:nvSpPr>
          <p:cNvPr id="6" name="">
            <a:extLst xmlns:a="http://schemas.openxmlformats.org/drawingml/2006/main">
              <a:ext uri="{FF2B5EF4-FFF2-40B4-BE49-F238E27FC236}">
                <a16:creationId xmlns:a16="http://schemas.microsoft.com/office/drawing/2014/main" id="{CFBDFA9A-58C2-4E3E-95D6-45FE3C78BFDF}"/>
              </a:ext>
            </a:extLst>
          </p:cNvPr>
          <p:cNvSpPr>
            <a:spLocks xmlns:a="http://schemas.openxmlformats.org/drawingml/2006/main" noGrp="1"/>
          </p:cNvSpPr>
          <p:nvPr/>
        </p:nvSpPr>
        <p:spPr>
          <a:xfrm xmlns:a="http://schemas.openxmlformats.org/drawingml/2006/main">
            <a:off x="723900" y="3333750"/>
            <a:ext cx="95250" cy="95250"/>
          </a:xfrm>
          <a:prstGeom xmlns:a="http://schemas.openxmlformats.org/drawingml/2006/main" prst="rect">
            <a:avLst/>
          </a:prstGeom>
          <a:solidFill xmlns:a="http://schemas.openxmlformats.org/drawingml/2006/main">
            <a:srgbClr val="E4002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0627F9F-33B1-4797-871F-60794752DBC9}"/>
              </a:ext>
            </a:extLst>
          </p:cNvPr>
          <p:cNvSpPr>
            <a:spLocks xmlns:a="http://schemas.openxmlformats.org/drawingml/2006/main" noGrp="1"/>
          </p:cNvSpPr>
          <p:nvPr/>
        </p:nvSpPr>
        <p:spPr>
          <a:xfrm xmlns:a="http://schemas.openxmlformats.org/drawingml/2006/main">
            <a:off x="1009650" y="3219450"/>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0B0B0D"/>
                </a:solidFill>
              </a:defRPr>
            </a:pPr>
            <a:r>
              <a:rPr sz="1350" b="1" i="0">
                <a:solidFill>
                  <a:srgbClr val="0B0B0D"/>
                </a:solidFill>
              </a:rPr>
              <a:t>Switch from Messenger or Zalo to another app or site</a:t>
            </a:r>
          </a:p>
        </p:txBody>
      </p:sp>
      <p:sp>
        <p:nvSpPr>
          <p:cNvPr id="8" name="">
            <a:extLst xmlns:a="http://schemas.openxmlformats.org/drawingml/2006/main">
              <a:ext uri="{FF2B5EF4-FFF2-40B4-BE49-F238E27FC236}">
                <a16:creationId xmlns:a16="http://schemas.microsoft.com/office/drawing/2014/main" id="{7C60B592-B0E9-4CFF-8F1F-DD2D4F6FAFC7}"/>
              </a:ext>
            </a:extLst>
          </p:cNvPr>
          <p:cNvSpPr>
            <a:spLocks xmlns:a="http://schemas.openxmlformats.org/drawingml/2006/main" noGrp="1"/>
          </p:cNvSpPr>
          <p:nvPr/>
        </p:nvSpPr>
        <p:spPr>
          <a:xfrm xmlns:a="http://schemas.openxmlformats.org/drawingml/2006/main">
            <a:off x="723900" y="3943350"/>
            <a:ext cx="95250" cy="95250"/>
          </a:xfrm>
          <a:prstGeom xmlns:a="http://schemas.openxmlformats.org/drawingml/2006/main" prst="rect">
            <a:avLst/>
          </a:prstGeom>
          <a:solidFill xmlns:a="http://schemas.openxmlformats.org/drawingml/2006/main">
            <a:srgbClr val="E4002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96565F9-233B-4627-91B0-AA44DB53B79C}"/>
              </a:ext>
            </a:extLst>
          </p:cNvPr>
          <p:cNvSpPr>
            <a:spLocks xmlns:a="http://schemas.openxmlformats.org/drawingml/2006/main" noGrp="1"/>
          </p:cNvSpPr>
          <p:nvPr/>
        </p:nvSpPr>
        <p:spPr>
          <a:xfrm xmlns:a="http://schemas.openxmlformats.org/drawingml/2006/main">
            <a:off x="1009650" y="3829050"/>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0B0B0D"/>
                </a:solidFill>
              </a:defRPr>
            </a:pPr>
            <a:r>
              <a:rPr sz="1350" b="1" i="0">
                <a:solidFill>
                  <a:srgbClr val="0B0B0D"/>
                </a:solidFill>
              </a:rPr>
              <a:t>Leave chat to order, apply vouchers, or check loyalty</a:t>
            </a:r>
          </a:p>
        </p:txBody>
      </p:sp>
      <p:sp>
        <p:nvSpPr>
          <p:cNvPr id="10" name="">
            <a:extLst xmlns:a="http://schemas.openxmlformats.org/drawingml/2006/main">
              <a:ext uri="{FF2B5EF4-FFF2-40B4-BE49-F238E27FC236}">
                <a16:creationId xmlns:a16="http://schemas.microsoft.com/office/drawing/2014/main" id="{5E155C30-94C4-4927-B189-6DB2E25967C5}"/>
              </a:ext>
            </a:extLst>
          </p:cNvPr>
          <p:cNvSpPr>
            <a:spLocks xmlns:a="http://schemas.openxmlformats.org/drawingml/2006/main" noGrp="1"/>
          </p:cNvSpPr>
          <p:nvPr/>
        </p:nvSpPr>
        <p:spPr>
          <a:xfrm xmlns:a="http://schemas.openxmlformats.org/drawingml/2006/main">
            <a:off x="723900" y="4552950"/>
            <a:ext cx="95250" cy="95250"/>
          </a:xfrm>
          <a:prstGeom xmlns:a="http://schemas.openxmlformats.org/drawingml/2006/main" prst="rect">
            <a:avLst/>
          </a:prstGeom>
          <a:solidFill xmlns:a="http://schemas.openxmlformats.org/drawingml/2006/main">
            <a:srgbClr val="E4002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15F689E-8478-4F93-9053-532C84E03E1E}"/>
              </a:ext>
            </a:extLst>
          </p:cNvPr>
          <p:cNvSpPr>
            <a:spLocks xmlns:a="http://schemas.openxmlformats.org/drawingml/2006/main" noGrp="1"/>
          </p:cNvSpPr>
          <p:nvPr/>
        </p:nvSpPr>
        <p:spPr>
          <a:xfrm xmlns:a="http://schemas.openxmlformats.org/drawingml/2006/main">
            <a:off x="1009650" y="4438650"/>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0B0B0D"/>
                </a:solidFill>
              </a:defRPr>
            </a:pPr>
            <a:r>
              <a:rPr sz="1350" b="1" i="0">
                <a:solidFill>
                  <a:srgbClr val="0B0B0D"/>
                </a:solidFill>
              </a:rPr>
              <a:t>Wait for staff to carry the journey forward</a:t>
            </a:r>
          </a:p>
        </p:txBody>
      </p:sp>
      <p:sp>
        <p:nvSpPr>
          <p:cNvPr id="12" name="">
            <a:extLst xmlns:a="http://schemas.openxmlformats.org/drawingml/2006/main">
              <a:ext uri="{FF2B5EF4-FFF2-40B4-BE49-F238E27FC236}">
                <a16:creationId xmlns:a16="http://schemas.microsoft.com/office/drawing/2014/main" id="{D330E021-E796-4169-A6D9-4019A9EEF4F2}"/>
              </a:ext>
            </a:extLst>
          </p:cNvPr>
          <p:cNvSpPr>
            <a:spLocks xmlns:a="http://schemas.openxmlformats.org/drawingml/2006/main" noGrp="1"/>
          </p:cNvSpPr>
          <p:nvPr/>
        </p:nvSpPr>
        <p:spPr>
          <a:xfrm xmlns:a="http://schemas.openxmlformats.org/drawingml/2006/main">
            <a:off x="5676900" y="2400300"/>
            <a:ext cx="5829300" cy="2933700"/>
          </a:xfrm>
          <a:prstGeom xmlns:a="http://schemas.openxmlformats.org/drawingml/2006/main" prst="roundRect">
            <a:avLst>
              <a:gd name="adj" fmla="val 3896"/>
            </a:avLst>
          </a:prstGeom>
          <a:solidFill xmlns:a="http://schemas.openxmlformats.org/drawingml/2006/main">
            <a:srgbClr val="0B0B0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57AEACC-CD80-44E6-9A74-E677A7BA313A}"/>
              </a:ext>
            </a:extLst>
          </p:cNvPr>
          <p:cNvSpPr>
            <a:spLocks xmlns:a="http://schemas.openxmlformats.org/drawingml/2006/main" noGrp="1"/>
          </p:cNvSpPr>
          <p:nvPr/>
        </p:nvSpPr>
        <p:spPr>
          <a:xfrm xmlns:a="http://schemas.openxmlformats.org/drawingml/2006/main">
            <a:off x="6038850" y="27432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E4002B"/>
                </a:solidFill>
              </a:defRPr>
            </a:pPr>
            <a:r>
              <a:rPr sz="1125" b="1" i="0">
                <a:solidFill>
                  <a:srgbClr val="E4002B"/>
                </a:solidFill>
              </a:rPr>
              <a:t>WITH KFC COMMERCE AGENT</a:t>
            </a:r>
          </a:p>
        </p:txBody>
      </p:sp>
      <p:sp>
        <p:nvSpPr>
          <p:cNvPr id="14" name="">
            <a:extLst xmlns:a="http://schemas.openxmlformats.org/drawingml/2006/main">
              <a:ext uri="{FF2B5EF4-FFF2-40B4-BE49-F238E27FC236}">
                <a16:creationId xmlns:a16="http://schemas.microsoft.com/office/drawing/2014/main" id="{0944242D-88C2-4F38-A6EC-92B5A9044B3B}"/>
              </a:ext>
            </a:extLst>
          </p:cNvPr>
          <p:cNvSpPr>
            <a:spLocks xmlns:a="http://schemas.openxmlformats.org/drawingml/2006/main" noGrp="1"/>
          </p:cNvSpPr>
          <p:nvPr/>
        </p:nvSpPr>
        <p:spPr>
          <a:xfrm xmlns:a="http://schemas.openxmlformats.org/drawingml/2006/main">
            <a:off x="6038850" y="3257550"/>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E4002B"/>
                </a:solidFill>
              </a:defRPr>
            </a:pPr>
            <a:r>
              <a:rPr sz="1050" b="1" i="0">
                <a:solidFill>
                  <a:srgbClr val="E4002B"/>
                </a:solidFill>
              </a:rPr>
              <a:t>STAY</a:t>
            </a:r>
          </a:p>
        </p:txBody>
      </p:sp>
      <p:sp>
        <p:nvSpPr>
          <p:cNvPr id="15" name="">
            <a:extLst xmlns:a="http://schemas.openxmlformats.org/drawingml/2006/main">
              <a:ext uri="{FF2B5EF4-FFF2-40B4-BE49-F238E27FC236}">
                <a16:creationId xmlns:a16="http://schemas.microsoft.com/office/drawing/2014/main" id="{60294AD2-5FD2-4D2D-98AC-79E1F055F62E}"/>
              </a:ext>
            </a:extLst>
          </p:cNvPr>
          <p:cNvSpPr>
            <a:spLocks xmlns:a="http://schemas.openxmlformats.org/drawingml/2006/main" noGrp="1"/>
          </p:cNvSpPr>
          <p:nvPr/>
        </p:nvSpPr>
        <p:spPr>
          <a:xfrm xmlns:a="http://schemas.openxmlformats.org/drawingml/2006/main">
            <a:off x="7239000" y="3228975"/>
            <a:ext cx="3790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FFFFFF"/>
                </a:solidFill>
              </a:defRPr>
            </a:pPr>
            <a:r>
              <a:rPr sz="1350" b="1" i="0">
                <a:solidFill>
                  <a:srgbClr val="FFFFFF"/>
                </a:solidFill>
              </a:rPr>
              <a:t>Complete the ordering journey in chat</a:t>
            </a:r>
          </a:p>
        </p:txBody>
      </p:sp>
      <p:sp>
        <p:nvSpPr>
          <p:cNvPr id="16" name="">
            <a:extLst xmlns:a="http://schemas.openxmlformats.org/drawingml/2006/main">
              <a:ext uri="{FF2B5EF4-FFF2-40B4-BE49-F238E27FC236}">
                <a16:creationId xmlns:a16="http://schemas.microsoft.com/office/drawing/2014/main" id="{9586586B-1813-4BB7-8756-F50E7D1B742D}"/>
              </a:ext>
            </a:extLst>
          </p:cNvPr>
          <p:cNvSpPr>
            <a:spLocks xmlns:a="http://schemas.openxmlformats.org/drawingml/2006/main" noGrp="1"/>
          </p:cNvSpPr>
          <p:nvPr/>
        </p:nvSpPr>
        <p:spPr>
          <a:xfrm xmlns:a="http://schemas.openxmlformats.org/drawingml/2006/main">
            <a:off x="6038850" y="3714750"/>
            <a:ext cx="4991100" cy="9525"/>
          </a:xfrm>
          <a:prstGeom xmlns:a="http://schemas.openxmlformats.org/drawingml/2006/main" prst="rect">
            <a:avLst/>
          </a:prstGeom>
          <a:solidFill xmlns:a="http://schemas.openxmlformats.org/drawingml/2006/main">
            <a:srgbClr val="27272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BC15D88-7CEA-4902-B34F-B8C741689F80}"/>
              </a:ext>
            </a:extLst>
          </p:cNvPr>
          <p:cNvSpPr>
            <a:spLocks xmlns:a="http://schemas.openxmlformats.org/drawingml/2006/main" noGrp="1"/>
          </p:cNvSpPr>
          <p:nvPr/>
        </p:nvSpPr>
        <p:spPr>
          <a:xfrm xmlns:a="http://schemas.openxmlformats.org/drawingml/2006/main">
            <a:off x="6038850" y="3905250"/>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E4002B"/>
                </a:solidFill>
              </a:defRPr>
            </a:pPr>
            <a:r>
              <a:rPr sz="1050" b="1" i="0">
                <a:solidFill>
                  <a:srgbClr val="E4002B"/>
                </a:solidFill>
              </a:rPr>
              <a:t>CONNECT</a:t>
            </a:r>
          </a:p>
        </p:txBody>
      </p:sp>
      <p:sp>
        <p:nvSpPr>
          <p:cNvPr id="18" name="">
            <a:extLst xmlns:a="http://schemas.openxmlformats.org/drawingml/2006/main">
              <a:ext uri="{FF2B5EF4-FFF2-40B4-BE49-F238E27FC236}">
                <a16:creationId xmlns:a16="http://schemas.microsoft.com/office/drawing/2014/main" id="{AF865890-8186-4FCC-8977-41B6A3A44324}"/>
              </a:ext>
            </a:extLst>
          </p:cNvPr>
          <p:cNvSpPr>
            <a:spLocks xmlns:a="http://schemas.openxmlformats.org/drawingml/2006/main" noGrp="1"/>
          </p:cNvSpPr>
          <p:nvPr/>
        </p:nvSpPr>
        <p:spPr>
          <a:xfrm xmlns:a="http://schemas.openxmlformats.org/drawingml/2006/main">
            <a:off x="7239000" y="3876675"/>
            <a:ext cx="3790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FFFFFF"/>
                </a:solidFill>
              </a:defRPr>
            </a:pPr>
            <a:r>
              <a:rPr sz="1350" b="1" i="0">
                <a:solidFill>
                  <a:srgbClr val="FFFFFF"/>
                </a:solidFill>
              </a:rPr>
              <a:t>Coordinate ordering, vouchers, loyalty, and fulfillment</a:t>
            </a:r>
          </a:p>
        </p:txBody>
      </p:sp>
      <p:sp>
        <p:nvSpPr>
          <p:cNvPr id="19" name="">
            <a:extLst xmlns:a="http://schemas.openxmlformats.org/drawingml/2006/main">
              <a:ext uri="{FF2B5EF4-FFF2-40B4-BE49-F238E27FC236}">
                <a16:creationId xmlns:a16="http://schemas.microsoft.com/office/drawing/2014/main" id="{D32D565A-CE64-473F-A369-DA5632658C9B}"/>
              </a:ext>
            </a:extLst>
          </p:cNvPr>
          <p:cNvSpPr>
            <a:spLocks xmlns:a="http://schemas.openxmlformats.org/drawingml/2006/main" noGrp="1"/>
          </p:cNvSpPr>
          <p:nvPr/>
        </p:nvSpPr>
        <p:spPr>
          <a:xfrm xmlns:a="http://schemas.openxmlformats.org/drawingml/2006/main">
            <a:off x="6038850" y="4362450"/>
            <a:ext cx="4991100" cy="9525"/>
          </a:xfrm>
          <a:prstGeom xmlns:a="http://schemas.openxmlformats.org/drawingml/2006/main" prst="rect">
            <a:avLst/>
          </a:prstGeom>
          <a:solidFill xmlns:a="http://schemas.openxmlformats.org/drawingml/2006/main">
            <a:srgbClr val="27272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72EABEC-6439-48D0-8329-B38174E717ED}"/>
              </a:ext>
            </a:extLst>
          </p:cNvPr>
          <p:cNvSpPr>
            <a:spLocks xmlns:a="http://schemas.openxmlformats.org/drawingml/2006/main" noGrp="1"/>
          </p:cNvSpPr>
          <p:nvPr/>
        </p:nvSpPr>
        <p:spPr>
          <a:xfrm xmlns:a="http://schemas.openxmlformats.org/drawingml/2006/main">
            <a:off x="6038850" y="4552950"/>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E4002B"/>
                </a:solidFill>
              </a:defRPr>
            </a:pPr>
            <a:r>
              <a:rPr sz="1050" b="1" i="0">
                <a:solidFill>
                  <a:srgbClr val="E4002B"/>
                </a:solidFill>
              </a:rPr>
              <a:t>HAND OFF</a:t>
            </a:r>
          </a:p>
        </p:txBody>
      </p:sp>
      <p:sp>
        <p:nvSpPr>
          <p:cNvPr id="21" name="">
            <a:extLst xmlns:a="http://schemas.openxmlformats.org/drawingml/2006/main">
              <a:ext uri="{FF2B5EF4-FFF2-40B4-BE49-F238E27FC236}">
                <a16:creationId xmlns:a16="http://schemas.microsoft.com/office/drawing/2014/main" id="{AB3F50FE-45B8-405E-B087-DBCCF254E859}"/>
              </a:ext>
            </a:extLst>
          </p:cNvPr>
          <p:cNvSpPr>
            <a:spLocks xmlns:a="http://schemas.openxmlformats.org/drawingml/2006/main" noGrp="1"/>
          </p:cNvSpPr>
          <p:nvPr/>
        </p:nvSpPr>
        <p:spPr>
          <a:xfrm xmlns:a="http://schemas.openxmlformats.org/drawingml/2006/main">
            <a:off x="7239000" y="4524375"/>
            <a:ext cx="3790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FFFFFF"/>
                </a:solidFill>
              </a:defRPr>
            </a:pPr>
            <a:r>
              <a:rPr sz="1350" b="1" i="0">
                <a:solidFill>
                  <a:srgbClr val="FFFFFF"/>
                </a:solidFill>
              </a:rPr>
              <a:t>Bring in staff when human help is needed</a:t>
            </a:r>
          </a:p>
        </p:txBody>
      </p:sp>
      <p:sp>
        <p:nvSpPr>
          <p:cNvPr id="22" name="">
            <a:extLst xmlns:a="http://schemas.openxmlformats.org/drawingml/2006/main">
              <a:ext uri="{FF2B5EF4-FFF2-40B4-BE49-F238E27FC236}">
                <a16:creationId xmlns:a16="http://schemas.microsoft.com/office/drawing/2014/main" id="{CEAE5CBC-C3CE-48DD-9497-9CD0E3FEE9CD}"/>
              </a:ext>
            </a:extLst>
          </p:cNvPr>
          <p:cNvSpPr>
            <a:spLocks xmlns:a="http://schemas.openxmlformats.org/drawingml/2006/main" noGrp="1"/>
          </p:cNvSpPr>
          <p:nvPr/>
        </p:nvSpPr>
        <p:spPr>
          <a:xfrm xmlns:a="http://schemas.openxmlformats.org/drawingml/2006/main">
            <a:off x="704850" y="5657850"/>
            <a:ext cx="10801350" cy="19050"/>
          </a:xfrm>
          <a:prstGeom xmlns:a="http://schemas.openxmlformats.org/drawingml/2006/main" prst="rect">
            <a:avLst/>
          </a:prstGeom>
          <a:solidFill xmlns:a="http://schemas.openxmlformats.org/drawingml/2006/main">
            <a:srgbClr val="0B0B0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189B996-2FE4-48B5-9755-882E8CB2CCE3}"/>
              </a:ext>
            </a:extLst>
          </p:cNvPr>
          <p:cNvSpPr>
            <a:spLocks xmlns:a="http://schemas.openxmlformats.org/drawingml/2006/main" noGrp="1"/>
          </p:cNvSpPr>
          <p:nvPr/>
        </p:nvSpPr>
        <p:spPr>
          <a:xfrm xmlns:a="http://schemas.openxmlformats.org/drawingml/2006/main">
            <a:off x="704850" y="5867400"/>
            <a:ext cx="10801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i="0">
                <a:solidFill>
                  <a:srgbClr val="0B0B0D"/>
                </a:solidFill>
              </a:defRPr>
            </a:pPr>
            <a:r>
              <a:rPr sz="1950" b="1" i="0">
                <a:solidFill>
                  <a:srgbClr val="0B0B0D"/>
                </a:solidFill>
              </a:rPr>
              <a:t>One conversation. One channel. One completed order.</a:t>
            </a:r>
          </a:p>
        </p:txBody>
      </p:sp>
      <p:sp>
        <p:nvSpPr>
          <p:cNvPr id="24" name="">
            <a:extLst xmlns:a="http://schemas.openxmlformats.org/drawingml/2006/main">
              <a:ext uri="{FF2B5EF4-FFF2-40B4-BE49-F238E27FC236}">
                <a16:creationId xmlns:a16="http://schemas.microsoft.com/office/drawing/2014/main" id="{7751AB99-F28F-4C76-B12A-B3B29B7681DC}"/>
              </a:ext>
            </a:extLst>
          </p:cNvPr>
          <p:cNvSpPr>
            <a:spLocks xmlns:a="http://schemas.openxmlformats.org/drawingml/2006/main" noGrp="1"/>
          </p:cNvSpPr>
          <p:nvPr/>
        </p:nvSpPr>
        <p:spPr>
          <a:xfrm xmlns:a="http://schemas.openxmlformats.org/drawingml/2006/main">
            <a:off x="685800" y="6457950"/>
            <a:ext cx="590550" cy="47625"/>
          </a:xfrm>
          <a:prstGeom xmlns:a="http://schemas.openxmlformats.org/drawingml/2006/main" prst="rect">
            <a:avLst/>
          </a:prstGeom>
          <a:solidFill xmlns:a="http://schemas.openxmlformats.org/drawingml/2006/main">
            <a:srgbClr val="E4002B"/>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7A71588D-9519-4701-B8CA-1809E16A945A}"/>
              </a:ext>
            </a:extLst>
          </p:cNvPr>
          <p:cNvSpPr>
            <a:spLocks xmlns:a="http://schemas.openxmlformats.org/drawingml/2006/main" noGrp="1"/>
          </p:cNvSpPr>
          <p:nvPr/>
        </p:nvSpPr>
        <p:spPr>
          <a:xfrm xmlns:a="http://schemas.openxmlformats.org/drawingml/2006/main">
            <a:off x="1466850" y="6381750"/>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6F6A63"/>
                </a:solidFill>
              </a:defRPr>
            </a:pPr>
            <a:r>
              <a:rPr sz="825" b="1" i="0">
                <a:solidFill>
                  <a:srgbClr val="6F6A63"/>
                </a:solidFill>
              </a:rPr>
              <a:t>TEAM BRAISE  /  KFC COMMERCE AGENT</a:t>
            </a:r>
          </a:p>
        </p:txBody>
      </p:sp>
    </p:spTree>
    <p:extLst>
      <p:ext uri="{BB962C8B-B14F-4D97-AF65-F5344CB8AC3E}">
        <p14:creationId xmlns:p14="http://schemas.microsoft.com/office/powerpoint/2010/main" val="1693062709"/>
      </p:ext>
    </p:extLst>
  </p:cSld>
</p:sld>
</file>

<file path=ppt/slides/slide3.xml><?xml version="1.0" encoding="utf-8"?>
<p:sld xmlns:p="http://schemas.openxmlformats.org/presentationml/2006/main">
  <p:cSld>
    <p:bg>
      <p:bgPr>
        <a:solidFill xmlns:a="http://schemas.openxmlformats.org/drawingml/2006/main">
          <a:srgbClr val="0B0B0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E859C05-7AC9-4ADB-B089-7C8708ABC85D}"/>
              </a:ext>
            </a:extLst>
          </p:cNvPr>
          <p:cNvSpPr>
            <a:spLocks xmlns:a="http://schemas.openxmlformats.org/drawingml/2006/main" noGrp="1"/>
          </p:cNvSpPr>
          <p:nvPr/>
        </p:nvSpPr>
        <p:spPr>
          <a:xfrm xmlns:a="http://schemas.openxmlformats.org/drawingml/2006/main">
            <a:off x="685800" y="495300"/>
            <a:ext cx="428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E4002B"/>
                </a:solidFill>
              </a:defRPr>
            </a:pPr>
            <a:r>
              <a:rPr sz="1125" b="1" i="0">
                <a:solidFill>
                  <a:srgbClr val="E4002B"/>
                </a:solidFill>
              </a:rPr>
              <a:t>03  /  THE AGENT AT WORK</a:t>
            </a:r>
          </a:p>
        </p:txBody>
      </p:sp>
      <p:sp>
        <p:nvSpPr>
          <p:cNvPr id="2" name="">
            <a:extLst xmlns:a="http://schemas.openxmlformats.org/drawingml/2006/main">
              <a:ext uri="{FF2B5EF4-FFF2-40B4-BE49-F238E27FC236}">
                <a16:creationId xmlns:a16="http://schemas.microsoft.com/office/drawing/2014/main" id="{B790D418-929F-47EB-AB0A-7989AA575D4B}"/>
              </a:ext>
            </a:extLst>
          </p:cNvPr>
          <p:cNvSpPr>
            <a:spLocks xmlns:a="http://schemas.openxmlformats.org/drawingml/2006/main" noGrp="1"/>
          </p:cNvSpPr>
          <p:nvPr/>
        </p:nvSpPr>
        <p:spPr>
          <a:xfrm xmlns:a="http://schemas.openxmlformats.org/drawingml/2006/main">
            <a:off x="11087100" y="4953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i="0">
                <a:solidFill>
                  <a:srgbClr val="FFFFFF"/>
                </a:solidFill>
              </a:defRPr>
            </a:pPr>
            <a:r>
              <a:rPr sz="975" b="1" i="0">
                <a:solidFill>
                  <a:srgbClr val="FFFFFF"/>
                </a:solidFill>
              </a:rPr>
              <a:t>03</a:t>
            </a:r>
          </a:p>
        </p:txBody>
      </p:sp>
      <p:sp>
        <p:nvSpPr>
          <p:cNvPr id="3" name="">
            <a:extLst xmlns:a="http://schemas.openxmlformats.org/drawingml/2006/main">
              <a:ext uri="{FF2B5EF4-FFF2-40B4-BE49-F238E27FC236}">
                <a16:creationId xmlns:a16="http://schemas.microsoft.com/office/drawing/2014/main" id="{2CD38C32-5AFC-4E84-B321-D6633E9BC2DB}"/>
              </a:ext>
            </a:extLst>
          </p:cNvPr>
          <p:cNvSpPr>
            <a:spLocks xmlns:a="http://schemas.openxmlformats.org/drawingml/2006/main" noGrp="1"/>
          </p:cNvSpPr>
          <p:nvPr/>
        </p:nvSpPr>
        <p:spPr>
          <a:xfrm xmlns:a="http://schemas.openxmlformats.org/drawingml/2006/main">
            <a:off x="685800" y="952500"/>
            <a:ext cx="5905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i="0">
                <a:solidFill>
                  <a:srgbClr val="FFFFFF"/>
                </a:solidFill>
              </a:defRPr>
            </a:pPr>
            <a:r>
              <a:rPr sz="3450" b="1" i="0">
                <a:solidFill>
                  <a:srgbClr val="FFFFFF"/>
                </a:solidFill>
              </a:rPr>
              <a:t>Our agent runs a guarded</a:t>
            </a:r>
          </a:p>
          <a:p xmlns:a="http://schemas.openxmlformats.org/drawingml/2006/main">
            <a:pPr algn="l">
              <a:defRPr sz="3450" b="1" i="0">
                <a:solidFill>
                  <a:srgbClr val="FFFFFF"/>
                </a:solidFill>
              </a:defRPr>
            </a:pPr>
            <a:r>
              <a:rPr sz="3450" b="1" i="0">
                <a:solidFill>
                  <a:srgbClr val="FFFFFF"/>
                </a:solidFill>
              </a:rPr>
              <a:t>commerce loop.</a:t>
            </a:r>
          </a:p>
        </p:txBody>
      </p:sp>
      <p:sp>
        <p:nvSpPr>
          <p:cNvPr id="4" name="">
            <a:extLst xmlns:a="http://schemas.openxmlformats.org/drawingml/2006/main">
              <a:ext uri="{FF2B5EF4-FFF2-40B4-BE49-F238E27FC236}">
                <a16:creationId xmlns:a16="http://schemas.microsoft.com/office/drawing/2014/main" id="{40C3604E-CAE7-4EEE-9239-18DE236C0121}"/>
              </a:ext>
            </a:extLst>
          </p:cNvPr>
          <p:cNvSpPr>
            <a:spLocks xmlns:a="http://schemas.openxmlformats.org/drawingml/2006/main" noGrp="1"/>
          </p:cNvSpPr>
          <p:nvPr/>
        </p:nvSpPr>
        <p:spPr>
          <a:xfrm xmlns:a="http://schemas.openxmlformats.org/drawingml/2006/main">
            <a:off x="6705600" y="1162050"/>
            <a:ext cx="4610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B8B2A8"/>
                </a:solidFill>
              </a:defRPr>
            </a:pPr>
            <a:r>
              <a:rPr sz="1350" b="1" i="0">
                <a:solidFill>
                  <a:srgbClr val="B8B2A8"/>
                </a:solidFill>
              </a:rPr>
              <a:t>One agent keeps planning until the order is verified, clarified, or handed off.</a:t>
            </a:r>
          </a:p>
        </p:txBody>
      </p:sp>
      <p:sp>
        <p:nvSpPr>
          <p:cNvPr id="5" name="">
            <a:extLst xmlns:a="http://schemas.openxmlformats.org/drawingml/2006/main">
              <a:ext uri="{FF2B5EF4-FFF2-40B4-BE49-F238E27FC236}">
                <a16:creationId xmlns:a16="http://schemas.microsoft.com/office/drawing/2014/main" id="{8062B61B-71A2-4DA2-A23B-35494C0751CE}"/>
              </a:ext>
            </a:extLst>
          </p:cNvPr>
          <p:cNvSpPr>
            <a:spLocks xmlns:a="http://schemas.openxmlformats.org/drawingml/2006/main" noGrp="1"/>
          </p:cNvSpPr>
          <p:nvPr/>
        </p:nvSpPr>
        <p:spPr>
          <a:xfrm xmlns:a="http://schemas.openxmlformats.org/drawingml/2006/main">
            <a:off x="704850" y="2400300"/>
            <a:ext cx="3219450" cy="990600"/>
          </a:xfrm>
          <a:prstGeom xmlns:a="http://schemas.openxmlformats.org/drawingml/2006/main" prst="roundRect">
            <a:avLst>
              <a:gd name="adj" fmla="val 11538"/>
            </a:avLst>
          </a:prstGeom>
          <a:solidFill xmlns:a="http://schemas.openxmlformats.org/drawingml/2006/main">
            <a:srgbClr val="27272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8F78743-05FF-4352-BB84-B32DAACB8EC3}"/>
              </a:ext>
            </a:extLst>
          </p:cNvPr>
          <p:cNvSpPr>
            <a:spLocks xmlns:a="http://schemas.openxmlformats.org/drawingml/2006/main" noGrp="1"/>
          </p:cNvSpPr>
          <p:nvPr/>
        </p:nvSpPr>
        <p:spPr>
          <a:xfrm xmlns:a="http://schemas.openxmlformats.org/drawingml/2006/main">
            <a:off x="895350" y="25717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E4002B"/>
                </a:solidFill>
              </a:defRPr>
            </a:pPr>
            <a:r>
              <a:rPr sz="975" b="1" i="0">
                <a:solidFill>
                  <a:srgbClr val="E4002B"/>
                </a:solidFill>
              </a:rPr>
              <a:t>01</a:t>
            </a:r>
          </a:p>
        </p:txBody>
      </p:sp>
      <p:sp>
        <p:nvSpPr>
          <p:cNvPr id="7" name="">
            <a:extLst xmlns:a="http://schemas.openxmlformats.org/drawingml/2006/main">
              <a:ext uri="{FF2B5EF4-FFF2-40B4-BE49-F238E27FC236}">
                <a16:creationId xmlns:a16="http://schemas.microsoft.com/office/drawing/2014/main" id="{2E238AAD-0D06-41DF-A20C-F4E1207A294E}"/>
              </a:ext>
            </a:extLst>
          </p:cNvPr>
          <p:cNvSpPr>
            <a:spLocks xmlns:a="http://schemas.openxmlformats.org/drawingml/2006/main" noGrp="1"/>
          </p:cNvSpPr>
          <p:nvPr/>
        </p:nvSpPr>
        <p:spPr>
          <a:xfrm xmlns:a="http://schemas.openxmlformats.org/drawingml/2006/main">
            <a:off x="1314450" y="2543175"/>
            <a:ext cx="2400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FFFFFF"/>
                </a:solidFill>
              </a:defRPr>
            </a:pPr>
            <a:r>
              <a:rPr sz="1275" b="1" i="0">
                <a:solidFill>
                  <a:srgbClr val="FFFFFF"/>
                </a:solidFill>
              </a:rPr>
              <a:t>CONTEXT / GOAL</a:t>
            </a:r>
          </a:p>
        </p:txBody>
      </p:sp>
      <p:sp>
        <p:nvSpPr>
          <p:cNvPr id="8" name="">
            <a:extLst xmlns:a="http://schemas.openxmlformats.org/drawingml/2006/main">
              <a:ext uri="{FF2B5EF4-FFF2-40B4-BE49-F238E27FC236}">
                <a16:creationId xmlns:a16="http://schemas.microsoft.com/office/drawing/2014/main" id="{7A724799-763E-49CA-9EDD-F1513A7F8113}"/>
              </a:ext>
            </a:extLst>
          </p:cNvPr>
          <p:cNvSpPr>
            <a:spLocks xmlns:a="http://schemas.openxmlformats.org/drawingml/2006/main" noGrp="1"/>
          </p:cNvSpPr>
          <p:nvPr/>
        </p:nvSpPr>
        <p:spPr>
          <a:xfrm xmlns:a="http://schemas.openxmlformats.org/drawingml/2006/main">
            <a:off x="895350" y="292417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B8B2A8"/>
                </a:solidFill>
              </a:defRPr>
            </a:pPr>
            <a:r>
              <a:rPr sz="1125" b="1" i="0">
                <a:solidFill>
                  <a:srgbClr val="B8B2A8"/>
                </a:solidFill>
              </a:rPr>
              <a:t>Message + recent turns + verified state</a:t>
            </a:r>
          </a:p>
        </p:txBody>
      </p:sp>
      <p:sp>
        <p:nvSpPr>
          <p:cNvPr id="9" name="">
            <a:extLst xmlns:a="http://schemas.openxmlformats.org/drawingml/2006/main">
              <a:ext uri="{FF2B5EF4-FFF2-40B4-BE49-F238E27FC236}">
                <a16:creationId xmlns:a16="http://schemas.microsoft.com/office/drawing/2014/main" id="{9E6EB6D6-AC28-4845-B690-690D2DB727C3}"/>
              </a:ext>
            </a:extLst>
          </p:cNvPr>
          <p:cNvSpPr>
            <a:spLocks xmlns:a="http://schemas.openxmlformats.org/drawingml/2006/main" noGrp="1"/>
          </p:cNvSpPr>
          <p:nvPr/>
        </p:nvSpPr>
        <p:spPr>
          <a:xfrm xmlns:a="http://schemas.openxmlformats.org/drawingml/2006/main">
            <a:off x="3943350" y="276225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i="0">
                <a:solidFill>
                  <a:srgbClr val="E4002B"/>
                </a:solidFill>
              </a:defRPr>
            </a:pPr>
            <a:r>
              <a:rPr sz="1650" b="1" i="0">
                <a:solidFill>
                  <a:srgbClr val="E4002B"/>
                </a:solidFill>
              </a:rPr>
              <a:t>→</a:t>
            </a:r>
          </a:p>
        </p:txBody>
      </p:sp>
      <p:sp>
        <p:nvSpPr>
          <p:cNvPr id="10" name="">
            <a:extLst xmlns:a="http://schemas.openxmlformats.org/drawingml/2006/main">
              <a:ext uri="{FF2B5EF4-FFF2-40B4-BE49-F238E27FC236}">
                <a16:creationId xmlns:a16="http://schemas.microsoft.com/office/drawing/2014/main" id="{FEE8BDB0-8175-4489-BE8D-C5D0AEF2F910}"/>
              </a:ext>
            </a:extLst>
          </p:cNvPr>
          <p:cNvSpPr>
            <a:spLocks xmlns:a="http://schemas.openxmlformats.org/drawingml/2006/main" noGrp="1"/>
          </p:cNvSpPr>
          <p:nvPr/>
        </p:nvSpPr>
        <p:spPr>
          <a:xfrm xmlns:a="http://schemas.openxmlformats.org/drawingml/2006/main">
            <a:off x="4305300" y="2400300"/>
            <a:ext cx="3219450" cy="990600"/>
          </a:xfrm>
          <a:prstGeom xmlns:a="http://schemas.openxmlformats.org/drawingml/2006/main" prst="roundRect">
            <a:avLst>
              <a:gd name="adj" fmla="val 11538"/>
            </a:avLst>
          </a:prstGeom>
          <a:solidFill xmlns:a="http://schemas.openxmlformats.org/drawingml/2006/main">
            <a:srgbClr val="27272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4B25BE7-02A1-40BC-A54D-9B751E7F8F55}"/>
              </a:ext>
            </a:extLst>
          </p:cNvPr>
          <p:cNvSpPr>
            <a:spLocks xmlns:a="http://schemas.openxmlformats.org/drawingml/2006/main" noGrp="1"/>
          </p:cNvSpPr>
          <p:nvPr/>
        </p:nvSpPr>
        <p:spPr>
          <a:xfrm xmlns:a="http://schemas.openxmlformats.org/drawingml/2006/main">
            <a:off x="4495800" y="25717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E4002B"/>
                </a:solidFill>
              </a:defRPr>
            </a:pPr>
            <a:r>
              <a:rPr sz="975" b="1" i="0">
                <a:solidFill>
                  <a:srgbClr val="E4002B"/>
                </a:solidFill>
              </a:rPr>
              <a:t>02</a:t>
            </a:r>
          </a:p>
        </p:txBody>
      </p:sp>
      <p:sp>
        <p:nvSpPr>
          <p:cNvPr id="12" name="">
            <a:extLst xmlns:a="http://schemas.openxmlformats.org/drawingml/2006/main">
              <a:ext uri="{FF2B5EF4-FFF2-40B4-BE49-F238E27FC236}">
                <a16:creationId xmlns:a16="http://schemas.microsoft.com/office/drawing/2014/main" id="{A4EC1906-ED2E-4CF2-AF5B-028022C5AD79}"/>
              </a:ext>
            </a:extLst>
          </p:cNvPr>
          <p:cNvSpPr>
            <a:spLocks xmlns:a="http://schemas.openxmlformats.org/drawingml/2006/main" noGrp="1"/>
          </p:cNvSpPr>
          <p:nvPr/>
        </p:nvSpPr>
        <p:spPr>
          <a:xfrm xmlns:a="http://schemas.openxmlformats.org/drawingml/2006/main">
            <a:off x="4914900" y="2543175"/>
            <a:ext cx="2400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FFFFFF"/>
                </a:solidFill>
              </a:defRPr>
            </a:pPr>
            <a:r>
              <a:rPr sz="1275" b="1" i="0">
                <a:solidFill>
                  <a:srgbClr val="FFFFFF"/>
                </a:solidFill>
              </a:rPr>
              <a:t>PLAN</a:t>
            </a:r>
          </a:p>
        </p:txBody>
      </p:sp>
      <p:sp>
        <p:nvSpPr>
          <p:cNvPr id="13" name="">
            <a:extLst xmlns:a="http://schemas.openxmlformats.org/drawingml/2006/main">
              <a:ext uri="{FF2B5EF4-FFF2-40B4-BE49-F238E27FC236}">
                <a16:creationId xmlns:a16="http://schemas.microsoft.com/office/drawing/2014/main" id="{365BFEDB-B618-4DFB-B8F2-298A77C60D95}"/>
              </a:ext>
            </a:extLst>
          </p:cNvPr>
          <p:cNvSpPr>
            <a:spLocks xmlns:a="http://schemas.openxmlformats.org/drawingml/2006/main" noGrp="1"/>
          </p:cNvSpPr>
          <p:nvPr/>
        </p:nvSpPr>
        <p:spPr>
          <a:xfrm xmlns:a="http://schemas.openxmlformats.org/drawingml/2006/main">
            <a:off x="4495800" y="292417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B8B2A8"/>
                </a:solidFill>
              </a:defRPr>
            </a:pPr>
            <a:r>
              <a:rPr sz="1125" b="1" i="0">
                <a:solidFill>
                  <a:srgbClr val="B8B2A8"/>
                </a:solidFill>
              </a:rPr>
              <a:t>Intent + entities + next actions</a:t>
            </a:r>
          </a:p>
        </p:txBody>
      </p:sp>
      <p:sp>
        <p:nvSpPr>
          <p:cNvPr id="14" name="">
            <a:extLst xmlns:a="http://schemas.openxmlformats.org/drawingml/2006/main">
              <a:ext uri="{FF2B5EF4-FFF2-40B4-BE49-F238E27FC236}">
                <a16:creationId xmlns:a16="http://schemas.microsoft.com/office/drawing/2014/main" id="{EF18298E-9496-403A-9682-C71848BE6FAC}"/>
              </a:ext>
            </a:extLst>
          </p:cNvPr>
          <p:cNvSpPr>
            <a:spLocks xmlns:a="http://schemas.openxmlformats.org/drawingml/2006/main" noGrp="1"/>
          </p:cNvSpPr>
          <p:nvPr/>
        </p:nvSpPr>
        <p:spPr>
          <a:xfrm xmlns:a="http://schemas.openxmlformats.org/drawingml/2006/main">
            <a:off x="7543800" y="276225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i="0">
                <a:solidFill>
                  <a:srgbClr val="E4002B"/>
                </a:solidFill>
              </a:defRPr>
            </a:pPr>
            <a:r>
              <a:rPr sz="1650" b="1" i="0">
                <a:solidFill>
                  <a:srgbClr val="E4002B"/>
                </a:solidFill>
              </a:rPr>
              <a:t>→</a:t>
            </a:r>
          </a:p>
        </p:txBody>
      </p:sp>
      <p:sp>
        <p:nvSpPr>
          <p:cNvPr id="15" name="">
            <a:extLst xmlns:a="http://schemas.openxmlformats.org/drawingml/2006/main">
              <a:ext uri="{FF2B5EF4-FFF2-40B4-BE49-F238E27FC236}">
                <a16:creationId xmlns:a16="http://schemas.microsoft.com/office/drawing/2014/main" id="{468A093C-198D-45BD-A2BC-09CA9FEF3F68}"/>
              </a:ext>
            </a:extLst>
          </p:cNvPr>
          <p:cNvSpPr>
            <a:spLocks xmlns:a="http://schemas.openxmlformats.org/drawingml/2006/main" noGrp="1"/>
          </p:cNvSpPr>
          <p:nvPr/>
        </p:nvSpPr>
        <p:spPr>
          <a:xfrm xmlns:a="http://schemas.openxmlformats.org/drawingml/2006/main">
            <a:off x="7905750" y="2400300"/>
            <a:ext cx="3219450" cy="990600"/>
          </a:xfrm>
          <a:prstGeom xmlns:a="http://schemas.openxmlformats.org/drawingml/2006/main" prst="roundRect">
            <a:avLst>
              <a:gd name="adj" fmla="val 11538"/>
            </a:avLst>
          </a:prstGeom>
          <a:solidFill xmlns:a="http://schemas.openxmlformats.org/drawingml/2006/main">
            <a:srgbClr val="27272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7239D65-F924-45D8-8D50-4070F1051255}"/>
              </a:ext>
            </a:extLst>
          </p:cNvPr>
          <p:cNvSpPr>
            <a:spLocks xmlns:a="http://schemas.openxmlformats.org/drawingml/2006/main" noGrp="1"/>
          </p:cNvSpPr>
          <p:nvPr/>
        </p:nvSpPr>
        <p:spPr>
          <a:xfrm xmlns:a="http://schemas.openxmlformats.org/drawingml/2006/main">
            <a:off x="8096250" y="25717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E4002B"/>
                </a:solidFill>
              </a:defRPr>
            </a:pPr>
            <a:r>
              <a:rPr sz="975" b="1" i="0">
                <a:solidFill>
                  <a:srgbClr val="E4002B"/>
                </a:solidFill>
              </a:rPr>
              <a:t>03</a:t>
            </a:r>
          </a:p>
        </p:txBody>
      </p:sp>
      <p:sp>
        <p:nvSpPr>
          <p:cNvPr id="17" name="">
            <a:extLst xmlns:a="http://schemas.openxmlformats.org/drawingml/2006/main">
              <a:ext uri="{FF2B5EF4-FFF2-40B4-BE49-F238E27FC236}">
                <a16:creationId xmlns:a16="http://schemas.microsoft.com/office/drawing/2014/main" id="{0DFFB48D-27F8-4F75-BC13-5E058722BB54}"/>
              </a:ext>
            </a:extLst>
          </p:cNvPr>
          <p:cNvSpPr>
            <a:spLocks xmlns:a="http://schemas.openxmlformats.org/drawingml/2006/main" noGrp="1"/>
          </p:cNvSpPr>
          <p:nvPr/>
        </p:nvSpPr>
        <p:spPr>
          <a:xfrm xmlns:a="http://schemas.openxmlformats.org/drawingml/2006/main">
            <a:off x="8515350" y="2543175"/>
            <a:ext cx="2400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FFFFFF"/>
                </a:solidFill>
              </a:defRPr>
            </a:pPr>
            <a:r>
              <a:rPr sz="1275" b="1" i="0">
                <a:solidFill>
                  <a:srgbClr val="FFFFFF"/>
                </a:solidFill>
              </a:rPr>
              <a:t>SELECT TOOLS</a:t>
            </a:r>
          </a:p>
        </p:txBody>
      </p:sp>
      <p:sp>
        <p:nvSpPr>
          <p:cNvPr id="18" name="">
            <a:extLst xmlns:a="http://schemas.openxmlformats.org/drawingml/2006/main">
              <a:ext uri="{FF2B5EF4-FFF2-40B4-BE49-F238E27FC236}">
                <a16:creationId xmlns:a16="http://schemas.microsoft.com/office/drawing/2014/main" id="{1D40CF0F-6606-44B2-86E6-E9D79C4066C6}"/>
              </a:ext>
            </a:extLst>
          </p:cNvPr>
          <p:cNvSpPr>
            <a:spLocks xmlns:a="http://schemas.openxmlformats.org/drawingml/2006/main" noGrp="1"/>
          </p:cNvSpPr>
          <p:nvPr/>
        </p:nvSpPr>
        <p:spPr>
          <a:xfrm xmlns:a="http://schemas.openxmlformats.org/drawingml/2006/main">
            <a:off x="8096250" y="292417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B8B2A8"/>
                </a:solidFill>
              </a:defRPr>
            </a:pPr>
            <a:r>
              <a:rPr sz="1125" b="1" i="0">
                <a:solidFill>
                  <a:srgbClr val="B8B2A8"/>
                </a:solidFill>
              </a:rPr>
              <a:t>Bounded commerce operations</a:t>
            </a:r>
          </a:p>
        </p:txBody>
      </p:sp>
      <p:sp>
        <p:nvSpPr>
          <p:cNvPr id="19" name="">
            <a:extLst xmlns:a="http://schemas.openxmlformats.org/drawingml/2006/main">
              <a:ext uri="{FF2B5EF4-FFF2-40B4-BE49-F238E27FC236}">
                <a16:creationId xmlns:a16="http://schemas.microsoft.com/office/drawing/2014/main" id="{E72CD1E5-A9D7-4E3C-84ED-3F6E830CCC0E}"/>
              </a:ext>
            </a:extLst>
          </p:cNvPr>
          <p:cNvSpPr>
            <a:spLocks xmlns:a="http://schemas.openxmlformats.org/drawingml/2006/main" noGrp="1"/>
          </p:cNvSpPr>
          <p:nvPr/>
        </p:nvSpPr>
        <p:spPr>
          <a:xfrm xmlns:a="http://schemas.openxmlformats.org/drawingml/2006/main">
            <a:off x="704850" y="3771900"/>
            <a:ext cx="3219450" cy="990600"/>
          </a:xfrm>
          <a:prstGeom xmlns:a="http://schemas.openxmlformats.org/drawingml/2006/main" prst="roundRect">
            <a:avLst>
              <a:gd name="adj" fmla="val 11538"/>
            </a:avLst>
          </a:prstGeom>
          <a:solidFill xmlns:a="http://schemas.openxmlformats.org/drawingml/2006/main">
            <a:srgbClr val="27272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9CD3BFB-27D1-42C9-9169-AEC4E5D48CB8}"/>
              </a:ext>
            </a:extLst>
          </p:cNvPr>
          <p:cNvSpPr>
            <a:spLocks xmlns:a="http://schemas.openxmlformats.org/drawingml/2006/main" noGrp="1"/>
          </p:cNvSpPr>
          <p:nvPr/>
        </p:nvSpPr>
        <p:spPr>
          <a:xfrm xmlns:a="http://schemas.openxmlformats.org/drawingml/2006/main">
            <a:off x="895350" y="39433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E4002B"/>
                </a:solidFill>
              </a:defRPr>
            </a:pPr>
            <a:r>
              <a:rPr sz="975" b="1" i="0">
                <a:solidFill>
                  <a:srgbClr val="E4002B"/>
                </a:solidFill>
              </a:rPr>
              <a:t>04</a:t>
            </a:r>
          </a:p>
        </p:txBody>
      </p:sp>
      <p:sp>
        <p:nvSpPr>
          <p:cNvPr id="21" name="">
            <a:extLst xmlns:a="http://schemas.openxmlformats.org/drawingml/2006/main">
              <a:ext uri="{FF2B5EF4-FFF2-40B4-BE49-F238E27FC236}">
                <a16:creationId xmlns:a16="http://schemas.microsoft.com/office/drawing/2014/main" id="{E32AC4AD-818E-4F0C-B385-BB6F7CB478B9}"/>
              </a:ext>
            </a:extLst>
          </p:cNvPr>
          <p:cNvSpPr>
            <a:spLocks xmlns:a="http://schemas.openxmlformats.org/drawingml/2006/main" noGrp="1"/>
          </p:cNvSpPr>
          <p:nvPr/>
        </p:nvSpPr>
        <p:spPr>
          <a:xfrm xmlns:a="http://schemas.openxmlformats.org/drawingml/2006/main">
            <a:off x="1314450" y="3914775"/>
            <a:ext cx="2400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FFFFFF"/>
                </a:solidFill>
              </a:defRPr>
            </a:pPr>
            <a:r>
              <a:rPr sz="1275" b="1" i="0">
                <a:solidFill>
                  <a:srgbClr val="FFFFFF"/>
                </a:solidFill>
              </a:rPr>
              <a:t>GUARD</a:t>
            </a:r>
          </a:p>
        </p:txBody>
      </p:sp>
      <p:sp>
        <p:nvSpPr>
          <p:cNvPr id="22" name="">
            <a:extLst xmlns:a="http://schemas.openxmlformats.org/drawingml/2006/main">
              <a:ext uri="{FF2B5EF4-FFF2-40B4-BE49-F238E27FC236}">
                <a16:creationId xmlns:a16="http://schemas.microsoft.com/office/drawing/2014/main" id="{A224C6CA-AD16-4E9B-969F-06E5CB8F8187}"/>
              </a:ext>
            </a:extLst>
          </p:cNvPr>
          <p:cNvSpPr>
            <a:spLocks xmlns:a="http://schemas.openxmlformats.org/drawingml/2006/main" noGrp="1"/>
          </p:cNvSpPr>
          <p:nvPr/>
        </p:nvSpPr>
        <p:spPr>
          <a:xfrm xmlns:a="http://schemas.openxmlformats.org/drawingml/2006/main">
            <a:off x="895350" y="429577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B8B2A8"/>
                </a:solidFill>
              </a:defRPr>
            </a:pPr>
            <a:r>
              <a:rPr sz="1125" b="1" i="0">
                <a:solidFill>
                  <a:srgbClr val="B8B2A8"/>
                </a:solidFill>
              </a:rPr>
              <a:t>Items + fulfillment + approval + evidence</a:t>
            </a:r>
          </a:p>
        </p:txBody>
      </p:sp>
      <p:sp>
        <p:nvSpPr>
          <p:cNvPr id="23" name="">
            <a:extLst xmlns:a="http://schemas.openxmlformats.org/drawingml/2006/main">
              <a:ext uri="{FF2B5EF4-FFF2-40B4-BE49-F238E27FC236}">
                <a16:creationId xmlns:a16="http://schemas.microsoft.com/office/drawing/2014/main" id="{2F67BB71-62C5-4E64-B146-4493DB8C2BDD}"/>
              </a:ext>
            </a:extLst>
          </p:cNvPr>
          <p:cNvSpPr>
            <a:spLocks xmlns:a="http://schemas.openxmlformats.org/drawingml/2006/main" noGrp="1"/>
          </p:cNvSpPr>
          <p:nvPr/>
        </p:nvSpPr>
        <p:spPr>
          <a:xfrm xmlns:a="http://schemas.openxmlformats.org/drawingml/2006/main">
            <a:off x="3943350" y="413385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i="0">
                <a:solidFill>
                  <a:srgbClr val="E4002B"/>
                </a:solidFill>
              </a:defRPr>
            </a:pPr>
            <a:r>
              <a:rPr sz="1650" b="1" i="0">
                <a:solidFill>
                  <a:srgbClr val="E4002B"/>
                </a:solidFill>
              </a:rPr>
              <a:t>→</a:t>
            </a:r>
          </a:p>
        </p:txBody>
      </p:sp>
      <p:sp>
        <p:nvSpPr>
          <p:cNvPr id="24" name="">
            <a:extLst xmlns:a="http://schemas.openxmlformats.org/drawingml/2006/main">
              <a:ext uri="{FF2B5EF4-FFF2-40B4-BE49-F238E27FC236}">
                <a16:creationId xmlns:a16="http://schemas.microsoft.com/office/drawing/2014/main" id="{F8D65EF5-EB63-4B29-81B9-E7AC6F38CA65}"/>
              </a:ext>
            </a:extLst>
          </p:cNvPr>
          <p:cNvSpPr>
            <a:spLocks xmlns:a="http://schemas.openxmlformats.org/drawingml/2006/main" noGrp="1"/>
          </p:cNvSpPr>
          <p:nvPr/>
        </p:nvSpPr>
        <p:spPr>
          <a:xfrm xmlns:a="http://schemas.openxmlformats.org/drawingml/2006/main">
            <a:off x="4305300" y="3771900"/>
            <a:ext cx="3219450" cy="990600"/>
          </a:xfrm>
          <a:prstGeom xmlns:a="http://schemas.openxmlformats.org/drawingml/2006/main" prst="roundRect">
            <a:avLst>
              <a:gd name="adj" fmla="val 11538"/>
            </a:avLst>
          </a:prstGeom>
          <a:solidFill xmlns:a="http://schemas.openxmlformats.org/drawingml/2006/main">
            <a:srgbClr val="E4002B"/>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4BED69F-C478-4D48-A902-6D708AB5A30A}"/>
              </a:ext>
            </a:extLst>
          </p:cNvPr>
          <p:cNvSpPr>
            <a:spLocks xmlns:a="http://schemas.openxmlformats.org/drawingml/2006/main" noGrp="1"/>
          </p:cNvSpPr>
          <p:nvPr/>
        </p:nvSpPr>
        <p:spPr>
          <a:xfrm xmlns:a="http://schemas.openxmlformats.org/drawingml/2006/main">
            <a:off x="4495800" y="39433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FFFFFF"/>
                </a:solidFill>
              </a:defRPr>
            </a:pPr>
            <a:r>
              <a:rPr sz="975" b="1" i="0">
                <a:solidFill>
                  <a:srgbClr val="FFFFFF"/>
                </a:solidFill>
              </a:rPr>
              <a:t>05</a:t>
            </a:r>
          </a:p>
        </p:txBody>
      </p:sp>
      <p:sp>
        <p:nvSpPr>
          <p:cNvPr id="26" name="">
            <a:extLst xmlns:a="http://schemas.openxmlformats.org/drawingml/2006/main">
              <a:ext uri="{FF2B5EF4-FFF2-40B4-BE49-F238E27FC236}">
                <a16:creationId xmlns:a16="http://schemas.microsoft.com/office/drawing/2014/main" id="{E14016A7-27BE-49A1-A818-49CC7CBB6005}"/>
              </a:ext>
            </a:extLst>
          </p:cNvPr>
          <p:cNvSpPr>
            <a:spLocks xmlns:a="http://schemas.openxmlformats.org/drawingml/2006/main" noGrp="1"/>
          </p:cNvSpPr>
          <p:nvPr/>
        </p:nvSpPr>
        <p:spPr>
          <a:xfrm xmlns:a="http://schemas.openxmlformats.org/drawingml/2006/main">
            <a:off x="4914900" y="3914775"/>
            <a:ext cx="2400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FFFFFF"/>
                </a:solidFill>
              </a:defRPr>
            </a:pPr>
            <a:r>
              <a:rPr sz="1275" b="1" i="0">
                <a:solidFill>
                  <a:srgbClr val="FFFFFF"/>
                </a:solidFill>
              </a:rPr>
              <a:t>ACT</a:t>
            </a:r>
          </a:p>
        </p:txBody>
      </p:sp>
      <p:sp>
        <p:nvSpPr>
          <p:cNvPr id="27" name="">
            <a:extLst xmlns:a="http://schemas.openxmlformats.org/drawingml/2006/main">
              <a:ext uri="{FF2B5EF4-FFF2-40B4-BE49-F238E27FC236}">
                <a16:creationId xmlns:a16="http://schemas.microsoft.com/office/drawing/2014/main" id="{5CC0DDD9-F62A-412B-A445-45A386E1EA17}"/>
              </a:ext>
            </a:extLst>
          </p:cNvPr>
          <p:cNvSpPr>
            <a:spLocks xmlns:a="http://schemas.openxmlformats.org/drawingml/2006/main" noGrp="1"/>
          </p:cNvSpPr>
          <p:nvPr/>
        </p:nvSpPr>
        <p:spPr>
          <a:xfrm xmlns:a="http://schemas.openxmlformats.org/drawingml/2006/main">
            <a:off x="4495800" y="429577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FFFFFF"/>
                </a:solidFill>
              </a:defRPr>
            </a:pPr>
            <a:r>
              <a:rPr sz="1125" b="1" i="0">
                <a:solidFill>
                  <a:srgbClr val="FFFFFF"/>
                </a:solidFill>
              </a:rPr>
              <a:t>Execute typed tool calls</a:t>
            </a:r>
          </a:p>
        </p:txBody>
      </p:sp>
      <p:sp>
        <p:nvSpPr>
          <p:cNvPr id="28" name="">
            <a:extLst xmlns:a="http://schemas.openxmlformats.org/drawingml/2006/main">
              <a:ext uri="{FF2B5EF4-FFF2-40B4-BE49-F238E27FC236}">
                <a16:creationId xmlns:a16="http://schemas.microsoft.com/office/drawing/2014/main" id="{E05AB860-4B64-49D6-946C-98378AAEB4E2}"/>
              </a:ext>
            </a:extLst>
          </p:cNvPr>
          <p:cNvSpPr>
            <a:spLocks xmlns:a="http://schemas.openxmlformats.org/drawingml/2006/main" noGrp="1"/>
          </p:cNvSpPr>
          <p:nvPr/>
        </p:nvSpPr>
        <p:spPr>
          <a:xfrm xmlns:a="http://schemas.openxmlformats.org/drawingml/2006/main">
            <a:off x="7543800" y="413385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i="0">
                <a:solidFill>
                  <a:srgbClr val="E4002B"/>
                </a:solidFill>
              </a:defRPr>
            </a:pPr>
            <a:r>
              <a:rPr sz="1650" b="1" i="0">
                <a:solidFill>
                  <a:srgbClr val="E4002B"/>
                </a:solidFill>
              </a:rPr>
              <a:t>→</a:t>
            </a:r>
          </a:p>
        </p:txBody>
      </p:sp>
      <p:sp>
        <p:nvSpPr>
          <p:cNvPr id="29" name="">
            <a:extLst xmlns:a="http://schemas.openxmlformats.org/drawingml/2006/main">
              <a:ext uri="{FF2B5EF4-FFF2-40B4-BE49-F238E27FC236}">
                <a16:creationId xmlns:a16="http://schemas.microsoft.com/office/drawing/2014/main" id="{BF57C736-079B-4A31-ABA8-AC9FD8C29B0A}"/>
              </a:ext>
            </a:extLst>
          </p:cNvPr>
          <p:cNvSpPr>
            <a:spLocks xmlns:a="http://schemas.openxmlformats.org/drawingml/2006/main" noGrp="1"/>
          </p:cNvSpPr>
          <p:nvPr/>
        </p:nvSpPr>
        <p:spPr>
          <a:xfrm xmlns:a="http://schemas.openxmlformats.org/drawingml/2006/main">
            <a:off x="7905750" y="3771900"/>
            <a:ext cx="3219450" cy="990600"/>
          </a:xfrm>
          <a:prstGeom xmlns:a="http://schemas.openxmlformats.org/drawingml/2006/main" prst="roundRect">
            <a:avLst>
              <a:gd name="adj" fmla="val 11538"/>
            </a:avLst>
          </a:prstGeom>
          <a:solidFill xmlns:a="http://schemas.openxmlformats.org/drawingml/2006/main">
            <a:srgbClr val="27272A"/>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F1422BE1-6F4D-4D90-95DA-4BAB11663FE0}"/>
              </a:ext>
            </a:extLst>
          </p:cNvPr>
          <p:cNvSpPr>
            <a:spLocks xmlns:a="http://schemas.openxmlformats.org/drawingml/2006/main" noGrp="1"/>
          </p:cNvSpPr>
          <p:nvPr/>
        </p:nvSpPr>
        <p:spPr>
          <a:xfrm xmlns:a="http://schemas.openxmlformats.org/drawingml/2006/main">
            <a:off x="8096250" y="39433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E4002B"/>
                </a:solidFill>
              </a:defRPr>
            </a:pPr>
            <a:r>
              <a:rPr sz="975" b="1" i="0">
                <a:solidFill>
                  <a:srgbClr val="E4002B"/>
                </a:solidFill>
              </a:rPr>
              <a:t>06</a:t>
            </a:r>
          </a:p>
        </p:txBody>
      </p:sp>
      <p:sp>
        <p:nvSpPr>
          <p:cNvPr id="31" name="">
            <a:extLst xmlns:a="http://schemas.openxmlformats.org/drawingml/2006/main">
              <a:ext uri="{FF2B5EF4-FFF2-40B4-BE49-F238E27FC236}">
                <a16:creationId xmlns:a16="http://schemas.microsoft.com/office/drawing/2014/main" id="{5402CC1E-287F-4DC2-BDCA-7221BFC8DFEC}"/>
              </a:ext>
            </a:extLst>
          </p:cNvPr>
          <p:cNvSpPr>
            <a:spLocks xmlns:a="http://schemas.openxmlformats.org/drawingml/2006/main" noGrp="1"/>
          </p:cNvSpPr>
          <p:nvPr/>
        </p:nvSpPr>
        <p:spPr>
          <a:xfrm xmlns:a="http://schemas.openxmlformats.org/drawingml/2006/main">
            <a:off x="8515350" y="3914775"/>
            <a:ext cx="2400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FFFFFF"/>
                </a:solidFill>
              </a:defRPr>
            </a:pPr>
            <a:r>
              <a:rPr sz="1275" b="1" i="0">
                <a:solidFill>
                  <a:srgbClr val="FFFFFF"/>
                </a:solidFill>
              </a:rPr>
              <a:t>VERIFY + ADAPT</a:t>
            </a:r>
          </a:p>
        </p:txBody>
      </p:sp>
      <p:sp>
        <p:nvSpPr>
          <p:cNvPr id="32" name="">
            <a:extLst xmlns:a="http://schemas.openxmlformats.org/drawingml/2006/main">
              <a:ext uri="{FF2B5EF4-FFF2-40B4-BE49-F238E27FC236}">
                <a16:creationId xmlns:a16="http://schemas.microsoft.com/office/drawing/2014/main" id="{6FE3AC10-B3F3-4BE2-83A7-E4D84D384023}"/>
              </a:ext>
            </a:extLst>
          </p:cNvPr>
          <p:cNvSpPr>
            <a:spLocks xmlns:a="http://schemas.openxmlformats.org/drawingml/2006/main" noGrp="1"/>
          </p:cNvSpPr>
          <p:nvPr/>
        </p:nvSpPr>
        <p:spPr>
          <a:xfrm xmlns:a="http://schemas.openxmlformats.org/drawingml/2006/main">
            <a:off x="8096250" y="429577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B8B2A8"/>
                </a:solidFill>
              </a:defRPr>
            </a:pPr>
            <a:r>
              <a:rPr sz="1125" b="1" i="0">
                <a:solidFill>
                  <a:srgbClr val="B8B2A8"/>
                </a:solidFill>
              </a:rPr>
              <a:t>Persist state; replan, respond, or hand off</a:t>
            </a:r>
          </a:p>
        </p:txBody>
      </p:sp>
      <p:sp>
        <p:nvSpPr>
          <p:cNvPr id="33" name="">
            <a:extLst xmlns:a="http://schemas.openxmlformats.org/drawingml/2006/main">
              <a:ext uri="{FF2B5EF4-FFF2-40B4-BE49-F238E27FC236}">
                <a16:creationId xmlns:a16="http://schemas.microsoft.com/office/drawing/2014/main" id="{2A75362C-08A6-4582-AD18-1D1F956B173A}"/>
              </a:ext>
            </a:extLst>
          </p:cNvPr>
          <p:cNvSpPr>
            <a:spLocks xmlns:a="http://schemas.openxmlformats.org/drawingml/2006/main" noGrp="1"/>
          </p:cNvSpPr>
          <p:nvPr/>
        </p:nvSpPr>
        <p:spPr>
          <a:xfrm xmlns:a="http://schemas.openxmlformats.org/drawingml/2006/main">
            <a:off x="704850" y="5372100"/>
            <a:ext cx="10801350" cy="590550"/>
          </a:xfrm>
          <a:prstGeom xmlns:a="http://schemas.openxmlformats.org/drawingml/2006/main" prst="roundRect">
            <a:avLst>
              <a:gd name="adj" fmla="val 19355"/>
            </a:avLst>
          </a:prstGeom>
          <a:solidFill xmlns:a="http://schemas.openxmlformats.org/drawingml/2006/main">
            <a:srgbClr val="F7F2E8"/>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87800C91-B72E-4101-B680-0077CAAF97DF}"/>
              </a:ext>
            </a:extLst>
          </p:cNvPr>
          <p:cNvSpPr>
            <a:spLocks xmlns:a="http://schemas.openxmlformats.org/drawingml/2006/main" noGrp="1"/>
          </p:cNvSpPr>
          <p:nvPr/>
        </p:nvSpPr>
        <p:spPr>
          <a:xfrm xmlns:a="http://schemas.openxmlformats.org/drawingml/2006/main">
            <a:off x="1028700" y="5543550"/>
            <a:ext cx="1015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i="0">
                <a:solidFill>
                  <a:srgbClr val="0B0B0D"/>
                </a:solidFill>
              </a:defRPr>
            </a:pPr>
            <a:r>
              <a:rPr sz="1575" b="1" i="0">
                <a:solidFill>
                  <a:srgbClr val="0B0B0D"/>
                </a:solidFill>
              </a:rPr>
              <a:t>Only verified tool results become customer-visible commerce state.</a:t>
            </a:r>
          </a:p>
        </p:txBody>
      </p:sp>
      <p:sp>
        <p:nvSpPr>
          <p:cNvPr id="35" name="">
            <a:extLst xmlns:a="http://schemas.openxmlformats.org/drawingml/2006/main">
              <a:ext uri="{FF2B5EF4-FFF2-40B4-BE49-F238E27FC236}">
                <a16:creationId xmlns:a16="http://schemas.microsoft.com/office/drawing/2014/main" id="{46E7C921-26B4-4C53-B216-C6DA87723BAF}"/>
              </a:ext>
            </a:extLst>
          </p:cNvPr>
          <p:cNvSpPr>
            <a:spLocks xmlns:a="http://schemas.openxmlformats.org/drawingml/2006/main" noGrp="1"/>
          </p:cNvSpPr>
          <p:nvPr/>
        </p:nvSpPr>
        <p:spPr>
          <a:xfrm xmlns:a="http://schemas.openxmlformats.org/drawingml/2006/main">
            <a:off x="685800" y="6457950"/>
            <a:ext cx="590550" cy="47625"/>
          </a:xfrm>
          <a:prstGeom xmlns:a="http://schemas.openxmlformats.org/drawingml/2006/main" prst="rect">
            <a:avLst/>
          </a:prstGeom>
          <a:solidFill xmlns:a="http://schemas.openxmlformats.org/drawingml/2006/main">
            <a:srgbClr val="E4002B"/>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6651A65A-DF88-4816-9E58-8928BCF64324}"/>
              </a:ext>
            </a:extLst>
          </p:cNvPr>
          <p:cNvSpPr>
            <a:spLocks xmlns:a="http://schemas.openxmlformats.org/drawingml/2006/main" noGrp="1"/>
          </p:cNvSpPr>
          <p:nvPr/>
        </p:nvSpPr>
        <p:spPr>
          <a:xfrm xmlns:a="http://schemas.openxmlformats.org/drawingml/2006/main">
            <a:off x="1466850" y="6381750"/>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B8B2A8"/>
                </a:solidFill>
              </a:defRPr>
            </a:pPr>
            <a:r>
              <a:rPr sz="825" b="1" i="0">
                <a:solidFill>
                  <a:srgbClr val="B8B2A8"/>
                </a:solidFill>
              </a:rPr>
              <a:t>TEAM BRAISE  /  KFC COMMERCE AGENT</a:t>
            </a:r>
          </a:p>
        </p:txBody>
      </p:sp>
    </p:spTree>
    <p:extLst>
      <p:ext uri="{BB962C8B-B14F-4D97-AF65-F5344CB8AC3E}">
        <p14:creationId xmlns:p14="http://schemas.microsoft.com/office/powerpoint/2010/main" val="1681123300"/>
      </p:ext>
    </p:extLst>
  </p:cSld>
</p:sld>
</file>

<file path=ppt/slides/slide4.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84BEE5F-79FD-4701-B5C5-C1B0009ACBD1}"/>
              </a:ext>
            </a:extLst>
          </p:cNvPr>
          <p:cNvSpPr>
            <a:spLocks xmlns:a="http://schemas.openxmlformats.org/drawingml/2006/main" noGrp="1"/>
          </p:cNvSpPr>
          <p:nvPr/>
        </p:nvSpPr>
        <p:spPr>
          <a:xfrm xmlns:a="http://schemas.openxmlformats.org/drawingml/2006/main">
            <a:off x="685800" y="495300"/>
            <a:ext cx="428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E4002B"/>
                </a:solidFill>
              </a:defRPr>
            </a:pPr>
            <a:r>
              <a:rPr sz="1125" b="1" i="0">
                <a:solidFill>
                  <a:srgbClr val="E4002B"/>
                </a:solidFill>
              </a:rPr>
              <a:t>04A  /  COMPLETE THE JOURNEY</a:t>
            </a:r>
          </a:p>
        </p:txBody>
      </p:sp>
      <p:sp>
        <p:nvSpPr>
          <p:cNvPr id="2" name="">
            <a:extLst xmlns:a="http://schemas.openxmlformats.org/drawingml/2006/main">
              <a:ext uri="{FF2B5EF4-FFF2-40B4-BE49-F238E27FC236}">
                <a16:creationId xmlns:a16="http://schemas.microsoft.com/office/drawing/2014/main" id="{C29CB889-1638-442D-8E6A-118C4F1B1EAB}"/>
              </a:ext>
            </a:extLst>
          </p:cNvPr>
          <p:cNvSpPr>
            <a:spLocks xmlns:a="http://schemas.openxmlformats.org/drawingml/2006/main" noGrp="1"/>
          </p:cNvSpPr>
          <p:nvPr/>
        </p:nvSpPr>
        <p:spPr>
          <a:xfrm xmlns:a="http://schemas.openxmlformats.org/drawingml/2006/main">
            <a:off x="11087100" y="4953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i="0">
                <a:solidFill>
                  <a:srgbClr val="0B0B0D"/>
                </a:solidFill>
              </a:defRPr>
            </a:pPr>
            <a:r>
              <a:rPr sz="975" b="1" i="0">
                <a:solidFill>
                  <a:srgbClr val="0B0B0D"/>
                </a:solidFill>
              </a:rPr>
              <a:t>04</a:t>
            </a:r>
          </a:p>
        </p:txBody>
      </p:sp>
      <p:sp>
        <p:nvSpPr>
          <p:cNvPr id="3" name="">
            <a:extLst xmlns:a="http://schemas.openxmlformats.org/drawingml/2006/main">
              <a:ext uri="{FF2B5EF4-FFF2-40B4-BE49-F238E27FC236}">
                <a16:creationId xmlns:a16="http://schemas.microsoft.com/office/drawing/2014/main" id="{ADB84689-B5E3-45A3-A3A7-A85172367687}"/>
              </a:ext>
            </a:extLst>
          </p:cNvPr>
          <p:cNvSpPr>
            <a:spLocks xmlns:a="http://schemas.openxmlformats.org/drawingml/2006/main" noGrp="1"/>
          </p:cNvSpPr>
          <p:nvPr/>
        </p:nvSpPr>
        <p:spPr>
          <a:xfrm xmlns:a="http://schemas.openxmlformats.org/drawingml/2006/main">
            <a:off x="685800" y="933450"/>
            <a:ext cx="5334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i="0">
                <a:solidFill>
                  <a:srgbClr val="0B0B0D"/>
                </a:solidFill>
              </a:defRPr>
            </a:pPr>
            <a:r>
              <a:rPr sz="3450" b="1" i="0">
                <a:solidFill>
                  <a:srgbClr val="0B0B0D"/>
                </a:solidFill>
              </a:rPr>
              <a:t>Complete the order</a:t>
            </a:r>
          </a:p>
          <a:p xmlns:a="http://schemas.openxmlformats.org/drawingml/2006/main">
            <a:pPr algn="l">
              <a:defRPr sz="3450" b="1" i="0">
                <a:solidFill>
                  <a:srgbClr val="0B0B0D"/>
                </a:solidFill>
              </a:defRPr>
            </a:pPr>
            <a:r>
              <a:rPr sz="3450" b="1" i="0">
                <a:solidFill>
                  <a:srgbClr val="0B0B0D"/>
                </a:solidFill>
              </a:rPr>
              <a:t>without leaving chat.</a:t>
            </a:r>
          </a:p>
        </p:txBody>
      </p:sp>
      <p:sp>
        <p:nvSpPr>
          <p:cNvPr id="4" name="">
            <a:extLst xmlns:a="http://schemas.openxmlformats.org/drawingml/2006/main">
              <a:ext uri="{FF2B5EF4-FFF2-40B4-BE49-F238E27FC236}">
                <a16:creationId xmlns:a16="http://schemas.microsoft.com/office/drawing/2014/main" id="{C309C09F-D402-41F0-831A-737F9517771E}"/>
              </a:ext>
            </a:extLst>
          </p:cNvPr>
          <p:cNvSpPr>
            <a:spLocks xmlns:a="http://schemas.openxmlformats.org/drawingml/2006/main" noGrp="1"/>
          </p:cNvSpPr>
          <p:nvPr/>
        </p:nvSpPr>
        <p:spPr>
          <a:xfrm xmlns:a="http://schemas.openxmlformats.org/drawingml/2006/main">
            <a:off x="704850" y="234315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E4002B"/>
                </a:solidFill>
              </a:defRPr>
            </a:pPr>
            <a:r>
              <a:rPr sz="1050" b="1" i="0">
                <a:solidFill>
                  <a:srgbClr val="E4002B"/>
                </a:solidFill>
              </a:rPr>
              <a:t>SOLVES</a:t>
            </a:r>
          </a:p>
        </p:txBody>
      </p:sp>
      <p:sp>
        <p:nvSpPr>
          <p:cNvPr id="5" name="">
            <a:extLst xmlns:a="http://schemas.openxmlformats.org/drawingml/2006/main">
              <a:ext uri="{FF2B5EF4-FFF2-40B4-BE49-F238E27FC236}">
                <a16:creationId xmlns:a16="http://schemas.microsoft.com/office/drawing/2014/main" id="{545E234F-3F39-45FA-BA18-450C5851C0B4}"/>
              </a:ext>
            </a:extLst>
          </p:cNvPr>
          <p:cNvSpPr>
            <a:spLocks xmlns:a="http://schemas.openxmlformats.org/drawingml/2006/main" noGrp="1"/>
          </p:cNvSpPr>
          <p:nvPr/>
        </p:nvSpPr>
        <p:spPr>
          <a:xfrm xmlns:a="http://schemas.openxmlformats.org/drawingml/2006/main">
            <a:off x="704850" y="2667000"/>
            <a:ext cx="4857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i="0">
                <a:solidFill>
                  <a:srgbClr val="0B0B0D"/>
                </a:solidFill>
              </a:defRPr>
            </a:pPr>
            <a:r>
              <a:rPr sz="1725" b="1" i="0">
                <a:solidFill>
                  <a:srgbClr val="0B0B0D"/>
                </a:solidFill>
              </a:rPr>
              <a:t>Channel switching, broken ordering journeys,</a:t>
            </a:r>
          </a:p>
          <a:p xmlns:a="http://schemas.openxmlformats.org/drawingml/2006/main">
            <a:pPr algn="l">
              <a:defRPr sz="1725" b="1" i="0">
                <a:solidFill>
                  <a:srgbClr val="0B0B0D"/>
                </a:solidFill>
              </a:defRPr>
            </a:pPr>
            <a:r>
              <a:rPr sz="1725" b="1" i="0">
                <a:solidFill>
                  <a:srgbClr val="0B0B0D"/>
                </a:solidFill>
              </a:rPr>
              <a:t>and unnecessary manual handling.</a:t>
            </a:r>
          </a:p>
        </p:txBody>
      </p:sp>
      <p:sp>
        <p:nvSpPr>
          <p:cNvPr id="6" name="">
            <a:extLst xmlns:a="http://schemas.openxmlformats.org/drawingml/2006/main">
              <a:ext uri="{FF2B5EF4-FFF2-40B4-BE49-F238E27FC236}">
                <a16:creationId xmlns:a16="http://schemas.microsoft.com/office/drawing/2014/main" id="{C42E88F4-8EA2-41FC-8D6E-01E67A1F31E8}"/>
              </a:ext>
            </a:extLst>
          </p:cNvPr>
          <p:cNvSpPr>
            <a:spLocks xmlns:a="http://schemas.openxmlformats.org/drawingml/2006/main" noGrp="1"/>
          </p:cNvSpPr>
          <p:nvPr/>
        </p:nvSpPr>
        <p:spPr>
          <a:xfrm xmlns:a="http://schemas.openxmlformats.org/drawingml/2006/main">
            <a:off x="704850" y="38290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E4002B"/>
                </a:solidFill>
              </a:defRPr>
            </a:pPr>
            <a:r>
              <a:rPr sz="1050" b="1" i="0">
                <a:solidFill>
                  <a:srgbClr val="E4002B"/>
                </a:solidFill>
              </a:rPr>
              <a:t>WHAT THE PRODUCT CONNECTS</a:t>
            </a:r>
          </a:p>
        </p:txBody>
      </p:sp>
      <p:sp>
        <p:nvSpPr>
          <p:cNvPr id="7" name="">
            <a:extLst xmlns:a="http://schemas.openxmlformats.org/drawingml/2006/main">
              <a:ext uri="{FF2B5EF4-FFF2-40B4-BE49-F238E27FC236}">
                <a16:creationId xmlns:a16="http://schemas.microsoft.com/office/drawing/2014/main" id="{E99C4135-7683-405F-A4C5-79BCC37F250B}"/>
              </a:ext>
            </a:extLst>
          </p:cNvPr>
          <p:cNvSpPr>
            <a:spLocks xmlns:a="http://schemas.openxmlformats.org/drawingml/2006/main" noGrp="1"/>
          </p:cNvSpPr>
          <p:nvPr/>
        </p:nvSpPr>
        <p:spPr>
          <a:xfrm xmlns:a="http://schemas.openxmlformats.org/drawingml/2006/main">
            <a:off x="704850" y="4171950"/>
            <a:ext cx="4857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0B0B0D"/>
                </a:solidFill>
              </a:defRPr>
            </a:pPr>
            <a:r>
              <a:rPr sz="1425" b="1" i="0">
                <a:solidFill>
                  <a:srgbClr val="0B0B0D"/>
                </a:solidFill>
              </a:rPr>
              <a:t>Messenger → cart → fulfillment → confirmation</a:t>
            </a:r>
          </a:p>
        </p:txBody>
      </p:sp>
      <p:sp>
        <p:nvSpPr>
          <p:cNvPr id="8" name="">
            <a:extLst xmlns:a="http://schemas.openxmlformats.org/drawingml/2006/main">
              <a:ext uri="{FF2B5EF4-FFF2-40B4-BE49-F238E27FC236}">
                <a16:creationId xmlns:a16="http://schemas.microsoft.com/office/drawing/2014/main" id="{ABE35426-635C-44AA-8EE3-1E33BB857D53}"/>
              </a:ext>
            </a:extLst>
          </p:cNvPr>
          <p:cNvSpPr>
            <a:spLocks xmlns:a="http://schemas.openxmlformats.org/drawingml/2006/main" noGrp="1"/>
          </p:cNvSpPr>
          <p:nvPr/>
        </p:nvSpPr>
        <p:spPr>
          <a:xfrm xmlns:a="http://schemas.openxmlformats.org/drawingml/2006/main">
            <a:off x="704850" y="491490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6F6A63"/>
                </a:solidFill>
              </a:defRPr>
            </a:pPr>
            <a:r>
              <a:rPr sz="975" b="1" i="0">
                <a:solidFill>
                  <a:srgbClr val="6F6A63"/>
                </a:solidFill>
              </a:rPr>
              <a:t>SIMULATED / REPLACEABLE OMS ADAPTER</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1125c6d9887e4609"/>
          <a:srcRect xmlns:a="http://schemas.openxmlformats.org/drawingml/2006/main" l="0" t="2396" r="0" b="2396"/>
          <a:stretch xmlns:a="http://schemas.openxmlformats.org/drawingml/2006/main">
            <a:fillRect l="0" t="0" r="0" b="0"/>
          </a:stretch>
        </p:blipFill>
        <p:spPr>
          <a:xfrm xmlns:a="http://schemas.openxmlformats.org/drawingml/2006/main">
            <a:off x="6286500" y="1066800"/>
            <a:ext cx="4953000" cy="43434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26350E2E-AC34-4048-950D-B57D62CD046A}"/>
              </a:ext>
            </a:extLst>
          </p:cNvPr>
          <p:cNvSpPr>
            <a:spLocks xmlns:a="http://schemas.openxmlformats.org/drawingml/2006/main" noGrp="1"/>
          </p:cNvSpPr>
          <p:nvPr/>
        </p:nvSpPr>
        <p:spPr>
          <a:xfrm xmlns:a="http://schemas.openxmlformats.org/drawingml/2006/main">
            <a:off x="6286500" y="54673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E4002B"/>
                </a:solidFill>
              </a:defRPr>
            </a:pPr>
            <a:r>
              <a:rPr sz="975" b="1" i="0">
                <a:solidFill>
                  <a:srgbClr val="E4002B"/>
                </a:solidFill>
              </a:rPr>
              <a:t>MESSENGER PROOF  /  CONFIRMED ORDER</a:t>
            </a:r>
          </a:p>
        </p:txBody>
      </p:sp>
      <p:sp>
        <p:nvSpPr>
          <p:cNvPr id="11" name="">
            <a:extLst xmlns:a="http://schemas.openxmlformats.org/drawingml/2006/main">
              <a:ext uri="{FF2B5EF4-FFF2-40B4-BE49-F238E27FC236}">
                <a16:creationId xmlns:a16="http://schemas.microsoft.com/office/drawing/2014/main" id="{00425580-1350-4E0A-B09C-CBFDA042128F}"/>
              </a:ext>
            </a:extLst>
          </p:cNvPr>
          <p:cNvSpPr>
            <a:spLocks xmlns:a="http://schemas.openxmlformats.org/drawingml/2006/main" noGrp="1"/>
          </p:cNvSpPr>
          <p:nvPr/>
        </p:nvSpPr>
        <p:spPr>
          <a:xfrm xmlns:a="http://schemas.openxmlformats.org/drawingml/2006/main">
            <a:off x="704850" y="5772150"/>
            <a:ext cx="10801350" cy="19050"/>
          </a:xfrm>
          <a:prstGeom xmlns:a="http://schemas.openxmlformats.org/drawingml/2006/main" prst="rect">
            <a:avLst/>
          </a:prstGeom>
          <a:solidFill xmlns:a="http://schemas.openxmlformats.org/drawingml/2006/main">
            <a:srgbClr val="0B0B0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7B6B2E8-4AF2-4317-8DC4-409A5F5847AA}"/>
              </a:ext>
            </a:extLst>
          </p:cNvPr>
          <p:cNvSpPr>
            <a:spLocks xmlns:a="http://schemas.openxmlformats.org/drawingml/2006/main" noGrp="1"/>
          </p:cNvSpPr>
          <p:nvPr/>
        </p:nvSpPr>
        <p:spPr>
          <a:xfrm xmlns:a="http://schemas.openxmlformats.org/drawingml/2006/main">
            <a:off x="704850" y="5962650"/>
            <a:ext cx="10801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0B0B0D"/>
                </a:solidFill>
              </a:defRPr>
            </a:pPr>
            <a:r>
              <a:rPr sz="1500" b="1" i="0">
                <a:solidFill>
                  <a:srgbClr val="0B0B0D"/>
                </a:solidFill>
              </a:rPr>
              <a:t>One customer journey—coordinated across the systems needed to finish it.</a:t>
            </a:r>
          </a:p>
        </p:txBody>
      </p:sp>
      <p:sp>
        <p:nvSpPr>
          <p:cNvPr id="13" name="">
            <a:extLst xmlns:a="http://schemas.openxmlformats.org/drawingml/2006/main">
              <a:ext uri="{FF2B5EF4-FFF2-40B4-BE49-F238E27FC236}">
                <a16:creationId xmlns:a16="http://schemas.microsoft.com/office/drawing/2014/main" id="{7F07C6CE-2FAB-4894-8A29-778F618499A7}"/>
              </a:ext>
            </a:extLst>
          </p:cNvPr>
          <p:cNvSpPr>
            <a:spLocks xmlns:a="http://schemas.openxmlformats.org/drawingml/2006/main" noGrp="1"/>
          </p:cNvSpPr>
          <p:nvPr/>
        </p:nvSpPr>
        <p:spPr>
          <a:xfrm xmlns:a="http://schemas.openxmlformats.org/drawingml/2006/main">
            <a:off x="685800" y="6457950"/>
            <a:ext cx="590550" cy="47625"/>
          </a:xfrm>
          <a:prstGeom xmlns:a="http://schemas.openxmlformats.org/drawingml/2006/main" prst="rect">
            <a:avLst/>
          </a:prstGeom>
          <a:solidFill xmlns:a="http://schemas.openxmlformats.org/drawingml/2006/main">
            <a:srgbClr val="E4002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746286E-6964-4425-94DC-2F3A654A905D}"/>
              </a:ext>
            </a:extLst>
          </p:cNvPr>
          <p:cNvSpPr>
            <a:spLocks xmlns:a="http://schemas.openxmlformats.org/drawingml/2006/main" noGrp="1"/>
          </p:cNvSpPr>
          <p:nvPr/>
        </p:nvSpPr>
        <p:spPr>
          <a:xfrm xmlns:a="http://schemas.openxmlformats.org/drawingml/2006/main">
            <a:off x="1466850" y="6381750"/>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6F6A63"/>
                </a:solidFill>
              </a:defRPr>
            </a:pPr>
            <a:r>
              <a:rPr sz="825" b="1" i="0">
                <a:solidFill>
                  <a:srgbClr val="6F6A63"/>
                </a:solidFill>
              </a:rPr>
              <a:t>TEAM BRAISE  /  KFC COMMERCE AGENT</a:t>
            </a:r>
          </a:p>
        </p:txBody>
      </p:sp>
    </p:spTree>
    <p:extLst>
      <p:ext uri="{BB962C8B-B14F-4D97-AF65-F5344CB8AC3E}">
        <p14:creationId xmlns:p14="http://schemas.microsoft.com/office/powerpoint/2010/main" val="119518991"/>
      </p:ext>
    </p:extLst>
  </p:cSld>
</p:sld>
</file>

<file path=ppt/slides/slide5.xml><?xml version="1.0" encoding="utf-8"?>
<p:sld xmlns:p="http://schemas.openxmlformats.org/presentationml/2006/main">
  <p:cSld>
    <p:bg>
      <p:bgPr>
        <a:solidFill xmlns:a="http://schemas.openxmlformats.org/drawingml/2006/main">
          <a:srgbClr val="0B0B0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2C6FA40-2B7E-4D6B-936E-8C0922017779}"/>
              </a:ext>
            </a:extLst>
          </p:cNvPr>
          <p:cNvSpPr>
            <a:spLocks xmlns:a="http://schemas.openxmlformats.org/drawingml/2006/main" noGrp="1"/>
          </p:cNvSpPr>
          <p:nvPr/>
        </p:nvSpPr>
        <p:spPr>
          <a:xfrm xmlns:a="http://schemas.openxmlformats.org/drawingml/2006/main">
            <a:off x="685800" y="495300"/>
            <a:ext cx="428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E4002B"/>
                </a:solidFill>
              </a:defRPr>
            </a:pPr>
            <a:r>
              <a:rPr sz="1125" b="1" i="0">
                <a:solidFill>
                  <a:srgbClr val="E4002B"/>
                </a:solidFill>
              </a:rPr>
              <a:t>04B  /  CLEAR CUSTOMER ACTIONS</a:t>
            </a:r>
          </a:p>
        </p:txBody>
      </p:sp>
      <p:sp>
        <p:nvSpPr>
          <p:cNvPr id="2" name="">
            <a:extLst xmlns:a="http://schemas.openxmlformats.org/drawingml/2006/main">
              <a:ext uri="{FF2B5EF4-FFF2-40B4-BE49-F238E27FC236}">
                <a16:creationId xmlns:a16="http://schemas.microsoft.com/office/drawing/2014/main" id="{2C18588D-F3D8-499F-AB78-4C5372516E29}"/>
              </a:ext>
            </a:extLst>
          </p:cNvPr>
          <p:cNvSpPr>
            <a:spLocks xmlns:a="http://schemas.openxmlformats.org/drawingml/2006/main" noGrp="1"/>
          </p:cNvSpPr>
          <p:nvPr/>
        </p:nvSpPr>
        <p:spPr>
          <a:xfrm xmlns:a="http://schemas.openxmlformats.org/drawingml/2006/main">
            <a:off x="11087100" y="4953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i="0">
                <a:solidFill>
                  <a:srgbClr val="FFFFFF"/>
                </a:solidFill>
              </a:defRPr>
            </a:pPr>
            <a:r>
              <a:rPr sz="975" b="1" i="0">
                <a:solidFill>
                  <a:srgbClr val="FFFFFF"/>
                </a:solidFill>
              </a:rPr>
              <a:t>04</a:t>
            </a:r>
          </a:p>
        </p:txBody>
      </p:sp>
      <p:sp>
        <p:nvSpPr>
          <p:cNvPr id="3" name="">
            <a:extLst xmlns:a="http://schemas.openxmlformats.org/drawingml/2006/main">
              <a:ext uri="{FF2B5EF4-FFF2-40B4-BE49-F238E27FC236}">
                <a16:creationId xmlns:a16="http://schemas.microsoft.com/office/drawing/2014/main" id="{751434DC-2774-46A0-A3FE-FC603A61350B}"/>
              </a:ext>
            </a:extLst>
          </p:cNvPr>
          <p:cNvSpPr>
            <a:spLocks xmlns:a="http://schemas.openxmlformats.org/drawingml/2006/main" noGrp="1"/>
          </p:cNvSpPr>
          <p:nvPr/>
        </p:nvSpPr>
        <p:spPr>
          <a:xfrm xmlns:a="http://schemas.openxmlformats.org/drawingml/2006/main">
            <a:off x="685800" y="933450"/>
            <a:ext cx="5334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i="0">
                <a:solidFill>
                  <a:srgbClr val="FFFFFF"/>
                </a:solidFill>
              </a:defRPr>
            </a:pPr>
            <a:r>
              <a:rPr sz="3300" b="1" i="0">
                <a:solidFill>
                  <a:srgbClr val="FFFFFF"/>
                </a:solidFill>
              </a:rPr>
              <a:t>Turn complex choices into</a:t>
            </a:r>
          </a:p>
          <a:p xmlns:a="http://schemas.openxmlformats.org/drawingml/2006/main">
            <a:pPr algn="l">
              <a:defRPr sz="3300" b="1" i="0">
                <a:solidFill>
                  <a:srgbClr val="FFFFFF"/>
                </a:solidFill>
              </a:defRPr>
            </a:pPr>
            <a:r>
              <a:rPr sz="3300" b="1" i="0">
                <a:solidFill>
                  <a:srgbClr val="FFFFFF"/>
                </a:solidFill>
              </a:rPr>
              <a:t>clear customer actions.</a:t>
            </a:r>
          </a:p>
        </p:txBody>
      </p:sp>
      <p:sp>
        <p:nvSpPr>
          <p:cNvPr id="4" name="">
            <a:extLst xmlns:a="http://schemas.openxmlformats.org/drawingml/2006/main">
              <a:ext uri="{FF2B5EF4-FFF2-40B4-BE49-F238E27FC236}">
                <a16:creationId xmlns:a16="http://schemas.microsoft.com/office/drawing/2014/main" id="{034B4069-8AA1-4D94-8D00-087F10CD7D76}"/>
              </a:ext>
            </a:extLst>
          </p:cNvPr>
          <p:cNvSpPr>
            <a:spLocks xmlns:a="http://schemas.openxmlformats.org/drawingml/2006/main" noGrp="1"/>
          </p:cNvSpPr>
          <p:nvPr/>
        </p:nvSpPr>
        <p:spPr>
          <a:xfrm xmlns:a="http://schemas.openxmlformats.org/drawingml/2006/main">
            <a:off x="704850" y="234315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E4002B"/>
                </a:solidFill>
              </a:defRPr>
            </a:pPr>
            <a:r>
              <a:rPr sz="1050" b="1" i="0">
                <a:solidFill>
                  <a:srgbClr val="E4002B"/>
                </a:solidFill>
              </a:rPr>
              <a:t>SOLVES</a:t>
            </a:r>
          </a:p>
        </p:txBody>
      </p:sp>
      <p:sp>
        <p:nvSpPr>
          <p:cNvPr id="5" name="">
            <a:extLst xmlns:a="http://schemas.openxmlformats.org/drawingml/2006/main">
              <a:ext uri="{FF2B5EF4-FFF2-40B4-BE49-F238E27FC236}">
                <a16:creationId xmlns:a16="http://schemas.microsoft.com/office/drawing/2014/main" id="{430D92BA-CC5B-4108-BACB-FFDD6A241BCE}"/>
              </a:ext>
            </a:extLst>
          </p:cNvPr>
          <p:cNvSpPr>
            <a:spLocks xmlns:a="http://schemas.openxmlformats.org/drawingml/2006/main" noGrp="1"/>
          </p:cNvSpPr>
          <p:nvPr/>
        </p:nvSpPr>
        <p:spPr>
          <a:xfrm xmlns:a="http://schemas.openxmlformats.org/drawingml/2006/main">
            <a:off x="704850" y="2667000"/>
            <a:ext cx="476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i="0">
                <a:solidFill>
                  <a:srgbClr val="FFFFFF"/>
                </a:solidFill>
              </a:defRPr>
            </a:pPr>
            <a:r>
              <a:rPr sz="1725" b="1" i="0">
                <a:solidFill>
                  <a:srgbClr val="FFFFFF"/>
                </a:solidFill>
              </a:rPr>
              <a:t>Ambiguous text threads and difficult</a:t>
            </a:r>
          </a:p>
          <a:p xmlns:a="http://schemas.openxmlformats.org/drawingml/2006/main">
            <a:pPr algn="l">
              <a:defRPr sz="1725" b="1" i="0">
                <a:solidFill>
                  <a:srgbClr val="FFFFFF"/>
                </a:solidFill>
              </a:defRPr>
            </a:pPr>
            <a:r>
              <a:rPr sz="1725" b="1" i="0">
                <a:solidFill>
                  <a:srgbClr val="FFFFFF"/>
                </a:solidFill>
              </a:rPr>
              <a:t>multi-step decisions.</a:t>
            </a:r>
          </a:p>
        </p:txBody>
      </p:sp>
      <p:sp>
        <p:nvSpPr>
          <p:cNvPr id="6" name="">
            <a:extLst xmlns:a="http://schemas.openxmlformats.org/drawingml/2006/main">
              <a:ext uri="{FF2B5EF4-FFF2-40B4-BE49-F238E27FC236}">
                <a16:creationId xmlns:a16="http://schemas.microsoft.com/office/drawing/2014/main" id="{11910D51-DEF8-4A70-A9AE-407392B385C5}"/>
              </a:ext>
            </a:extLst>
          </p:cNvPr>
          <p:cNvSpPr>
            <a:spLocks xmlns:a="http://schemas.openxmlformats.org/drawingml/2006/main" noGrp="1"/>
          </p:cNvSpPr>
          <p:nvPr/>
        </p:nvSpPr>
        <p:spPr>
          <a:xfrm xmlns:a="http://schemas.openxmlformats.org/drawingml/2006/main">
            <a:off x="704850" y="3962400"/>
            <a:ext cx="4762500" cy="1219200"/>
          </a:xfrm>
          <a:prstGeom xmlns:a="http://schemas.openxmlformats.org/drawingml/2006/main" prst="roundRect">
            <a:avLst>
              <a:gd name="adj" fmla="val 9375"/>
            </a:avLst>
          </a:prstGeom>
          <a:solidFill xmlns:a="http://schemas.openxmlformats.org/drawingml/2006/main">
            <a:srgbClr val="E4002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F61A8B1-3BEA-4A76-B5C7-DCA158DFF807}"/>
              </a:ext>
            </a:extLst>
          </p:cNvPr>
          <p:cNvSpPr>
            <a:spLocks xmlns:a="http://schemas.openxmlformats.org/drawingml/2006/main" noGrp="1"/>
          </p:cNvSpPr>
          <p:nvPr/>
        </p:nvSpPr>
        <p:spPr>
          <a:xfrm xmlns:a="http://schemas.openxmlformats.org/drawingml/2006/main">
            <a:off x="990600" y="41910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FFFFFF"/>
                </a:solidFill>
              </a:defRPr>
            </a:pPr>
            <a:r>
              <a:rPr sz="1200" b="1" i="0">
                <a:solidFill>
                  <a:srgbClr val="FFFFFF"/>
                </a:solidFill>
              </a:rPr>
              <a:t>STRUCTURED GenUI</a:t>
            </a:r>
          </a:p>
        </p:txBody>
      </p:sp>
      <p:sp>
        <p:nvSpPr>
          <p:cNvPr id="8" name="">
            <a:extLst xmlns:a="http://schemas.openxmlformats.org/drawingml/2006/main">
              <a:ext uri="{FF2B5EF4-FFF2-40B4-BE49-F238E27FC236}">
                <a16:creationId xmlns:a16="http://schemas.microsoft.com/office/drawing/2014/main" id="{65843BC9-F98E-4229-B7DD-363B0319919E}"/>
              </a:ext>
            </a:extLst>
          </p:cNvPr>
          <p:cNvSpPr>
            <a:spLocks xmlns:a="http://schemas.openxmlformats.org/drawingml/2006/main" noGrp="1"/>
          </p:cNvSpPr>
          <p:nvPr/>
        </p:nvSpPr>
        <p:spPr>
          <a:xfrm xmlns:a="http://schemas.openxmlformats.org/drawingml/2006/main">
            <a:off x="990600" y="4552950"/>
            <a:ext cx="4095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FFFFFF"/>
                </a:solidFill>
              </a:defRPr>
            </a:pPr>
            <a:r>
              <a:rPr sz="1350" b="1" i="0">
                <a:solidFill>
                  <a:srgbClr val="FFFFFF"/>
                </a:solidFill>
              </a:rPr>
              <a:t>Verified store, ETA, fee, and address become a clear next action.</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6b378c16dfae4210"/>
          <a:stretch xmlns:a="http://schemas.openxmlformats.org/drawingml/2006/main"/>
        </p:blipFill>
        <p:spPr>
          <a:xfrm xmlns:a="http://schemas.openxmlformats.org/drawingml/2006/main">
            <a:off x="7847009" y="800100"/>
            <a:ext cx="2479682" cy="53911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2A4FC350-1156-4542-8145-32A230B26741}"/>
              </a:ext>
            </a:extLst>
          </p:cNvPr>
          <p:cNvSpPr>
            <a:spLocks xmlns:a="http://schemas.openxmlformats.org/drawingml/2006/main" noGrp="1"/>
          </p:cNvSpPr>
          <p:nvPr/>
        </p:nvSpPr>
        <p:spPr>
          <a:xfrm xmlns:a="http://schemas.openxmlformats.org/drawingml/2006/main">
            <a:off x="6934200" y="61912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E4002B"/>
                </a:solidFill>
              </a:defRPr>
            </a:pPr>
            <a:r>
              <a:rPr sz="975" b="1" i="0">
                <a:solidFill>
                  <a:srgbClr val="E4002B"/>
                </a:solidFill>
              </a:rPr>
              <a:t>MOBILE GenUI  /  VERIFIED ORDER</a:t>
            </a:r>
          </a:p>
        </p:txBody>
      </p:sp>
      <p:sp>
        <p:nvSpPr>
          <p:cNvPr id="11" name="">
            <a:extLst xmlns:a="http://schemas.openxmlformats.org/drawingml/2006/main">
              <a:ext uri="{FF2B5EF4-FFF2-40B4-BE49-F238E27FC236}">
                <a16:creationId xmlns:a16="http://schemas.microsoft.com/office/drawing/2014/main" id="{80D4EC09-B4BB-46F4-969B-5CB9D70ABF58}"/>
              </a:ext>
            </a:extLst>
          </p:cNvPr>
          <p:cNvSpPr>
            <a:spLocks xmlns:a="http://schemas.openxmlformats.org/drawingml/2006/main" noGrp="1"/>
          </p:cNvSpPr>
          <p:nvPr/>
        </p:nvSpPr>
        <p:spPr>
          <a:xfrm xmlns:a="http://schemas.openxmlformats.org/drawingml/2006/main">
            <a:off x="685800" y="6457950"/>
            <a:ext cx="590550" cy="47625"/>
          </a:xfrm>
          <a:prstGeom xmlns:a="http://schemas.openxmlformats.org/drawingml/2006/main" prst="rect">
            <a:avLst/>
          </a:prstGeom>
          <a:solidFill xmlns:a="http://schemas.openxmlformats.org/drawingml/2006/main">
            <a:srgbClr val="E4002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C6DFAB8-11C6-42E2-9D66-D0814B3510C9}"/>
              </a:ext>
            </a:extLst>
          </p:cNvPr>
          <p:cNvSpPr>
            <a:spLocks xmlns:a="http://schemas.openxmlformats.org/drawingml/2006/main" noGrp="1"/>
          </p:cNvSpPr>
          <p:nvPr/>
        </p:nvSpPr>
        <p:spPr>
          <a:xfrm xmlns:a="http://schemas.openxmlformats.org/drawingml/2006/main">
            <a:off x="1466850" y="6381750"/>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B8B2A8"/>
                </a:solidFill>
              </a:defRPr>
            </a:pPr>
            <a:r>
              <a:rPr sz="825" b="1" i="0">
                <a:solidFill>
                  <a:srgbClr val="B8B2A8"/>
                </a:solidFill>
              </a:rPr>
              <a:t>TEAM BRAISE  /  KFC COMMERCE AGENT</a:t>
            </a:r>
          </a:p>
        </p:txBody>
      </p:sp>
    </p:spTree>
    <p:extLst>
      <p:ext uri="{BB962C8B-B14F-4D97-AF65-F5344CB8AC3E}">
        <p14:creationId xmlns:p14="http://schemas.microsoft.com/office/powerpoint/2010/main" val="1581289082"/>
      </p:ext>
    </p:extLst>
  </p:cSld>
</p:sld>
</file>

<file path=ppt/slides/slide6.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FC7B672-1A6C-4345-926A-F9B432717D71}"/>
              </a:ext>
            </a:extLst>
          </p:cNvPr>
          <p:cNvSpPr>
            <a:spLocks xmlns:a="http://schemas.openxmlformats.org/drawingml/2006/main" noGrp="1"/>
          </p:cNvSpPr>
          <p:nvPr/>
        </p:nvSpPr>
        <p:spPr>
          <a:xfrm xmlns:a="http://schemas.openxmlformats.org/drawingml/2006/main">
            <a:off x="685800" y="495300"/>
            <a:ext cx="428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E4002B"/>
                </a:solidFill>
              </a:defRPr>
            </a:pPr>
            <a:r>
              <a:rPr sz="1125" b="1" i="0">
                <a:solidFill>
                  <a:srgbClr val="E4002B"/>
                </a:solidFill>
              </a:rPr>
              <a:t>04C  /  SAFE EXECUTION + RECOVERY</a:t>
            </a:r>
          </a:p>
        </p:txBody>
      </p:sp>
      <p:sp>
        <p:nvSpPr>
          <p:cNvPr id="2" name="">
            <a:extLst xmlns:a="http://schemas.openxmlformats.org/drawingml/2006/main">
              <a:ext uri="{FF2B5EF4-FFF2-40B4-BE49-F238E27FC236}">
                <a16:creationId xmlns:a16="http://schemas.microsoft.com/office/drawing/2014/main" id="{B2ACC209-D31A-44C2-BC9C-AEB346E50784}"/>
              </a:ext>
            </a:extLst>
          </p:cNvPr>
          <p:cNvSpPr>
            <a:spLocks xmlns:a="http://schemas.openxmlformats.org/drawingml/2006/main" noGrp="1"/>
          </p:cNvSpPr>
          <p:nvPr/>
        </p:nvSpPr>
        <p:spPr>
          <a:xfrm xmlns:a="http://schemas.openxmlformats.org/drawingml/2006/main">
            <a:off x="11087100" y="4953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i="0">
                <a:solidFill>
                  <a:srgbClr val="0B0B0D"/>
                </a:solidFill>
              </a:defRPr>
            </a:pPr>
            <a:r>
              <a:rPr sz="975" b="1" i="0">
                <a:solidFill>
                  <a:srgbClr val="0B0B0D"/>
                </a:solidFill>
              </a:rPr>
              <a:t>04</a:t>
            </a:r>
          </a:p>
        </p:txBody>
      </p:sp>
      <p:sp>
        <p:nvSpPr>
          <p:cNvPr id="3" name="">
            <a:extLst xmlns:a="http://schemas.openxmlformats.org/drawingml/2006/main">
              <a:ext uri="{FF2B5EF4-FFF2-40B4-BE49-F238E27FC236}">
                <a16:creationId xmlns:a16="http://schemas.microsoft.com/office/drawing/2014/main" id="{936055D8-42F8-46ED-9956-3381791A02CB}"/>
              </a:ext>
            </a:extLst>
          </p:cNvPr>
          <p:cNvSpPr>
            <a:spLocks xmlns:a="http://schemas.openxmlformats.org/drawingml/2006/main" noGrp="1"/>
          </p:cNvSpPr>
          <p:nvPr/>
        </p:nvSpPr>
        <p:spPr>
          <a:xfrm xmlns:a="http://schemas.openxmlformats.org/drawingml/2006/main">
            <a:off x="685800" y="933450"/>
            <a:ext cx="5334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i="0">
                <a:solidFill>
                  <a:srgbClr val="0B0B0D"/>
                </a:solidFill>
              </a:defRPr>
            </a:pPr>
            <a:r>
              <a:rPr sz="3000" b="1" i="0">
                <a:solidFill>
                  <a:srgbClr val="0B0B0D"/>
                </a:solidFill>
              </a:rPr>
              <a:t>Execute safely—and recover</a:t>
            </a:r>
          </a:p>
          <a:p xmlns:a="http://schemas.openxmlformats.org/drawingml/2006/main">
            <a:pPr algn="l">
              <a:defRPr sz="3000" b="1" i="0">
                <a:solidFill>
                  <a:srgbClr val="0B0B0D"/>
                </a:solidFill>
              </a:defRPr>
            </a:pPr>
            <a:r>
              <a:rPr sz="3000" b="1" i="0">
                <a:solidFill>
                  <a:srgbClr val="0B0B0D"/>
                </a:solidFill>
              </a:rPr>
              <a:t>when needed.</a:t>
            </a:r>
          </a:p>
        </p:txBody>
      </p:sp>
      <p:sp>
        <p:nvSpPr>
          <p:cNvPr id="4" name="">
            <a:extLst xmlns:a="http://schemas.openxmlformats.org/drawingml/2006/main">
              <a:ext uri="{FF2B5EF4-FFF2-40B4-BE49-F238E27FC236}">
                <a16:creationId xmlns:a16="http://schemas.microsoft.com/office/drawing/2014/main" id="{33F359F0-0226-4C51-B632-00DFE9B7BDE5}"/>
              </a:ext>
            </a:extLst>
          </p:cNvPr>
          <p:cNvSpPr>
            <a:spLocks xmlns:a="http://schemas.openxmlformats.org/drawingml/2006/main" noGrp="1"/>
          </p:cNvSpPr>
          <p:nvPr/>
        </p:nvSpPr>
        <p:spPr>
          <a:xfrm xmlns:a="http://schemas.openxmlformats.org/drawingml/2006/main">
            <a:off x="704850" y="234315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E4002B"/>
                </a:solidFill>
              </a:defRPr>
            </a:pPr>
            <a:r>
              <a:rPr sz="1050" b="1" i="0">
                <a:solidFill>
                  <a:srgbClr val="E4002B"/>
                </a:solidFill>
              </a:rPr>
              <a:t>SOLVES</a:t>
            </a:r>
          </a:p>
        </p:txBody>
      </p:sp>
      <p:sp>
        <p:nvSpPr>
          <p:cNvPr id="5" name="">
            <a:extLst xmlns:a="http://schemas.openxmlformats.org/drawingml/2006/main">
              <a:ext uri="{FF2B5EF4-FFF2-40B4-BE49-F238E27FC236}">
                <a16:creationId xmlns:a16="http://schemas.microsoft.com/office/drawing/2014/main" id="{4295433F-35A2-4FEB-A044-ACD2088B318F}"/>
              </a:ext>
            </a:extLst>
          </p:cNvPr>
          <p:cNvSpPr>
            <a:spLocks xmlns:a="http://schemas.openxmlformats.org/drawingml/2006/main" noGrp="1"/>
          </p:cNvSpPr>
          <p:nvPr/>
        </p:nvSpPr>
        <p:spPr>
          <a:xfrm xmlns:a="http://schemas.openxmlformats.org/drawingml/2006/main">
            <a:off x="704850" y="2667000"/>
            <a:ext cx="4953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0B0B0D"/>
                </a:solidFill>
              </a:defRPr>
            </a:pPr>
            <a:r>
              <a:rPr sz="1650" b="1" i="0">
                <a:solidFill>
                  <a:srgbClr val="0B0B0D"/>
                </a:solidFill>
              </a:rPr>
              <a:t>Unintended actions, invalid orders, unsupported claims,</a:t>
            </a:r>
          </a:p>
          <a:p xmlns:a="http://schemas.openxmlformats.org/drawingml/2006/main">
            <a:pPr algn="l">
              <a:defRPr sz="1650" b="1" i="0">
                <a:solidFill>
                  <a:srgbClr val="0B0B0D"/>
                </a:solidFill>
              </a:defRPr>
            </a:pPr>
            <a:r>
              <a:rPr sz="1650" b="1" i="0">
                <a:solidFill>
                  <a:srgbClr val="0B0B0D"/>
                </a:solidFill>
              </a:rPr>
              <a:t>and exceptions that require staff.</a:t>
            </a:r>
          </a:p>
        </p:txBody>
      </p:sp>
      <p:sp>
        <p:nvSpPr>
          <p:cNvPr id="6" name="">
            <a:extLst xmlns:a="http://schemas.openxmlformats.org/drawingml/2006/main">
              <a:ext uri="{FF2B5EF4-FFF2-40B4-BE49-F238E27FC236}">
                <a16:creationId xmlns:a16="http://schemas.microsoft.com/office/drawing/2014/main" id="{1E9B42F9-F3FE-41AC-AE49-4FF93AC755CF}"/>
              </a:ext>
            </a:extLst>
          </p:cNvPr>
          <p:cNvSpPr>
            <a:spLocks xmlns:a="http://schemas.openxmlformats.org/drawingml/2006/main" noGrp="1"/>
          </p:cNvSpPr>
          <p:nvPr/>
        </p:nvSpPr>
        <p:spPr>
          <a:xfrm xmlns:a="http://schemas.openxmlformats.org/drawingml/2006/main">
            <a:off x="704850" y="39433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E4002B"/>
                </a:solidFill>
              </a:defRPr>
            </a:pPr>
            <a:r>
              <a:rPr sz="1050" b="1" i="0">
                <a:solidFill>
                  <a:srgbClr val="E4002B"/>
                </a:solidFill>
              </a:rPr>
              <a:t>MONITOR</a:t>
            </a:r>
          </a:p>
        </p:txBody>
      </p:sp>
      <p:sp>
        <p:nvSpPr>
          <p:cNvPr id="7" name="">
            <a:extLst xmlns:a="http://schemas.openxmlformats.org/drawingml/2006/main">
              <a:ext uri="{FF2B5EF4-FFF2-40B4-BE49-F238E27FC236}">
                <a16:creationId xmlns:a16="http://schemas.microsoft.com/office/drawing/2014/main" id="{94C3EB39-021B-4FD7-88A5-144A4563A35A}"/>
              </a:ext>
            </a:extLst>
          </p:cNvPr>
          <p:cNvSpPr>
            <a:spLocks xmlns:a="http://schemas.openxmlformats.org/drawingml/2006/main" noGrp="1"/>
          </p:cNvSpPr>
          <p:nvPr/>
        </p:nvSpPr>
        <p:spPr>
          <a:xfrm xmlns:a="http://schemas.openxmlformats.org/drawingml/2006/main">
            <a:off x="2190750" y="386715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0B0B0D"/>
                </a:solidFill>
              </a:defRPr>
            </a:pPr>
            <a:r>
              <a:rPr sz="1275" b="1" i="0">
                <a:solidFill>
                  <a:srgbClr val="0B0B0D"/>
                </a:solidFill>
              </a:rPr>
              <a:t>See live channel, context, confidence, and control state</a:t>
            </a:r>
          </a:p>
        </p:txBody>
      </p:sp>
      <p:sp>
        <p:nvSpPr>
          <p:cNvPr id="8" name="">
            <a:extLst xmlns:a="http://schemas.openxmlformats.org/drawingml/2006/main">
              <a:ext uri="{FF2B5EF4-FFF2-40B4-BE49-F238E27FC236}">
                <a16:creationId xmlns:a16="http://schemas.microsoft.com/office/drawing/2014/main" id="{2D5404B9-E069-4A14-B5BC-B246584398F6}"/>
              </a:ext>
            </a:extLst>
          </p:cNvPr>
          <p:cNvSpPr>
            <a:spLocks xmlns:a="http://schemas.openxmlformats.org/drawingml/2006/main" noGrp="1"/>
          </p:cNvSpPr>
          <p:nvPr/>
        </p:nvSpPr>
        <p:spPr>
          <a:xfrm xmlns:a="http://schemas.openxmlformats.org/drawingml/2006/main">
            <a:off x="704850" y="44577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E4002B"/>
                </a:solidFill>
              </a:defRPr>
            </a:pPr>
            <a:r>
              <a:rPr sz="1050" b="1" i="0">
                <a:solidFill>
                  <a:srgbClr val="E4002B"/>
                </a:solidFill>
              </a:rPr>
              <a:t>TAKE OVER</a:t>
            </a:r>
          </a:p>
        </p:txBody>
      </p:sp>
      <p:sp>
        <p:nvSpPr>
          <p:cNvPr id="9" name="">
            <a:extLst xmlns:a="http://schemas.openxmlformats.org/drawingml/2006/main">
              <a:ext uri="{FF2B5EF4-FFF2-40B4-BE49-F238E27FC236}">
                <a16:creationId xmlns:a16="http://schemas.microsoft.com/office/drawing/2014/main" id="{EC6908C8-BF97-4336-A626-ACDAFD0F2720}"/>
              </a:ext>
            </a:extLst>
          </p:cNvPr>
          <p:cNvSpPr>
            <a:spLocks xmlns:a="http://schemas.openxmlformats.org/drawingml/2006/main" noGrp="1"/>
          </p:cNvSpPr>
          <p:nvPr/>
        </p:nvSpPr>
        <p:spPr>
          <a:xfrm xmlns:a="http://schemas.openxmlformats.org/drawingml/2006/main">
            <a:off x="2190750" y="438150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0B0B0D"/>
                </a:solidFill>
              </a:defRPr>
            </a:pPr>
            <a:r>
              <a:rPr sz="1275" b="1" i="0">
                <a:solidFill>
                  <a:srgbClr val="0B0B0D"/>
                </a:solidFill>
              </a:rPr>
              <a:t>A human can join when the session needs help</a:t>
            </a:r>
          </a:p>
        </p:txBody>
      </p:sp>
      <p:sp>
        <p:nvSpPr>
          <p:cNvPr id="10" name="">
            <a:extLst xmlns:a="http://schemas.openxmlformats.org/drawingml/2006/main">
              <a:ext uri="{FF2B5EF4-FFF2-40B4-BE49-F238E27FC236}">
                <a16:creationId xmlns:a16="http://schemas.microsoft.com/office/drawing/2014/main" id="{4E1156D2-4097-459A-A79A-3FFBC63A7FF3}"/>
              </a:ext>
            </a:extLst>
          </p:cNvPr>
          <p:cNvSpPr>
            <a:spLocks xmlns:a="http://schemas.openxmlformats.org/drawingml/2006/main" noGrp="1"/>
          </p:cNvSpPr>
          <p:nvPr/>
        </p:nvSpPr>
        <p:spPr>
          <a:xfrm xmlns:a="http://schemas.openxmlformats.org/drawingml/2006/main">
            <a:off x="704850" y="49720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E4002B"/>
                </a:solidFill>
              </a:defRPr>
            </a:pPr>
            <a:r>
              <a:rPr sz="1050" b="1" i="0">
                <a:solidFill>
                  <a:srgbClr val="E4002B"/>
                </a:solidFill>
              </a:rPr>
              <a:t>RESUME</a:t>
            </a:r>
          </a:p>
        </p:txBody>
      </p:sp>
      <p:sp>
        <p:nvSpPr>
          <p:cNvPr id="11" name="">
            <a:extLst xmlns:a="http://schemas.openxmlformats.org/drawingml/2006/main">
              <a:ext uri="{FF2B5EF4-FFF2-40B4-BE49-F238E27FC236}">
                <a16:creationId xmlns:a16="http://schemas.microsoft.com/office/drawing/2014/main" id="{43F121A8-05F2-4AD1-B74C-D5FA2B9C1D67}"/>
              </a:ext>
            </a:extLst>
          </p:cNvPr>
          <p:cNvSpPr>
            <a:spLocks xmlns:a="http://schemas.openxmlformats.org/drawingml/2006/main" noGrp="1"/>
          </p:cNvSpPr>
          <p:nvPr/>
        </p:nvSpPr>
        <p:spPr>
          <a:xfrm xmlns:a="http://schemas.openxmlformats.org/drawingml/2006/main">
            <a:off x="2190750" y="489585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0B0B0D"/>
                </a:solidFill>
              </a:defRPr>
            </a:pPr>
            <a:r>
              <a:rPr sz="1275" b="1" i="0">
                <a:solidFill>
                  <a:srgbClr val="0B0B0D"/>
                </a:solidFill>
              </a:rPr>
              <a:t>Return control to AI with explicit operator action</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cac307421ebc4f1a"/>
          <a:stretch xmlns:a="http://schemas.openxmlformats.org/drawingml/2006/main"/>
        </p:blipFill>
        <p:spPr>
          <a:xfrm xmlns:a="http://schemas.openxmlformats.org/drawingml/2006/main">
            <a:off x="6191250" y="881955"/>
            <a:ext cx="5048250" cy="4941691"/>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5E888510-3F70-4A92-9AED-807BBF52F127}"/>
              </a:ext>
            </a:extLst>
          </p:cNvPr>
          <p:cNvSpPr>
            <a:spLocks xmlns:a="http://schemas.openxmlformats.org/drawingml/2006/main" noGrp="1"/>
          </p:cNvSpPr>
          <p:nvPr/>
        </p:nvSpPr>
        <p:spPr>
          <a:xfrm xmlns:a="http://schemas.openxmlformats.org/drawingml/2006/main">
            <a:off x="6191250" y="5905500"/>
            <a:ext cx="504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E4002B"/>
                </a:solidFill>
              </a:defRPr>
            </a:pPr>
            <a:r>
              <a:rPr sz="975" b="1" i="0">
                <a:solidFill>
                  <a:srgbClr val="E4002B"/>
                </a:solidFill>
              </a:rPr>
              <a:t>OPERATIONS MONITOR  /  AI HANDLING</a:t>
            </a:r>
          </a:p>
        </p:txBody>
      </p:sp>
      <p:sp>
        <p:nvSpPr>
          <p:cNvPr id="14" name="">
            <a:extLst xmlns:a="http://schemas.openxmlformats.org/drawingml/2006/main">
              <a:ext uri="{FF2B5EF4-FFF2-40B4-BE49-F238E27FC236}">
                <a16:creationId xmlns:a16="http://schemas.microsoft.com/office/drawing/2014/main" id="{1FDC385B-1EF5-4C1D-9183-04EA99BE9374}"/>
              </a:ext>
            </a:extLst>
          </p:cNvPr>
          <p:cNvSpPr>
            <a:spLocks xmlns:a="http://schemas.openxmlformats.org/drawingml/2006/main" noGrp="1"/>
          </p:cNvSpPr>
          <p:nvPr/>
        </p:nvSpPr>
        <p:spPr>
          <a:xfrm xmlns:a="http://schemas.openxmlformats.org/drawingml/2006/main">
            <a:off x="704850" y="5562600"/>
            <a:ext cx="4762500" cy="19050"/>
          </a:xfrm>
          <a:prstGeom xmlns:a="http://schemas.openxmlformats.org/drawingml/2006/main" prst="rect">
            <a:avLst/>
          </a:prstGeom>
          <a:solidFill xmlns:a="http://schemas.openxmlformats.org/drawingml/2006/main">
            <a:srgbClr val="0B0B0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AEFB8F3-3D51-43C1-B2C6-457C2D7A5E7D}"/>
              </a:ext>
            </a:extLst>
          </p:cNvPr>
          <p:cNvSpPr>
            <a:spLocks xmlns:a="http://schemas.openxmlformats.org/drawingml/2006/main" noGrp="1"/>
          </p:cNvSpPr>
          <p:nvPr/>
        </p:nvSpPr>
        <p:spPr>
          <a:xfrm xmlns:a="http://schemas.openxmlformats.org/drawingml/2006/main">
            <a:off x="704850" y="577215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0B0B0D"/>
                </a:solidFill>
              </a:defRPr>
            </a:pPr>
            <a:r>
              <a:rPr sz="1425" b="1" i="0">
                <a:solidFill>
                  <a:srgbClr val="0B0B0D"/>
                </a:solidFill>
              </a:rPr>
              <a:t>Customer control stays explicit—even when the happy path breaks.</a:t>
            </a:r>
          </a:p>
        </p:txBody>
      </p:sp>
      <p:sp>
        <p:nvSpPr>
          <p:cNvPr id="16" name="">
            <a:extLst xmlns:a="http://schemas.openxmlformats.org/drawingml/2006/main">
              <a:ext uri="{FF2B5EF4-FFF2-40B4-BE49-F238E27FC236}">
                <a16:creationId xmlns:a16="http://schemas.microsoft.com/office/drawing/2014/main" id="{656F2F76-CE70-43E8-97A2-0C744A76661F}"/>
              </a:ext>
            </a:extLst>
          </p:cNvPr>
          <p:cNvSpPr>
            <a:spLocks xmlns:a="http://schemas.openxmlformats.org/drawingml/2006/main" noGrp="1"/>
          </p:cNvSpPr>
          <p:nvPr/>
        </p:nvSpPr>
        <p:spPr>
          <a:xfrm xmlns:a="http://schemas.openxmlformats.org/drawingml/2006/main">
            <a:off x="685800" y="6457950"/>
            <a:ext cx="590550" cy="47625"/>
          </a:xfrm>
          <a:prstGeom xmlns:a="http://schemas.openxmlformats.org/drawingml/2006/main" prst="rect">
            <a:avLst/>
          </a:prstGeom>
          <a:solidFill xmlns:a="http://schemas.openxmlformats.org/drawingml/2006/main">
            <a:srgbClr val="E4002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4031CF8-144F-4F8D-BF2A-80B4A2D5FCAF}"/>
              </a:ext>
            </a:extLst>
          </p:cNvPr>
          <p:cNvSpPr>
            <a:spLocks xmlns:a="http://schemas.openxmlformats.org/drawingml/2006/main" noGrp="1"/>
          </p:cNvSpPr>
          <p:nvPr/>
        </p:nvSpPr>
        <p:spPr>
          <a:xfrm xmlns:a="http://schemas.openxmlformats.org/drawingml/2006/main">
            <a:off x="1466850" y="6381750"/>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6F6A63"/>
                </a:solidFill>
              </a:defRPr>
            </a:pPr>
            <a:r>
              <a:rPr sz="825" b="1" i="0">
                <a:solidFill>
                  <a:srgbClr val="6F6A63"/>
                </a:solidFill>
              </a:rPr>
              <a:t>TEAM BRAISE  /  KFC COMMERCE AGENT</a:t>
            </a:r>
          </a:p>
        </p:txBody>
      </p:sp>
    </p:spTree>
    <p:extLst>
      <p:ext uri="{BB962C8B-B14F-4D97-AF65-F5344CB8AC3E}">
        <p14:creationId xmlns:p14="http://schemas.microsoft.com/office/powerpoint/2010/main" val="656908028"/>
      </p:ext>
    </p:extLst>
  </p:cSld>
</p:sld>
</file>

<file path=ppt/slides/slide7.xml><?xml version="1.0" encoding="utf-8"?>
<p:sld xmlns:p="http://schemas.openxmlformats.org/presentationml/2006/main">
  <p:cSld>
    <p:bg>
      <p:bgPr>
        <a:solidFill xmlns:a="http://schemas.openxmlformats.org/drawingml/2006/main">
          <a:srgbClr val="0B0B0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337935A-58D3-43CC-AB10-E62FFDE23845}"/>
              </a:ext>
            </a:extLst>
          </p:cNvPr>
          <p:cNvSpPr>
            <a:spLocks xmlns:a="http://schemas.openxmlformats.org/drawingml/2006/main" noGrp="1"/>
          </p:cNvSpPr>
          <p:nvPr/>
        </p:nvSpPr>
        <p:spPr>
          <a:xfrm xmlns:a="http://schemas.openxmlformats.org/drawingml/2006/main">
            <a:off x="685800" y="495300"/>
            <a:ext cx="428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E4002B"/>
                </a:solidFill>
              </a:defRPr>
            </a:pPr>
            <a:r>
              <a:rPr sz="1125" b="1" i="0">
                <a:solidFill>
                  <a:srgbClr val="E4002B"/>
                </a:solidFill>
              </a:rPr>
              <a:t>05  /  EVIDENCE</a:t>
            </a:r>
          </a:p>
        </p:txBody>
      </p:sp>
      <p:sp>
        <p:nvSpPr>
          <p:cNvPr id="2" name="">
            <a:extLst xmlns:a="http://schemas.openxmlformats.org/drawingml/2006/main">
              <a:ext uri="{FF2B5EF4-FFF2-40B4-BE49-F238E27FC236}">
                <a16:creationId xmlns:a16="http://schemas.microsoft.com/office/drawing/2014/main" id="{9A54C390-DFA2-41F4-AB2B-7B3290AA150A}"/>
              </a:ext>
            </a:extLst>
          </p:cNvPr>
          <p:cNvSpPr>
            <a:spLocks xmlns:a="http://schemas.openxmlformats.org/drawingml/2006/main" noGrp="1"/>
          </p:cNvSpPr>
          <p:nvPr/>
        </p:nvSpPr>
        <p:spPr>
          <a:xfrm xmlns:a="http://schemas.openxmlformats.org/drawingml/2006/main">
            <a:off x="11087100" y="4953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i="0">
                <a:solidFill>
                  <a:srgbClr val="FFFFFF"/>
                </a:solidFill>
              </a:defRPr>
            </a:pPr>
            <a:r>
              <a:rPr sz="975" b="1" i="0">
                <a:solidFill>
                  <a:srgbClr val="FFFFFF"/>
                </a:solidFill>
              </a:rPr>
              <a:t>05</a:t>
            </a:r>
          </a:p>
        </p:txBody>
      </p:sp>
      <p:sp>
        <p:nvSpPr>
          <p:cNvPr id="3" name="">
            <a:extLst xmlns:a="http://schemas.openxmlformats.org/drawingml/2006/main">
              <a:ext uri="{FF2B5EF4-FFF2-40B4-BE49-F238E27FC236}">
                <a16:creationId xmlns:a16="http://schemas.microsoft.com/office/drawing/2014/main" id="{1FF93F45-ADB9-4AB5-800C-615D29F6D9D9}"/>
              </a:ext>
            </a:extLst>
          </p:cNvPr>
          <p:cNvSpPr>
            <a:spLocks xmlns:a="http://schemas.openxmlformats.org/drawingml/2006/main" noGrp="1"/>
          </p:cNvSpPr>
          <p:nvPr/>
        </p:nvSpPr>
        <p:spPr>
          <a:xfrm xmlns:a="http://schemas.openxmlformats.org/drawingml/2006/main">
            <a:off x="685800" y="914400"/>
            <a:ext cx="6572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i="0">
                <a:solidFill>
                  <a:srgbClr val="FFFFFF"/>
                </a:solidFill>
              </a:defRPr>
            </a:pPr>
            <a:r>
              <a:rPr sz="3450" b="1" i="0">
                <a:solidFill>
                  <a:srgbClr val="FFFFFF"/>
                </a:solidFill>
              </a:rPr>
              <a:t>We evaluated nine complete</a:t>
            </a:r>
          </a:p>
          <a:p xmlns:a="http://schemas.openxmlformats.org/drawingml/2006/main">
            <a:pPr algn="l">
              <a:defRPr sz="3450" b="1" i="0">
                <a:solidFill>
                  <a:srgbClr val="FFFFFF"/>
                </a:solidFill>
              </a:defRPr>
            </a:pPr>
            <a:r>
              <a:rPr sz="3450" b="1" i="0">
                <a:solidFill>
                  <a:srgbClr val="FFFFFF"/>
                </a:solidFill>
              </a:rPr>
              <a:t>customer outcomes.</a:t>
            </a:r>
          </a:p>
        </p:txBody>
      </p:sp>
      <p:sp>
        <p:nvSpPr>
          <p:cNvPr id="4" name="">
            <a:extLst xmlns:a="http://schemas.openxmlformats.org/drawingml/2006/main">
              <a:ext uri="{FF2B5EF4-FFF2-40B4-BE49-F238E27FC236}">
                <a16:creationId xmlns:a16="http://schemas.microsoft.com/office/drawing/2014/main" id="{4783ECC9-BECA-4B06-BDB1-A03E78BAF637}"/>
              </a:ext>
            </a:extLst>
          </p:cNvPr>
          <p:cNvSpPr>
            <a:spLocks xmlns:a="http://schemas.openxmlformats.org/drawingml/2006/main" noGrp="1"/>
          </p:cNvSpPr>
          <p:nvPr/>
        </p:nvSpPr>
        <p:spPr>
          <a:xfrm xmlns:a="http://schemas.openxmlformats.org/drawingml/2006/main">
            <a:off x="704850" y="1962150"/>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B8B2A8"/>
                </a:solidFill>
              </a:defRPr>
            </a:pPr>
            <a:r>
              <a:rPr sz="1275" b="1" i="0">
                <a:solidFill>
                  <a:srgbClr val="B8B2A8"/>
                </a:solidFill>
              </a:rPr>
              <a:t>Representative scenario evaluation—not a measured business result</a:t>
            </a:r>
          </a:p>
        </p:txBody>
      </p:sp>
      <p:sp>
        <p:nvSpPr>
          <p:cNvPr id="5" name="">
            <a:extLst xmlns:a="http://schemas.openxmlformats.org/drawingml/2006/main">
              <a:ext uri="{FF2B5EF4-FFF2-40B4-BE49-F238E27FC236}">
                <a16:creationId xmlns:a16="http://schemas.microsoft.com/office/drawing/2014/main" id="{FCB52C8C-3260-433F-8041-1BC0B82D713E}"/>
              </a:ext>
            </a:extLst>
          </p:cNvPr>
          <p:cNvSpPr>
            <a:spLocks xmlns:a="http://schemas.openxmlformats.org/drawingml/2006/main" noGrp="1"/>
          </p:cNvSpPr>
          <p:nvPr/>
        </p:nvSpPr>
        <p:spPr>
          <a:xfrm xmlns:a="http://schemas.openxmlformats.org/drawingml/2006/main">
            <a:off x="704850" y="2419350"/>
            <a:ext cx="76200" cy="323850"/>
          </a:xfrm>
          <a:prstGeom xmlns:a="http://schemas.openxmlformats.org/drawingml/2006/main" prst="rect">
            <a:avLst/>
          </a:prstGeom>
          <a:solidFill xmlns:a="http://schemas.openxmlformats.org/drawingml/2006/main">
            <a:srgbClr val="E4002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867CD8A-1E92-4632-86D3-2840BCA2593F}"/>
              </a:ext>
            </a:extLst>
          </p:cNvPr>
          <p:cNvSpPr>
            <a:spLocks xmlns:a="http://schemas.openxmlformats.org/drawingml/2006/main" noGrp="1"/>
          </p:cNvSpPr>
          <p:nvPr/>
        </p:nvSpPr>
        <p:spPr>
          <a:xfrm xmlns:a="http://schemas.openxmlformats.org/drawingml/2006/main">
            <a:off x="914400" y="2438400"/>
            <a:ext cx="2362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FFFFFF"/>
                </a:solidFill>
              </a:defRPr>
            </a:pPr>
            <a:r>
              <a:rPr sz="975" b="1" i="0">
                <a:solidFill>
                  <a:srgbClr val="FFFFFF"/>
                </a:solidFill>
              </a:rPr>
              <a:t>OUTCOME COMPLETED</a:t>
            </a:r>
          </a:p>
        </p:txBody>
      </p:sp>
      <p:sp>
        <p:nvSpPr>
          <p:cNvPr id="7" name="">
            <a:extLst xmlns:a="http://schemas.openxmlformats.org/drawingml/2006/main">
              <a:ext uri="{FF2B5EF4-FFF2-40B4-BE49-F238E27FC236}">
                <a16:creationId xmlns:a16="http://schemas.microsoft.com/office/drawing/2014/main" id="{C5B23AF5-EA55-47A8-8A94-CFDE90CE72A6}"/>
              </a:ext>
            </a:extLst>
          </p:cNvPr>
          <p:cNvSpPr>
            <a:spLocks xmlns:a="http://schemas.openxmlformats.org/drawingml/2006/main" noGrp="1"/>
          </p:cNvSpPr>
          <p:nvPr/>
        </p:nvSpPr>
        <p:spPr>
          <a:xfrm xmlns:a="http://schemas.openxmlformats.org/drawingml/2006/main">
            <a:off x="3409950" y="2419350"/>
            <a:ext cx="76200" cy="323850"/>
          </a:xfrm>
          <a:prstGeom xmlns:a="http://schemas.openxmlformats.org/drawingml/2006/main" prst="rect">
            <a:avLst/>
          </a:prstGeom>
          <a:solidFill xmlns:a="http://schemas.openxmlformats.org/drawingml/2006/main">
            <a:srgbClr val="E4002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443392D-95F8-4152-9F1A-2C86C4C9A28D}"/>
              </a:ext>
            </a:extLst>
          </p:cNvPr>
          <p:cNvSpPr>
            <a:spLocks xmlns:a="http://schemas.openxmlformats.org/drawingml/2006/main" noGrp="1"/>
          </p:cNvSpPr>
          <p:nvPr/>
        </p:nvSpPr>
        <p:spPr>
          <a:xfrm xmlns:a="http://schemas.openxmlformats.org/drawingml/2006/main">
            <a:off x="3619500" y="2438400"/>
            <a:ext cx="2362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FFFFFF"/>
                </a:solidFill>
              </a:defRPr>
            </a:pPr>
            <a:r>
              <a:rPr sz="975" b="1" i="0">
                <a:solidFill>
                  <a:srgbClr val="FFFFFF"/>
                </a:solidFill>
              </a:rPr>
              <a:t>COMMERCE STATE VALID</a:t>
            </a:r>
          </a:p>
        </p:txBody>
      </p:sp>
      <p:sp>
        <p:nvSpPr>
          <p:cNvPr id="9" name="">
            <a:extLst xmlns:a="http://schemas.openxmlformats.org/drawingml/2006/main">
              <a:ext uri="{FF2B5EF4-FFF2-40B4-BE49-F238E27FC236}">
                <a16:creationId xmlns:a16="http://schemas.microsoft.com/office/drawing/2014/main" id="{1EE0E700-D7B7-4132-A48F-904A039D7EE5}"/>
              </a:ext>
            </a:extLst>
          </p:cNvPr>
          <p:cNvSpPr>
            <a:spLocks xmlns:a="http://schemas.openxmlformats.org/drawingml/2006/main" noGrp="1"/>
          </p:cNvSpPr>
          <p:nvPr/>
        </p:nvSpPr>
        <p:spPr>
          <a:xfrm xmlns:a="http://schemas.openxmlformats.org/drawingml/2006/main">
            <a:off x="6115050" y="2419350"/>
            <a:ext cx="76200" cy="323850"/>
          </a:xfrm>
          <a:prstGeom xmlns:a="http://schemas.openxmlformats.org/drawingml/2006/main" prst="rect">
            <a:avLst/>
          </a:prstGeom>
          <a:solidFill xmlns:a="http://schemas.openxmlformats.org/drawingml/2006/main">
            <a:srgbClr val="E4002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16434ED-3F03-49B0-B63F-EDC3F4E29B7D}"/>
              </a:ext>
            </a:extLst>
          </p:cNvPr>
          <p:cNvSpPr>
            <a:spLocks xmlns:a="http://schemas.openxmlformats.org/drawingml/2006/main" noGrp="1"/>
          </p:cNvSpPr>
          <p:nvPr/>
        </p:nvSpPr>
        <p:spPr>
          <a:xfrm xmlns:a="http://schemas.openxmlformats.org/drawingml/2006/main">
            <a:off x="6324600" y="2438400"/>
            <a:ext cx="2362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FFFFFF"/>
                </a:solidFill>
              </a:defRPr>
            </a:pPr>
            <a:r>
              <a:rPr sz="975" b="1" i="0">
                <a:solidFill>
                  <a:srgbClr val="FFFFFF"/>
                </a:solidFill>
              </a:rPr>
              <a:t>APPROVAL ENFORCED</a:t>
            </a:r>
          </a:p>
        </p:txBody>
      </p:sp>
      <p:sp>
        <p:nvSpPr>
          <p:cNvPr id="11" name="">
            <a:extLst xmlns:a="http://schemas.openxmlformats.org/drawingml/2006/main">
              <a:ext uri="{FF2B5EF4-FFF2-40B4-BE49-F238E27FC236}">
                <a16:creationId xmlns:a16="http://schemas.microsoft.com/office/drawing/2014/main" id="{32808E5F-D473-43BB-A156-3C28BB494139}"/>
              </a:ext>
            </a:extLst>
          </p:cNvPr>
          <p:cNvSpPr>
            <a:spLocks xmlns:a="http://schemas.openxmlformats.org/drawingml/2006/main" noGrp="1"/>
          </p:cNvSpPr>
          <p:nvPr/>
        </p:nvSpPr>
        <p:spPr>
          <a:xfrm xmlns:a="http://schemas.openxmlformats.org/drawingml/2006/main">
            <a:off x="8820150" y="2419350"/>
            <a:ext cx="76200" cy="323850"/>
          </a:xfrm>
          <a:prstGeom xmlns:a="http://schemas.openxmlformats.org/drawingml/2006/main" prst="rect">
            <a:avLst/>
          </a:prstGeom>
          <a:solidFill xmlns:a="http://schemas.openxmlformats.org/drawingml/2006/main">
            <a:srgbClr val="E4002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70BAFA4-27E2-45CA-B8D6-2E19243C0F59}"/>
              </a:ext>
            </a:extLst>
          </p:cNvPr>
          <p:cNvSpPr>
            <a:spLocks xmlns:a="http://schemas.openxmlformats.org/drawingml/2006/main" noGrp="1"/>
          </p:cNvSpPr>
          <p:nvPr/>
        </p:nvSpPr>
        <p:spPr>
          <a:xfrm xmlns:a="http://schemas.openxmlformats.org/drawingml/2006/main">
            <a:off x="9029700" y="2438400"/>
            <a:ext cx="2362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FFFFFF"/>
                </a:solidFill>
              </a:defRPr>
            </a:pPr>
            <a:r>
              <a:rPr sz="975" b="1" i="0">
                <a:solidFill>
                  <a:srgbClr val="FFFFFF"/>
                </a:solidFill>
              </a:rPr>
              <a:t>FAILURE RECOVERED OR HANDED OFF</a:t>
            </a:r>
          </a:p>
        </p:txBody>
      </p:sp>
      <p:sp>
        <p:nvSpPr>
          <p:cNvPr id="13" name="">
            <a:extLst xmlns:a="http://schemas.openxmlformats.org/drawingml/2006/main">
              <a:ext uri="{FF2B5EF4-FFF2-40B4-BE49-F238E27FC236}">
                <a16:creationId xmlns:a16="http://schemas.microsoft.com/office/drawing/2014/main" id="{FF893BD4-A037-4E92-959C-30C3A495F068}"/>
              </a:ext>
            </a:extLst>
          </p:cNvPr>
          <p:cNvSpPr>
            <a:spLocks xmlns:a="http://schemas.openxmlformats.org/drawingml/2006/main" noGrp="1"/>
          </p:cNvSpPr>
          <p:nvPr/>
        </p:nvSpPr>
        <p:spPr>
          <a:xfrm xmlns:a="http://schemas.openxmlformats.org/drawingml/2006/main">
            <a:off x="704850" y="3143250"/>
            <a:ext cx="2724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E4002B"/>
                </a:solidFill>
              </a:defRPr>
            </a:pPr>
            <a:r>
              <a:rPr sz="1050" b="1" i="0">
                <a:solidFill>
                  <a:srgbClr val="E4002B"/>
                </a:solidFill>
              </a:rPr>
              <a:t>ORDERING</a:t>
            </a:r>
          </a:p>
        </p:txBody>
      </p:sp>
      <p:sp>
        <p:nvSpPr>
          <p:cNvPr id="14" name="">
            <a:extLst xmlns:a="http://schemas.openxmlformats.org/drawingml/2006/main">
              <a:ext uri="{FF2B5EF4-FFF2-40B4-BE49-F238E27FC236}">
                <a16:creationId xmlns:a16="http://schemas.microsoft.com/office/drawing/2014/main" id="{07D53C63-F16C-4BF8-BDAB-1285982CEA9B}"/>
              </a:ext>
            </a:extLst>
          </p:cNvPr>
          <p:cNvSpPr>
            <a:spLocks xmlns:a="http://schemas.openxmlformats.org/drawingml/2006/main" noGrp="1"/>
          </p:cNvSpPr>
          <p:nvPr/>
        </p:nvSpPr>
        <p:spPr>
          <a:xfrm xmlns:a="http://schemas.openxmlformats.org/drawingml/2006/main">
            <a:off x="704850" y="3448050"/>
            <a:ext cx="2724150" cy="9525"/>
          </a:xfrm>
          <a:prstGeom xmlns:a="http://schemas.openxmlformats.org/drawingml/2006/main" prst="rect">
            <a:avLst/>
          </a:prstGeom>
          <a:solidFill xmlns:a="http://schemas.openxmlformats.org/drawingml/2006/main">
            <a:srgbClr val="55515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AA4ED95-2E8F-4379-8B70-B217CC3E830F}"/>
              </a:ext>
            </a:extLst>
          </p:cNvPr>
          <p:cNvSpPr>
            <a:spLocks xmlns:a="http://schemas.openxmlformats.org/drawingml/2006/main" noGrp="1"/>
          </p:cNvSpPr>
          <p:nvPr/>
        </p:nvSpPr>
        <p:spPr>
          <a:xfrm xmlns:a="http://schemas.openxmlformats.org/drawingml/2006/main">
            <a:off x="704850" y="3638550"/>
            <a:ext cx="2724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FFFFFF"/>
                </a:solidFill>
              </a:defRPr>
            </a:pPr>
            <a:r>
              <a:rPr sz="1125" b="1" i="0">
                <a:solidFill>
                  <a:srgbClr val="FFFFFF"/>
                </a:solidFill>
              </a:rPr>
              <a:t>01  Clear order + confirmation</a:t>
            </a:r>
          </a:p>
        </p:txBody>
      </p:sp>
      <p:sp>
        <p:nvSpPr>
          <p:cNvPr id="16" name="">
            <a:extLst xmlns:a="http://schemas.openxmlformats.org/drawingml/2006/main">
              <a:ext uri="{FF2B5EF4-FFF2-40B4-BE49-F238E27FC236}">
                <a16:creationId xmlns:a16="http://schemas.microsoft.com/office/drawing/2014/main" id="{FC6E937F-01B8-47F2-A5FB-84E69EA265B2}"/>
              </a:ext>
            </a:extLst>
          </p:cNvPr>
          <p:cNvSpPr>
            <a:spLocks xmlns:a="http://schemas.openxmlformats.org/drawingml/2006/main" noGrp="1"/>
          </p:cNvSpPr>
          <p:nvPr/>
        </p:nvSpPr>
        <p:spPr>
          <a:xfrm xmlns:a="http://schemas.openxmlformats.org/drawingml/2006/main">
            <a:off x="704850" y="4095750"/>
            <a:ext cx="2724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FFFFFF"/>
                </a:solidFill>
              </a:defRPr>
            </a:pPr>
            <a:r>
              <a:rPr sz="1125" b="1" i="0">
                <a:solidFill>
                  <a:srgbClr val="FFFFFF"/>
                </a:solidFill>
              </a:rPr>
              <a:t>02  Combo recommendation + upsell</a:t>
            </a:r>
          </a:p>
        </p:txBody>
      </p:sp>
      <p:sp>
        <p:nvSpPr>
          <p:cNvPr id="17" name="">
            <a:extLst xmlns:a="http://schemas.openxmlformats.org/drawingml/2006/main">
              <a:ext uri="{FF2B5EF4-FFF2-40B4-BE49-F238E27FC236}">
                <a16:creationId xmlns:a16="http://schemas.microsoft.com/office/drawing/2014/main" id="{0254DAA5-5AEE-4C52-96F1-9D39872FD24B}"/>
              </a:ext>
            </a:extLst>
          </p:cNvPr>
          <p:cNvSpPr>
            <a:spLocks xmlns:a="http://schemas.openxmlformats.org/drawingml/2006/main" noGrp="1"/>
          </p:cNvSpPr>
          <p:nvPr/>
        </p:nvSpPr>
        <p:spPr>
          <a:xfrm xmlns:a="http://schemas.openxmlformats.org/drawingml/2006/main">
            <a:off x="704850" y="4552950"/>
            <a:ext cx="2724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FFFFFF"/>
                </a:solidFill>
              </a:defRPr>
            </a:pPr>
            <a:r>
              <a:rPr sz="1125" b="1" i="0">
                <a:solidFill>
                  <a:srgbClr val="FFFFFF"/>
                </a:solidFill>
              </a:rPr>
              <a:t>06  Natural-language safety</a:t>
            </a:r>
          </a:p>
        </p:txBody>
      </p:sp>
      <p:sp>
        <p:nvSpPr>
          <p:cNvPr id="18" name="">
            <a:extLst xmlns:a="http://schemas.openxmlformats.org/drawingml/2006/main">
              <a:ext uri="{FF2B5EF4-FFF2-40B4-BE49-F238E27FC236}">
                <a16:creationId xmlns:a16="http://schemas.microsoft.com/office/drawing/2014/main" id="{810A408C-2838-415D-B91E-DC2035EE0DF4}"/>
              </a:ext>
            </a:extLst>
          </p:cNvPr>
          <p:cNvSpPr>
            <a:spLocks xmlns:a="http://schemas.openxmlformats.org/drawingml/2006/main" noGrp="1"/>
          </p:cNvSpPr>
          <p:nvPr/>
        </p:nvSpPr>
        <p:spPr>
          <a:xfrm xmlns:a="http://schemas.openxmlformats.org/drawingml/2006/main">
            <a:off x="704850" y="5010150"/>
            <a:ext cx="2724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FFFFFF"/>
                </a:solidFill>
              </a:defRPr>
            </a:pPr>
            <a:r>
              <a:rPr sz="1125" b="1" i="0">
                <a:solidFill>
                  <a:srgbClr val="FFFFFF"/>
                </a:solidFill>
              </a:rPr>
              <a:t>07  Personalization + loyalty</a:t>
            </a:r>
          </a:p>
        </p:txBody>
      </p:sp>
      <p:sp>
        <p:nvSpPr>
          <p:cNvPr id="19" name="">
            <a:extLst xmlns:a="http://schemas.openxmlformats.org/drawingml/2006/main">
              <a:ext uri="{FF2B5EF4-FFF2-40B4-BE49-F238E27FC236}">
                <a16:creationId xmlns:a16="http://schemas.microsoft.com/office/drawing/2014/main" id="{8B47B1C2-F0DF-461A-A430-0AF18F191239}"/>
              </a:ext>
            </a:extLst>
          </p:cNvPr>
          <p:cNvSpPr>
            <a:spLocks xmlns:a="http://schemas.openxmlformats.org/drawingml/2006/main" noGrp="1"/>
          </p:cNvSpPr>
          <p:nvPr/>
        </p:nvSpPr>
        <p:spPr>
          <a:xfrm xmlns:a="http://schemas.openxmlformats.org/drawingml/2006/main">
            <a:off x="3562350" y="3086100"/>
            <a:ext cx="9525" cy="2305050"/>
          </a:xfrm>
          <a:prstGeom xmlns:a="http://schemas.openxmlformats.org/drawingml/2006/main" prst="rect">
            <a:avLst/>
          </a:prstGeom>
          <a:solidFill xmlns:a="http://schemas.openxmlformats.org/drawingml/2006/main">
            <a:srgbClr val="27272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C553DAB-7616-4AEC-8AA0-675A4BAB97BB}"/>
              </a:ext>
            </a:extLst>
          </p:cNvPr>
          <p:cNvSpPr>
            <a:spLocks xmlns:a="http://schemas.openxmlformats.org/drawingml/2006/main" noGrp="1"/>
          </p:cNvSpPr>
          <p:nvPr/>
        </p:nvSpPr>
        <p:spPr>
          <a:xfrm xmlns:a="http://schemas.openxmlformats.org/drawingml/2006/main">
            <a:off x="3714750" y="31432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E4002B"/>
                </a:solidFill>
              </a:defRPr>
            </a:pPr>
            <a:r>
              <a:rPr sz="1050" b="1" i="0">
                <a:solidFill>
                  <a:srgbClr val="E4002B"/>
                </a:solidFill>
              </a:rPr>
              <a:t>FULFILLMENT</a:t>
            </a:r>
          </a:p>
        </p:txBody>
      </p:sp>
      <p:sp>
        <p:nvSpPr>
          <p:cNvPr id="21" name="">
            <a:extLst xmlns:a="http://schemas.openxmlformats.org/drawingml/2006/main">
              <a:ext uri="{FF2B5EF4-FFF2-40B4-BE49-F238E27FC236}">
                <a16:creationId xmlns:a16="http://schemas.microsoft.com/office/drawing/2014/main" id="{35E7F850-0214-49CD-9282-6024F1BEA3DE}"/>
              </a:ext>
            </a:extLst>
          </p:cNvPr>
          <p:cNvSpPr>
            <a:spLocks xmlns:a="http://schemas.openxmlformats.org/drawingml/2006/main" noGrp="1"/>
          </p:cNvSpPr>
          <p:nvPr/>
        </p:nvSpPr>
        <p:spPr>
          <a:xfrm xmlns:a="http://schemas.openxmlformats.org/drawingml/2006/main">
            <a:off x="3714750" y="3448050"/>
            <a:ext cx="2190750" cy="9525"/>
          </a:xfrm>
          <a:prstGeom xmlns:a="http://schemas.openxmlformats.org/drawingml/2006/main" prst="rect">
            <a:avLst/>
          </a:prstGeom>
          <a:solidFill xmlns:a="http://schemas.openxmlformats.org/drawingml/2006/main">
            <a:srgbClr val="55515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568AF2B-417D-454C-A57D-44DAF7E377C0}"/>
              </a:ext>
            </a:extLst>
          </p:cNvPr>
          <p:cNvSpPr>
            <a:spLocks xmlns:a="http://schemas.openxmlformats.org/drawingml/2006/main" noGrp="1"/>
          </p:cNvSpPr>
          <p:nvPr/>
        </p:nvSpPr>
        <p:spPr>
          <a:xfrm xmlns:a="http://schemas.openxmlformats.org/drawingml/2006/main">
            <a:off x="3714750" y="3638550"/>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FFFFFF"/>
                </a:solidFill>
              </a:defRPr>
            </a:pPr>
            <a:r>
              <a:rPr sz="1125" b="1" i="0">
                <a:solidFill>
                  <a:srgbClr val="FFFFFF"/>
                </a:solidFill>
              </a:rPr>
              <a:t>03  Inventory + address + store</a:t>
            </a:r>
          </a:p>
        </p:txBody>
      </p:sp>
      <p:sp>
        <p:nvSpPr>
          <p:cNvPr id="23" name="">
            <a:extLst xmlns:a="http://schemas.openxmlformats.org/drawingml/2006/main">
              <a:ext uri="{FF2B5EF4-FFF2-40B4-BE49-F238E27FC236}">
                <a16:creationId xmlns:a16="http://schemas.microsoft.com/office/drawing/2014/main" id="{74CE2695-D323-4510-8D71-42B7E590FF53}"/>
              </a:ext>
            </a:extLst>
          </p:cNvPr>
          <p:cNvSpPr>
            <a:spLocks xmlns:a="http://schemas.openxmlformats.org/drawingml/2006/main" noGrp="1"/>
          </p:cNvSpPr>
          <p:nvPr/>
        </p:nvSpPr>
        <p:spPr>
          <a:xfrm xmlns:a="http://schemas.openxmlformats.org/drawingml/2006/main">
            <a:off x="6038850" y="3086100"/>
            <a:ext cx="9525" cy="2305050"/>
          </a:xfrm>
          <a:prstGeom xmlns:a="http://schemas.openxmlformats.org/drawingml/2006/main" prst="rect">
            <a:avLst/>
          </a:prstGeom>
          <a:solidFill xmlns:a="http://schemas.openxmlformats.org/drawingml/2006/main">
            <a:srgbClr val="27272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8A164910-76F1-417A-BBD1-BCBC7EF798DD}"/>
              </a:ext>
            </a:extLst>
          </p:cNvPr>
          <p:cNvSpPr>
            <a:spLocks xmlns:a="http://schemas.openxmlformats.org/drawingml/2006/main" noGrp="1"/>
          </p:cNvSpPr>
          <p:nvPr/>
        </p:nvSpPr>
        <p:spPr>
          <a:xfrm xmlns:a="http://schemas.openxmlformats.org/drawingml/2006/main">
            <a:off x="6191250" y="31432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E4002B"/>
                </a:solidFill>
              </a:defRPr>
            </a:pPr>
            <a:r>
              <a:rPr sz="1050" b="1" i="0">
                <a:solidFill>
                  <a:srgbClr val="E4002B"/>
                </a:solidFill>
              </a:rPr>
              <a:t>PAYMENT</a:t>
            </a:r>
          </a:p>
        </p:txBody>
      </p:sp>
      <p:sp>
        <p:nvSpPr>
          <p:cNvPr id="25" name="">
            <a:extLst xmlns:a="http://schemas.openxmlformats.org/drawingml/2006/main">
              <a:ext uri="{FF2B5EF4-FFF2-40B4-BE49-F238E27FC236}">
                <a16:creationId xmlns:a16="http://schemas.microsoft.com/office/drawing/2014/main" id="{D0F331A1-B8F4-46D6-97D7-C11351AD3126}"/>
              </a:ext>
            </a:extLst>
          </p:cNvPr>
          <p:cNvSpPr>
            <a:spLocks xmlns:a="http://schemas.openxmlformats.org/drawingml/2006/main" noGrp="1"/>
          </p:cNvSpPr>
          <p:nvPr/>
        </p:nvSpPr>
        <p:spPr>
          <a:xfrm xmlns:a="http://schemas.openxmlformats.org/drawingml/2006/main">
            <a:off x="6191250" y="3448050"/>
            <a:ext cx="2190750" cy="9525"/>
          </a:xfrm>
          <a:prstGeom xmlns:a="http://schemas.openxmlformats.org/drawingml/2006/main" prst="rect">
            <a:avLst/>
          </a:prstGeom>
          <a:solidFill xmlns:a="http://schemas.openxmlformats.org/drawingml/2006/main">
            <a:srgbClr val="55515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1BD4D0B-872F-43F3-8D65-7C178CB48BE4}"/>
              </a:ext>
            </a:extLst>
          </p:cNvPr>
          <p:cNvSpPr>
            <a:spLocks xmlns:a="http://schemas.openxmlformats.org/drawingml/2006/main" noGrp="1"/>
          </p:cNvSpPr>
          <p:nvPr/>
        </p:nvSpPr>
        <p:spPr>
          <a:xfrm xmlns:a="http://schemas.openxmlformats.org/drawingml/2006/main">
            <a:off x="6191250" y="3638550"/>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FFFFFF"/>
                </a:solidFill>
              </a:defRPr>
            </a:pPr>
            <a:r>
              <a:rPr sz="1125" b="1" i="0">
                <a:solidFill>
                  <a:srgbClr val="FFFFFF"/>
                </a:solidFill>
              </a:rPr>
              <a:t>08  Payment failure + anomaly</a:t>
            </a:r>
          </a:p>
        </p:txBody>
      </p:sp>
      <p:sp>
        <p:nvSpPr>
          <p:cNvPr id="27" name="">
            <a:extLst xmlns:a="http://schemas.openxmlformats.org/drawingml/2006/main">
              <a:ext uri="{FF2B5EF4-FFF2-40B4-BE49-F238E27FC236}">
                <a16:creationId xmlns:a16="http://schemas.microsoft.com/office/drawing/2014/main" id="{17151A2A-3D76-489B-85B3-60632FA2D2D7}"/>
              </a:ext>
            </a:extLst>
          </p:cNvPr>
          <p:cNvSpPr>
            <a:spLocks xmlns:a="http://schemas.openxmlformats.org/drawingml/2006/main" noGrp="1"/>
          </p:cNvSpPr>
          <p:nvPr/>
        </p:nvSpPr>
        <p:spPr>
          <a:xfrm xmlns:a="http://schemas.openxmlformats.org/drawingml/2006/main">
            <a:off x="6191250" y="4095750"/>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FFFFFF"/>
                </a:solidFill>
              </a:defRPr>
            </a:pPr>
            <a:r>
              <a:rPr sz="1125" b="1" i="0">
                <a:solidFill>
                  <a:srgbClr val="FFFFFF"/>
                </a:solidFill>
              </a:rPr>
              <a:t>09  Payment method</a:t>
            </a:r>
          </a:p>
        </p:txBody>
      </p:sp>
      <p:sp>
        <p:nvSpPr>
          <p:cNvPr id="28" name="">
            <a:extLst xmlns:a="http://schemas.openxmlformats.org/drawingml/2006/main">
              <a:ext uri="{FF2B5EF4-FFF2-40B4-BE49-F238E27FC236}">
                <a16:creationId xmlns:a16="http://schemas.microsoft.com/office/drawing/2014/main" id="{7DD64620-4A8B-4F17-A069-B969142A97B7}"/>
              </a:ext>
            </a:extLst>
          </p:cNvPr>
          <p:cNvSpPr>
            <a:spLocks xmlns:a="http://schemas.openxmlformats.org/drawingml/2006/main" noGrp="1"/>
          </p:cNvSpPr>
          <p:nvPr/>
        </p:nvSpPr>
        <p:spPr>
          <a:xfrm xmlns:a="http://schemas.openxmlformats.org/drawingml/2006/main">
            <a:off x="8515350" y="3086100"/>
            <a:ext cx="9525" cy="2305050"/>
          </a:xfrm>
          <a:prstGeom xmlns:a="http://schemas.openxmlformats.org/drawingml/2006/main" prst="rect">
            <a:avLst/>
          </a:prstGeom>
          <a:solidFill xmlns:a="http://schemas.openxmlformats.org/drawingml/2006/main">
            <a:srgbClr val="27272A"/>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E41ED6FC-B9CB-456C-8F22-3317124FE240}"/>
              </a:ext>
            </a:extLst>
          </p:cNvPr>
          <p:cNvSpPr>
            <a:spLocks xmlns:a="http://schemas.openxmlformats.org/drawingml/2006/main" noGrp="1"/>
          </p:cNvSpPr>
          <p:nvPr/>
        </p:nvSpPr>
        <p:spPr>
          <a:xfrm xmlns:a="http://schemas.openxmlformats.org/drawingml/2006/main">
            <a:off x="8763000" y="314325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E4002B"/>
                </a:solidFill>
              </a:defRPr>
            </a:pPr>
            <a:r>
              <a:rPr sz="1050" b="1" i="0">
                <a:solidFill>
                  <a:srgbClr val="E4002B"/>
                </a:solidFill>
              </a:rPr>
              <a:t>RECOVERY</a:t>
            </a:r>
          </a:p>
        </p:txBody>
      </p:sp>
      <p:sp>
        <p:nvSpPr>
          <p:cNvPr id="30" name="">
            <a:extLst xmlns:a="http://schemas.openxmlformats.org/drawingml/2006/main">
              <a:ext uri="{FF2B5EF4-FFF2-40B4-BE49-F238E27FC236}">
                <a16:creationId xmlns:a16="http://schemas.microsoft.com/office/drawing/2014/main" id="{67F2BDD6-729F-4FD5-90DD-48DE4CDF663B}"/>
              </a:ext>
            </a:extLst>
          </p:cNvPr>
          <p:cNvSpPr>
            <a:spLocks xmlns:a="http://schemas.openxmlformats.org/drawingml/2006/main" noGrp="1"/>
          </p:cNvSpPr>
          <p:nvPr/>
        </p:nvSpPr>
        <p:spPr>
          <a:xfrm xmlns:a="http://schemas.openxmlformats.org/drawingml/2006/main">
            <a:off x="8763000" y="3448050"/>
            <a:ext cx="2571750" cy="9525"/>
          </a:xfrm>
          <a:prstGeom xmlns:a="http://schemas.openxmlformats.org/drawingml/2006/main" prst="rect">
            <a:avLst/>
          </a:prstGeom>
          <a:solidFill xmlns:a="http://schemas.openxmlformats.org/drawingml/2006/main">
            <a:srgbClr val="55515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40F720C0-A3F9-4E82-B52F-00BEEF5B5414}"/>
              </a:ext>
            </a:extLst>
          </p:cNvPr>
          <p:cNvSpPr>
            <a:spLocks xmlns:a="http://schemas.openxmlformats.org/drawingml/2006/main" noGrp="1"/>
          </p:cNvSpPr>
          <p:nvPr/>
        </p:nvSpPr>
        <p:spPr>
          <a:xfrm xmlns:a="http://schemas.openxmlformats.org/drawingml/2006/main">
            <a:off x="8763000" y="363855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FFFFFF"/>
                </a:solidFill>
              </a:defRPr>
            </a:pPr>
            <a:r>
              <a:rPr sz="1125" b="1" i="0">
                <a:solidFill>
                  <a:srgbClr val="FFFFFF"/>
                </a:solidFill>
              </a:rPr>
              <a:t>04  Post-order support</a:t>
            </a:r>
          </a:p>
        </p:txBody>
      </p:sp>
      <p:sp>
        <p:nvSpPr>
          <p:cNvPr id="32" name="">
            <a:extLst xmlns:a="http://schemas.openxmlformats.org/drawingml/2006/main">
              <a:ext uri="{FF2B5EF4-FFF2-40B4-BE49-F238E27FC236}">
                <a16:creationId xmlns:a16="http://schemas.microsoft.com/office/drawing/2014/main" id="{EE715406-D044-42FE-A099-652125B5D75E}"/>
              </a:ext>
            </a:extLst>
          </p:cNvPr>
          <p:cNvSpPr>
            <a:spLocks xmlns:a="http://schemas.openxmlformats.org/drawingml/2006/main" noGrp="1"/>
          </p:cNvSpPr>
          <p:nvPr/>
        </p:nvSpPr>
        <p:spPr>
          <a:xfrm xmlns:a="http://schemas.openxmlformats.org/drawingml/2006/main">
            <a:off x="8763000" y="409575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FFFFFF"/>
                </a:solidFill>
              </a:defRPr>
            </a:pPr>
            <a:r>
              <a:rPr sz="1125" b="1" i="0">
                <a:solidFill>
                  <a:srgbClr val="FFFFFF"/>
                </a:solidFill>
              </a:rPr>
              <a:t>05  Complaint + human handoff</a:t>
            </a:r>
          </a:p>
        </p:txBody>
      </p:sp>
      <p:sp>
        <p:nvSpPr>
          <p:cNvPr id="33" name="">
            <a:extLst xmlns:a="http://schemas.openxmlformats.org/drawingml/2006/main">
              <a:ext uri="{FF2B5EF4-FFF2-40B4-BE49-F238E27FC236}">
                <a16:creationId xmlns:a16="http://schemas.microsoft.com/office/drawing/2014/main" id="{BA184F53-04F1-4D57-896A-223A25437E26}"/>
              </a:ext>
            </a:extLst>
          </p:cNvPr>
          <p:cNvSpPr>
            <a:spLocks xmlns:a="http://schemas.openxmlformats.org/drawingml/2006/main" noGrp="1"/>
          </p:cNvSpPr>
          <p:nvPr/>
        </p:nvSpPr>
        <p:spPr>
          <a:xfrm xmlns:a="http://schemas.openxmlformats.org/drawingml/2006/main">
            <a:off x="685800" y="5467350"/>
            <a:ext cx="10820400" cy="19050"/>
          </a:xfrm>
          <a:prstGeom xmlns:a="http://schemas.openxmlformats.org/drawingml/2006/main" prst="rect">
            <a:avLst/>
          </a:prstGeom>
          <a:solidFill xmlns:a="http://schemas.openxmlformats.org/drawingml/2006/main">
            <a:srgbClr val="27272A"/>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57E70EE2-6984-45A6-B685-C231BF23BFDD}"/>
              </a:ext>
            </a:extLst>
          </p:cNvPr>
          <p:cNvSpPr>
            <a:spLocks xmlns:a="http://schemas.openxmlformats.org/drawingml/2006/main" noGrp="1"/>
          </p:cNvSpPr>
          <p:nvPr/>
        </p:nvSpPr>
        <p:spPr>
          <a:xfrm xmlns:a="http://schemas.openxmlformats.org/drawingml/2006/main">
            <a:off x="704850" y="56769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E4002B"/>
                </a:solidFill>
              </a:defRPr>
            </a:pPr>
            <a:r>
              <a:rPr sz="975" b="1" i="0">
                <a:solidFill>
                  <a:srgbClr val="E4002B"/>
                </a:solidFill>
              </a:rPr>
              <a:t>CONTINUOUS QUALITY LOOP</a:t>
            </a:r>
          </a:p>
        </p:txBody>
      </p:sp>
      <p:sp>
        <p:nvSpPr>
          <p:cNvPr id="35" name="">
            <a:extLst xmlns:a="http://schemas.openxmlformats.org/drawingml/2006/main">
              <a:ext uri="{FF2B5EF4-FFF2-40B4-BE49-F238E27FC236}">
                <a16:creationId xmlns:a16="http://schemas.microsoft.com/office/drawing/2014/main" id="{375ADE0C-9B0F-4FA2-A9D4-E24FFDCB4777}"/>
              </a:ext>
            </a:extLst>
          </p:cNvPr>
          <p:cNvSpPr>
            <a:spLocks xmlns:a="http://schemas.openxmlformats.org/drawingml/2006/main" noGrp="1"/>
          </p:cNvSpPr>
          <p:nvPr/>
        </p:nvSpPr>
        <p:spPr>
          <a:xfrm xmlns:a="http://schemas.openxmlformats.org/drawingml/2006/main">
            <a:off x="2781300" y="561975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FFFFFF"/>
                </a:solidFill>
              </a:defRPr>
            </a:pPr>
            <a:r>
              <a:rPr sz="1200" b="1" i="0">
                <a:solidFill>
                  <a:srgbClr val="FFFFFF"/>
                </a:solidFill>
              </a:rPr>
              <a:t>OBSERVE LOGS</a:t>
            </a:r>
          </a:p>
        </p:txBody>
      </p:sp>
      <p:sp>
        <p:nvSpPr>
          <p:cNvPr id="36" name="">
            <a:extLst xmlns:a="http://schemas.openxmlformats.org/drawingml/2006/main">
              <a:ext uri="{FF2B5EF4-FFF2-40B4-BE49-F238E27FC236}">
                <a16:creationId xmlns:a16="http://schemas.microsoft.com/office/drawing/2014/main" id="{F985EB6B-8AC2-4CF0-A845-4E7907B0D983}"/>
              </a:ext>
            </a:extLst>
          </p:cNvPr>
          <p:cNvSpPr>
            <a:spLocks xmlns:a="http://schemas.openxmlformats.org/drawingml/2006/main" noGrp="1"/>
          </p:cNvSpPr>
          <p:nvPr/>
        </p:nvSpPr>
        <p:spPr>
          <a:xfrm xmlns:a="http://schemas.openxmlformats.org/drawingml/2006/main">
            <a:off x="4191000" y="561975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E4002B"/>
                </a:solidFill>
              </a:defRPr>
            </a:pPr>
            <a:r>
              <a:rPr sz="1350" b="1" i="0">
                <a:solidFill>
                  <a:srgbClr val="E4002B"/>
                </a:solidFill>
              </a:rPr>
              <a:t>→</a:t>
            </a:r>
          </a:p>
        </p:txBody>
      </p:sp>
      <p:sp>
        <p:nvSpPr>
          <p:cNvPr id="37" name="">
            <a:extLst xmlns:a="http://schemas.openxmlformats.org/drawingml/2006/main">
              <a:ext uri="{FF2B5EF4-FFF2-40B4-BE49-F238E27FC236}">
                <a16:creationId xmlns:a16="http://schemas.microsoft.com/office/drawing/2014/main" id="{2748BC72-3F9C-4D52-B033-B1B627220371}"/>
              </a:ext>
            </a:extLst>
          </p:cNvPr>
          <p:cNvSpPr>
            <a:spLocks xmlns:a="http://schemas.openxmlformats.org/drawingml/2006/main" noGrp="1"/>
          </p:cNvSpPr>
          <p:nvPr/>
        </p:nvSpPr>
        <p:spPr>
          <a:xfrm xmlns:a="http://schemas.openxmlformats.org/drawingml/2006/main">
            <a:off x="4857750" y="561975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FFFFFF"/>
                </a:solidFill>
              </a:defRPr>
            </a:pPr>
            <a:r>
              <a:rPr sz="1200" b="1" i="0">
                <a:solidFill>
                  <a:srgbClr val="FFFFFF"/>
                </a:solidFill>
              </a:rPr>
              <a:t>FIND GAPS</a:t>
            </a:r>
          </a:p>
        </p:txBody>
      </p:sp>
      <p:sp>
        <p:nvSpPr>
          <p:cNvPr id="38" name="">
            <a:extLst xmlns:a="http://schemas.openxmlformats.org/drawingml/2006/main">
              <a:ext uri="{FF2B5EF4-FFF2-40B4-BE49-F238E27FC236}">
                <a16:creationId xmlns:a16="http://schemas.microsoft.com/office/drawing/2014/main" id="{141B87E1-0A5F-4612-9210-C4559D8D5A6B}"/>
              </a:ext>
            </a:extLst>
          </p:cNvPr>
          <p:cNvSpPr>
            <a:spLocks xmlns:a="http://schemas.openxmlformats.org/drawingml/2006/main" noGrp="1"/>
          </p:cNvSpPr>
          <p:nvPr/>
        </p:nvSpPr>
        <p:spPr>
          <a:xfrm xmlns:a="http://schemas.openxmlformats.org/drawingml/2006/main">
            <a:off x="6267450" y="561975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E4002B"/>
                </a:solidFill>
              </a:defRPr>
            </a:pPr>
            <a:r>
              <a:rPr sz="1350" b="1" i="0">
                <a:solidFill>
                  <a:srgbClr val="E4002B"/>
                </a:solidFill>
              </a:rPr>
              <a:t>→</a:t>
            </a:r>
          </a:p>
        </p:txBody>
      </p:sp>
      <p:sp>
        <p:nvSpPr>
          <p:cNvPr id="39" name="">
            <a:extLst xmlns:a="http://schemas.openxmlformats.org/drawingml/2006/main">
              <a:ext uri="{FF2B5EF4-FFF2-40B4-BE49-F238E27FC236}">
                <a16:creationId xmlns:a16="http://schemas.microsoft.com/office/drawing/2014/main" id="{5045DBD8-1561-415E-83D8-A9EB26B410C3}"/>
              </a:ext>
            </a:extLst>
          </p:cNvPr>
          <p:cNvSpPr>
            <a:spLocks xmlns:a="http://schemas.openxmlformats.org/drawingml/2006/main" noGrp="1"/>
          </p:cNvSpPr>
          <p:nvPr/>
        </p:nvSpPr>
        <p:spPr>
          <a:xfrm xmlns:a="http://schemas.openxmlformats.org/drawingml/2006/main">
            <a:off x="6705600" y="5619750"/>
            <a:ext cx="1752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FFFFFF"/>
                </a:solidFill>
              </a:defRPr>
            </a:pPr>
            <a:r>
              <a:rPr sz="1200" b="1" i="0">
                <a:solidFill>
                  <a:srgbClr val="FFFFFF"/>
                </a:solidFill>
              </a:rPr>
              <a:t>IMPROVE BEHAVIOR</a:t>
            </a:r>
          </a:p>
        </p:txBody>
      </p:sp>
      <p:sp>
        <p:nvSpPr>
          <p:cNvPr id="40" name="">
            <a:extLst xmlns:a="http://schemas.openxmlformats.org/drawingml/2006/main">
              <a:ext uri="{FF2B5EF4-FFF2-40B4-BE49-F238E27FC236}">
                <a16:creationId xmlns:a16="http://schemas.microsoft.com/office/drawing/2014/main" id="{2BF0E8AE-74CE-4643-967E-87BC5C8898CF}"/>
              </a:ext>
            </a:extLst>
          </p:cNvPr>
          <p:cNvSpPr>
            <a:spLocks xmlns:a="http://schemas.openxmlformats.org/drawingml/2006/main" noGrp="1"/>
          </p:cNvSpPr>
          <p:nvPr/>
        </p:nvSpPr>
        <p:spPr>
          <a:xfrm xmlns:a="http://schemas.openxmlformats.org/drawingml/2006/main">
            <a:off x="8534400" y="561975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E4002B"/>
                </a:solidFill>
              </a:defRPr>
            </a:pPr>
            <a:r>
              <a:rPr sz="1350" b="1" i="0">
                <a:solidFill>
                  <a:srgbClr val="E4002B"/>
                </a:solidFill>
              </a:rPr>
              <a:t>→</a:t>
            </a:r>
          </a:p>
        </p:txBody>
      </p:sp>
      <p:sp>
        <p:nvSpPr>
          <p:cNvPr id="41" name="">
            <a:extLst xmlns:a="http://schemas.openxmlformats.org/drawingml/2006/main">
              <a:ext uri="{FF2B5EF4-FFF2-40B4-BE49-F238E27FC236}">
                <a16:creationId xmlns:a16="http://schemas.microsoft.com/office/drawing/2014/main" id="{50D48AE5-3568-4D10-8AE5-036D1FA4DE6C}"/>
              </a:ext>
            </a:extLst>
          </p:cNvPr>
          <p:cNvSpPr>
            <a:spLocks xmlns:a="http://schemas.openxmlformats.org/drawingml/2006/main" noGrp="1"/>
          </p:cNvSpPr>
          <p:nvPr/>
        </p:nvSpPr>
        <p:spPr>
          <a:xfrm xmlns:a="http://schemas.openxmlformats.org/drawingml/2006/main">
            <a:off x="9296400" y="561975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FFFFFF"/>
                </a:solidFill>
              </a:defRPr>
            </a:pPr>
            <a:r>
              <a:rPr sz="1200" b="1" i="0">
                <a:solidFill>
                  <a:srgbClr val="FFFFFF"/>
                </a:solidFill>
              </a:rPr>
              <a:t>RE-EVALUATE</a:t>
            </a:r>
          </a:p>
        </p:txBody>
      </p:sp>
      <p:sp>
        <p:nvSpPr>
          <p:cNvPr id="42" name="">
            <a:extLst xmlns:a="http://schemas.openxmlformats.org/drawingml/2006/main">
              <a:ext uri="{FF2B5EF4-FFF2-40B4-BE49-F238E27FC236}">
                <a16:creationId xmlns:a16="http://schemas.microsoft.com/office/drawing/2014/main" id="{49C53441-A45A-4403-B24A-8958AA574454}"/>
              </a:ext>
            </a:extLst>
          </p:cNvPr>
          <p:cNvSpPr>
            <a:spLocks xmlns:a="http://schemas.openxmlformats.org/drawingml/2006/main" noGrp="1"/>
          </p:cNvSpPr>
          <p:nvPr/>
        </p:nvSpPr>
        <p:spPr>
          <a:xfrm xmlns:a="http://schemas.openxmlformats.org/drawingml/2006/main">
            <a:off x="2781300" y="5981700"/>
            <a:ext cx="784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B8B2A8"/>
                </a:solidFill>
              </a:defRPr>
            </a:pPr>
            <a:r>
              <a:rPr sz="1200" b="1" i="0">
                <a:solidFill>
                  <a:srgbClr val="B8B2A8"/>
                </a:solidFill>
              </a:rPr>
              <a:t>Every journey produces logs and outcome data that feed the next quality cycle.</a:t>
            </a:r>
          </a:p>
        </p:txBody>
      </p:sp>
      <p:sp>
        <p:nvSpPr>
          <p:cNvPr id="43" name="">
            <a:extLst xmlns:a="http://schemas.openxmlformats.org/drawingml/2006/main">
              <a:ext uri="{FF2B5EF4-FFF2-40B4-BE49-F238E27FC236}">
                <a16:creationId xmlns:a16="http://schemas.microsoft.com/office/drawing/2014/main" id="{C4C3942F-FB5D-4982-97B9-B65578754A4C}"/>
              </a:ext>
            </a:extLst>
          </p:cNvPr>
          <p:cNvSpPr>
            <a:spLocks xmlns:a="http://schemas.openxmlformats.org/drawingml/2006/main" noGrp="1"/>
          </p:cNvSpPr>
          <p:nvPr/>
        </p:nvSpPr>
        <p:spPr>
          <a:xfrm xmlns:a="http://schemas.openxmlformats.org/drawingml/2006/main">
            <a:off x="685800" y="6457950"/>
            <a:ext cx="590550" cy="47625"/>
          </a:xfrm>
          <a:prstGeom xmlns:a="http://schemas.openxmlformats.org/drawingml/2006/main" prst="rect">
            <a:avLst/>
          </a:prstGeom>
          <a:solidFill xmlns:a="http://schemas.openxmlformats.org/drawingml/2006/main">
            <a:srgbClr val="E4002B"/>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B371A7A1-0496-4B8F-A37F-AF29B3AAE2ED}"/>
              </a:ext>
            </a:extLst>
          </p:cNvPr>
          <p:cNvSpPr>
            <a:spLocks xmlns:a="http://schemas.openxmlformats.org/drawingml/2006/main" noGrp="1"/>
          </p:cNvSpPr>
          <p:nvPr/>
        </p:nvSpPr>
        <p:spPr>
          <a:xfrm xmlns:a="http://schemas.openxmlformats.org/drawingml/2006/main">
            <a:off x="1466850" y="6381750"/>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B8B2A8"/>
                </a:solidFill>
              </a:defRPr>
            </a:pPr>
            <a:r>
              <a:rPr sz="825" b="1" i="0">
                <a:solidFill>
                  <a:srgbClr val="B8B2A8"/>
                </a:solidFill>
              </a:rPr>
              <a:t>TEAM BRAISE  /  KFC COMMERCE AGENT</a:t>
            </a:r>
          </a:p>
        </p:txBody>
      </p:sp>
    </p:spTree>
    <p:extLst>
      <p:ext uri="{BB962C8B-B14F-4D97-AF65-F5344CB8AC3E}">
        <p14:creationId xmlns:p14="http://schemas.microsoft.com/office/powerpoint/2010/main" val="495793353"/>
      </p:ext>
    </p:extLst>
  </p:cSld>
</p:sld>
</file>

<file path=ppt/slides/slide8.xml><?xml version="1.0" encoding="utf-8"?>
<p:sld xmlns:p="http://schemas.openxmlformats.org/presentationml/2006/main">
  <p:cSld>
    <p:bg>
      <p:bgPr>
        <a:solidFill xmlns:a="http://schemas.openxmlformats.org/drawingml/2006/main">
          <a:srgbClr val="0B0B0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2C43C1F-DF2F-4A94-A4D0-99A488B2B561}"/>
              </a:ext>
            </a:extLst>
          </p:cNvPr>
          <p:cNvSpPr>
            <a:spLocks xmlns:a="http://schemas.openxmlformats.org/drawingml/2006/main" noGrp="1"/>
          </p:cNvSpPr>
          <p:nvPr/>
        </p:nvSpPr>
        <p:spPr>
          <a:xfrm xmlns:a="http://schemas.openxmlformats.org/drawingml/2006/main">
            <a:off x="685800" y="495300"/>
            <a:ext cx="428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E4002B"/>
                </a:solidFill>
              </a:defRPr>
            </a:pPr>
            <a:r>
              <a:rPr sz="1125" b="1" i="0">
                <a:solidFill>
                  <a:srgbClr val="E4002B"/>
                </a:solidFill>
              </a:rPr>
              <a:t>06  /  LIVE DEMO</a:t>
            </a:r>
          </a:p>
        </p:txBody>
      </p:sp>
      <p:sp>
        <p:nvSpPr>
          <p:cNvPr id="2" name="">
            <a:extLst xmlns:a="http://schemas.openxmlformats.org/drawingml/2006/main">
              <a:ext uri="{FF2B5EF4-FFF2-40B4-BE49-F238E27FC236}">
                <a16:creationId xmlns:a16="http://schemas.microsoft.com/office/drawing/2014/main" id="{C6647753-71F9-428C-BB46-EA09225B610D}"/>
              </a:ext>
            </a:extLst>
          </p:cNvPr>
          <p:cNvSpPr>
            <a:spLocks xmlns:a="http://schemas.openxmlformats.org/drawingml/2006/main" noGrp="1"/>
          </p:cNvSpPr>
          <p:nvPr/>
        </p:nvSpPr>
        <p:spPr>
          <a:xfrm xmlns:a="http://schemas.openxmlformats.org/drawingml/2006/main">
            <a:off x="11087100" y="4953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i="0">
                <a:solidFill>
                  <a:srgbClr val="FFFFFF"/>
                </a:solidFill>
              </a:defRPr>
            </a:pPr>
            <a:r>
              <a:rPr sz="975" b="1" i="0">
                <a:solidFill>
                  <a:srgbClr val="FFFFFF"/>
                </a:solidFill>
              </a:rPr>
              <a:t>06</a:t>
            </a:r>
          </a:p>
        </p:txBody>
      </p:sp>
      <p:sp>
        <p:nvSpPr>
          <p:cNvPr id="3" name="">
            <a:extLst xmlns:a="http://schemas.openxmlformats.org/drawingml/2006/main">
              <a:ext uri="{FF2B5EF4-FFF2-40B4-BE49-F238E27FC236}">
                <a16:creationId xmlns:a16="http://schemas.microsoft.com/office/drawing/2014/main" id="{723E7263-5434-47FB-AD5E-7E4A5F78FEBF}"/>
              </a:ext>
            </a:extLst>
          </p:cNvPr>
          <p:cNvSpPr>
            <a:spLocks xmlns:a="http://schemas.openxmlformats.org/drawingml/2006/main" noGrp="1"/>
          </p:cNvSpPr>
          <p:nvPr/>
        </p:nvSpPr>
        <p:spPr>
          <a:xfrm xmlns:a="http://schemas.openxmlformats.org/drawingml/2006/main">
            <a:off x="685800" y="990600"/>
            <a:ext cx="10668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1" i="0">
                <a:solidFill>
                  <a:srgbClr val="FFFFFF"/>
                </a:solidFill>
              </a:defRPr>
            </a:pPr>
            <a:r>
              <a:rPr sz="3750" b="1" i="0">
                <a:solidFill>
                  <a:srgbClr val="FFFFFF"/>
                </a:solidFill>
              </a:rPr>
              <a:t>Improve the basket—</a:t>
            </a:r>
          </a:p>
          <a:p xmlns:a="http://schemas.openxmlformats.org/drawingml/2006/main">
            <a:pPr algn="l">
              <a:defRPr sz="3750" b="1" i="0">
                <a:solidFill>
                  <a:srgbClr val="FFFFFF"/>
                </a:solidFill>
              </a:defRPr>
            </a:pPr>
            <a:r>
              <a:rPr sz="3750" b="1" i="0">
                <a:solidFill>
                  <a:srgbClr val="FFFFFF"/>
                </a:solidFill>
              </a:rPr>
              <a:t>without taking control away.</a:t>
            </a:r>
          </a:p>
        </p:txBody>
      </p:sp>
      <p:sp>
        <p:nvSpPr>
          <p:cNvPr id="4" name="">
            <a:extLst xmlns:a="http://schemas.openxmlformats.org/drawingml/2006/main">
              <a:ext uri="{FF2B5EF4-FFF2-40B4-BE49-F238E27FC236}">
                <a16:creationId xmlns:a16="http://schemas.microsoft.com/office/drawing/2014/main" id="{B96C601D-DDA9-497A-A926-126EC9E6FB5D}"/>
              </a:ext>
            </a:extLst>
          </p:cNvPr>
          <p:cNvSpPr>
            <a:spLocks xmlns:a="http://schemas.openxmlformats.org/drawingml/2006/main" noGrp="1"/>
          </p:cNvSpPr>
          <p:nvPr/>
        </p:nvSpPr>
        <p:spPr>
          <a:xfrm xmlns:a="http://schemas.openxmlformats.org/drawingml/2006/main">
            <a:off x="704850" y="2781300"/>
            <a:ext cx="57150" cy="1257300"/>
          </a:xfrm>
          <a:prstGeom xmlns:a="http://schemas.openxmlformats.org/drawingml/2006/main" prst="rect">
            <a:avLst/>
          </a:prstGeom>
          <a:solidFill xmlns:a="http://schemas.openxmlformats.org/drawingml/2006/main">
            <a:srgbClr val="E4002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9882EA6-32FE-49F1-A49D-5C34E3C75BBE}"/>
              </a:ext>
            </a:extLst>
          </p:cNvPr>
          <p:cNvSpPr>
            <a:spLocks xmlns:a="http://schemas.openxmlformats.org/drawingml/2006/main" noGrp="1"/>
          </p:cNvSpPr>
          <p:nvPr/>
        </p:nvSpPr>
        <p:spPr>
          <a:xfrm xmlns:a="http://schemas.openxmlformats.org/drawingml/2006/main">
            <a:off x="933450" y="2762250"/>
            <a:ext cx="1771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E4002B"/>
                </a:solidFill>
              </a:defRPr>
            </a:pPr>
            <a:r>
              <a:rPr sz="1125" b="1" i="0">
                <a:solidFill>
                  <a:srgbClr val="E4002B"/>
                </a:solidFill>
              </a:rPr>
              <a:t>GOAL</a:t>
            </a:r>
          </a:p>
        </p:txBody>
      </p:sp>
      <p:sp>
        <p:nvSpPr>
          <p:cNvPr id="6" name="">
            <a:extLst xmlns:a="http://schemas.openxmlformats.org/drawingml/2006/main">
              <a:ext uri="{FF2B5EF4-FFF2-40B4-BE49-F238E27FC236}">
                <a16:creationId xmlns:a16="http://schemas.microsoft.com/office/drawing/2014/main" id="{E51BAFDE-4B46-490D-855F-B34BB23523A6}"/>
              </a:ext>
            </a:extLst>
          </p:cNvPr>
          <p:cNvSpPr>
            <a:spLocks xmlns:a="http://schemas.openxmlformats.org/drawingml/2006/main" noGrp="1"/>
          </p:cNvSpPr>
          <p:nvPr/>
        </p:nvSpPr>
        <p:spPr>
          <a:xfrm xmlns:a="http://schemas.openxmlformats.org/drawingml/2006/main">
            <a:off x="933450" y="3200400"/>
            <a:ext cx="1828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FFFFFF"/>
                </a:solidFill>
              </a:defRPr>
            </a:pPr>
            <a:r>
              <a:rPr sz="1500" b="1" i="0">
                <a:solidFill>
                  <a:srgbClr val="FFFFFF"/>
                </a:solidFill>
              </a:rPr>
              <a:t>Feed four</a:t>
            </a:r>
          </a:p>
          <a:p xmlns:a="http://schemas.openxmlformats.org/drawingml/2006/main">
            <a:pPr algn="l">
              <a:defRPr sz="1500" b="1" i="0">
                <a:solidFill>
                  <a:srgbClr val="FFFFFF"/>
                </a:solidFill>
              </a:defRPr>
            </a:pPr>
            <a:r>
              <a:rPr sz="1500" b="1" i="0">
                <a:solidFill>
                  <a:srgbClr val="FFFFFF"/>
                </a:solidFill>
              </a:rPr>
              <a:t>within 300K</a:t>
            </a:r>
          </a:p>
        </p:txBody>
      </p:sp>
      <p:sp>
        <p:nvSpPr>
          <p:cNvPr id="7" name="">
            <a:extLst xmlns:a="http://schemas.openxmlformats.org/drawingml/2006/main">
              <a:ext uri="{FF2B5EF4-FFF2-40B4-BE49-F238E27FC236}">
                <a16:creationId xmlns:a16="http://schemas.microsoft.com/office/drawing/2014/main" id="{17C01C66-350E-4868-98B0-04B5FF4D6537}"/>
              </a:ext>
            </a:extLst>
          </p:cNvPr>
          <p:cNvSpPr>
            <a:spLocks xmlns:a="http://schemas.openxmlformats.org/drawingml/2006/main" noGrp="1"/>
          </p:cNvSpPr>
          <p:nvPr/>
        </p:nvSpPr>
        <p:spPr>
          <a:xfrm xmlns:a="http://schemas.openxmlformats.org/drawingml/2006/main">
            <a:off x="2876550" y="2781300"/>
            <a:ext cx="57150" cy="1257300"/>
          </a:xfrm>
          <a:prstGeom xmlns:a="http://schemas.openxmlformats.org/drawingml/2006/main" prst="rect">
            <a:avLst/>
          </a:prstGeom>
          <a:solidFill xmlns:a="http://schemas.openxmlformats.org/drawingml/2006/main">
            <a:srgbClr val="E4002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14607CA-57BB-41D0-BC3A-E16759089DA6}"/>
              </a:ext>
            </a:extLst>
          </p:cNvPr>
          <p:cNvSpPr>
            <a:spLocks xmlns:a="http://schemas.openxmlformats.org/drawingml/2006/main" noGrp="1"/>
          </p:cNvSpPr>
          <p:nvPr/>
        </p:nvSpPr>
        <p:spPr>
          <a:xfrm xmlns:a="http://schemas.openxmlformats.org/drawingml/2006/main">
            <a:off x="3105150" y="2762250"/>
            <a:ext cx="1771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E4002B"/>
                </a:solidFill>
              </a:defRPr>
            </a:pPr>
            <a:r>
              <a:rPr sz="1125" b="1" i="0">
                <a:solidFill>
                  <a:srgbClr val="E4002B"/>
                </a:solidFill>
              </a:rPr>
              <a:t>TRIGGER</a:t>
            </a:r>
          </a:p>
        </p:txBody>
      </p:sp>
      <p:sp>
        <p:nvSpPr>
          <p:cNvPr id="9" name="">
            <a:extLst xmlns:a="http://schemas.openxmlformats.org/drawingml/2006/main">
              <a:ext uri="{FF2B5EF4-FFF2-40B4-BE49-F238E27FC236}">
                <a16:creationId xmlns:a16="http://schemas.microsoft.com/office/drawing/2014/main" id="{0DFFBBB0-A6EF-4A8D-AEF7-88AD20B03157}"/>
              </a:ext>
            </a:extLst>
          </p:cNvPr>
          <p:cNvSpPr>
            <a:spLocks xmlns:a="http://schemas.openxmlformats.org/drawingml/2006/main" noGrp="1"/>
          </p:cNvSpPr>
          <p:nvPr/>
        </p:nvSpPr>
        <p:spPr>
          <a:xfrm xmlns:a="http://schemas.openxmlformats.org/drawingml/2006/main">
            <a:off x="3105150" y="3200400"/>
            <a:ext cx="1828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FFFFFF"/>
                </a:solidFill>
              </a:defRPr>
            </a:pPr>
            <a:r>
              <a:rPr sz="1500" b="1" i="0">
                <a:solidFill>
                  <a:srgbClr val="FFFFFF"/>
                </a:solidFill>
              </a:rPr>
              <a:t>10 chicken pieces</a:t>
            </a:r>
          </a:p>
          <a:p xmlns:a="http://schemas.openxmlformats.org/drawingml/2006/main">
            <a:pPr algn="l">
              <a:defRPr sz="1500" b="1" i="0">
                <a:solidFill>
                  <a:srgbClr val="FFFFFF"/>
                </a:solidFill>
              </a:defRPr>
            </a:pPr>
            <a:r>
              <a:rPr sz="1500" b="1" i="0">
                <a:solidFill>
                  <a:srgbClr val="FFFFFF"/>
                </a:solidFill>
              </a:rPr>
              <a:t>+ 4 Pepsi</a:t>
            </a:r>
          </a:p>
        </p:txBody>
      </p:sp>
      <p:sp>
        <p:nvSpPr>
          <p:cNvPr id="10" name="">
            <a:extLst xmlns:a="http://schemas.openxmlformats.org/drawingml/2006/main">
              <a:ext uri="{FF2B5EF4-FFF2-40B4-BE49-F238E27FC236}">
                <a16:creationId xmlns:a16="http://schemas.microsoft.com/office/drawing/2014/main" id="{1A70C0A4-7DE1-447B-A6E4-AA5D74C1BA00}"/>
              </a:ext>
            </a:extLst>
          </p:cNvPr>
          <p:cNvSpPr>
            <a:spLocks xmlns:a="http://schemas.openxmlformats.org/drawingml/2006/main" noGrp="1"/>
          </p:cNvSpPr>
          <p:nvPr/>
        </p:nvSpPr>
        <p:spPr>
          <a:xfrm xmlns:a="http://schemas.openxmlformats.org/drawingml/2006/main">
            <a:off x="5048250" y="2781300"/>
            <a:ext cx="57150" cy="1257300"/>
          </a:xfrm>
          <a:prstGeom xmlns:a="http://schemas.openxmlformats.org/drawingml/2006/main" prst="rect">
            <a:avLst/>
          </a:prstGeom>
          <a:solidFill xmlns:a="http://schemas.openxmlformats.org/drawingml/2006/main">
            <a:srgbClr val="E4002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3F07290-B0E9-4FA2-A445-22D78261DCB4}"/>
              </a:ext>
            </a:extLst>
          </p:cNvPr>
          <p:cNvSpPr>
            <a:spLocks xmlns:a="http://schemas.openxmlformats.org/drawingml/2006/main" noGrp="1"/>
          </p:cNvSpPr>
          <p:nvPr/>
        </p:nvSpPr>
        <p:spPr>
          <a:xfrm xmlns:a="http://schemas.openxmlformats.org/drawingml/2006/main">
            <a:off x="5276850" y="2762250"/>
            <a:ext cx="1771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E4002B"/>
                </a:solidFill>
              </a:defRPr>
            </a:pPr>
            <a:r>
              <a:rPr sz="1125" b="1" i="0">
                <a:solidFill>
                  <a:srgbClr val="E4002B"/>
                </a:solidFill>
              </a:rPr>
              <a:t>AGENT ACTS</a:t>
            </a:r>
          </a:p>
        </p:txBody>
      </p:sp>
      <p:sp>
        <p:nvSpPr>
          <p:cNvPr id="12" name="">
            <a:extLst xmlns:a="http://schemas.openxmlformats.org/drawingml/2006/main">
              <a:ext uri="{FF2B5EF4-FFF2-40B4-BE49-F238E27FC236}">
                <a16:creationId xmlns:a16="http://schemas.microsoft.com/office/drawing/2014/main" id="{91E105C4-37AD-4ED4-B096-331D5511905D}"/>
              </a:ext>
            </a:extLst>
          </p:cNvPr>
          <p:cNvSpPr>
            <a:spLocks xmlns:a="http://schemas.openxmlformats.org/drawingml/2006/main" noGrp="1"/>
          </p:cNvSpPr>
          <p:nvPr/>
        </p:nvSpPr>
        <p:spPr>
          <a:xfrm xmlns:a="http://schemas.openxmlformats.org/drawingml/2006/main">
            <a:off x="5276850" y="3200400"/>
            <a:ext cx="1828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FFFFFF"/>
                </a:solidFill>
              </a:defRPr>
            </a:pPr>
            <a:r>
              <a:rPr sz="1500" b="1" i="0">
                <a:solidFill>
                  <a:srgbClr val="FFFFFF"/>
                </a:solidFill>
              </a:rPr>
              <a:t>2 verified combos</a:t>
            </a:r>
          </a:p>
          <a:p xmlns:a="http://schemas.openxmlformats.org/drawingml/2006/main">
            <a:pPr algn="l">
              <a:defRPr sz="1500" b="1" i="0">
                <a:solidFill>
                  <a:srgbClr val="FFFFFF"/>
                </a:solidFill>
              </a:defRPr>
            </a:pPr>
            <a:r>
              <a:rPr sz="1500" b="1" i="0">
                <a:solidFill>
                  <a:srgbClr val="FFFFFF"/>
                </a:solidFill>
              </a:rPr>
              <a:t>+ priced upsize</a:t>
            </a:r>
          </a:p>
        </p:txBody>
      </p:sp>
      <p:sp>
        <p:nvSpPr>
          <p:cNvPr id="13" name="">
            <a:extLst xmlns:a="http://schemas.openxmlformats.org/drawingml/2006/main">
              <a:ext uri="{FF2B5EF4-FFF2-40B4-BE49-F238E27FC236}">
                <a16:creationId xmlns:a16="http://schemas.microsoft.com/office/drawing/2014/main" id="{8137E111-A821-4113-85DE-BCBAAAFD9755}"/>
              </a:ext>
            </a:extLst>
          </p:cNvPr>
          <p:cNvSpPr>
            <a:spLocks xmlns:a="http://schemas.openxmlformats.org/drawingml/2006/main" noGrp="1"/>
          </p:cNvSpPr>
          <p:nvPr/>
        </p:nvSpPr>
        <p:spPr>
          <a:xfrm xmlns:a="http://schemas.openxmlformats.org/drawingml/2006/main">
            <a:off x="7219950" y="2781300"/>
            <a:ext cx="57150" cy="1257300"/>
          </a:xfrm>
          <a:prstGeom xmlns:a="http://schemas.openxmlformats.org/drawingml/2006/main" prst="rect">
            <a:avLst/>
          </a:prstGeom>
          <a:solidFill xmlns:a="http://schemas.openxmlformats.org/drawingml/2006/main">
            <a:srgbClr val="E4002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3BC268E-DCE1-4F73-B8A6-730FD98C1F34}"/>
              </a:ext>
            </a:extLst>
          </p:cNvPr>
          <p:cNvSpPr>
            <a:spLocks xmlns:a="http://schemas.openxmlformats.org/drawingml/2006/main" noGrp="1"/>
          </p:cNvSpPr>
          <p:nvPr/>
        </p:nvSpPr>
        <p:spPr>
          <a:xfrm xmlns:a="http://schemas.openxmlformats.org/drawingml/2006/main">
            <a:off x="7448550" y="2762250"/>
            <a:ext cx="1771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E4002B"/>
                </a:solidFill>
              </a:defRPr>
            </a:pPr>
            <a:r>
              <a:rPr sz="1125" b="1" i="0">
                <a:solidFill>
                  <a:srgbClr val="E4002B"/>
                </a:solidFill>
              </a:rPr>
              <a:t>OUTCOME</a:t>
            </a:r>
          </a:p>
        </p:txBody>
      </p:sp>
      <p:sp>
        <p:nvSpPr>
          <p:cNvPr id="15" name="">
            <a:extLst xmlns:a="http://schemas.openxmlformats.org/drawingml/2006/main">
              <a:ext uri="{FF2B5EF4-FFF2-40B4-BE49-F238E27FC236}">
                <a16:creationId xmlns:a16="http://schemas.microsoft.com/office/drawing/2014/main" id="{4F4B3D4E-1493-403C-9353-50BE683DA401}"/>
              </a:ext>
            </a:extLst>
          </p:cNvPr>
          <p:cNvSpPr>
            <a:spLocks xmlns:a="http://schemas.openxmlformats.org/drawingml/2006/main" noGrp="1"/>
          </p:cNvSpPr>
          <p:nvPr/>
        </p:nvSpPr>
        <p:spPr>
          <a:xfrm xmlns:a="http://schemas.openxmlformats.org/drawingml/2006/main">
            <a:off x="7448550" y="3200400"/>
            <a:ext cx="1828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FFFFFF"/>
                </a:solidFill>
              </a:defRPr>
            </a:pPr>
            <a:r>
              <a:rPr sz="1500" b="1" i="0">
                <a:solidFill>
                  <a:srgbClr val="FFFFFF"/>
                </a:solidFill>
              </a:rPr>
              <a:t>Customer approves</a:t>
            </a:r>
          </a:p>
          <a:p xmlns:a="http://schemas.openxmlformats.org/drawingml/2006/main">
            <a:pPr algn="l">
              <a:defRPr sz="1500" b="1" i="0">
                <a:solidFill>
                  <a:srgbClr val="FFFFFF"/>
                </a:solidFill>
              </a:defRPr>
            </a:pPr>
            <a:r>
              <a:rPr sz="1500" b="1" i="0">
                <a:solidFill>
                  <a:srgbClr val="FFFFFF"/>
                </a:solidFill>
              </a:rPr>
              <a:t>both changes</a:t>
            </a:r>
          </a:p>
        </p:txBody>
      </p:sp>
      <p:sp>
        <p:nvSpPr>
          <p:cNvPr id="16" name="">
            <a:extLst xmlns:a="http://schemas.openxmlformats.org/drawingml/2006/main">
              <a:ext uri="{FF2B5EF4-FFF2-40B4-BE49-F238E27FC236}">
                <a16:creationId xmlns:a16="http://schemas.microsoft.com/office/drawing/2014/main" id="{13660791-F19A-4D59-8C24-8E180B21ADF5}"/>
              </a:ext>
            </a:extLst>
          </p:cNvPr>
          <p:cNvSpPr>
            <a:spLocks xmlns:a="http://schemas.openxmlformats.org/drawingml/2006/main" noGrp="1"/>
          </p:cNvSpPr>
          <p:nvPr/>
        </p:nvSpPr>
        <p:spPr>
          <a:xfrm xmlns:a="http://schemas.openxmlformats.org/drawingml/2006/main">
            <a:off x="9391650" y="2781300"/>
            <a:ext cx="57150" cy="1257300"/>
          </a:xfrm>
          <a:prstGeom xmlns:a="http://schemas.openxmlformats.org/drawingml/2006/main" prst="rect">
            <a:avLst/>
          </a:prstGeom>
          <a:solidFill xmlns:a="http://schemas.openxmlformats.org/drawingml/2006/main">
            <a:srgbClr val="2DA66E"/>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4BDF9A0-D7FB-47F6-8636-F44F754A8A45}"/>
              </a:ext>
            </a:extLst>
          </p:cNvPr>
          <p:cNvSpPr>
            <a:spLocks xmlns:a="http://schemas.openxmlformats.org/drawingml/2006/main" noGrp="1"/>
          </p:cNvSpPr>
          <p:nvPr/>
        </p:nvSpPr>
        <p:spPr>
          <a:xfrm xmlns:a="http://schemas.openxmlformats.org/drawingml/2006/main">
            <a:off x="9620250" y="2762250"/>
            <a:ext cx="1771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2DA66E"/>
                </a:solidFill>
              </a:defRPr>
            </a:pPr>
            <a:r>
              <a:rPr sz="1125" b="1" i="0">
                <a:solidFill>
                  <a:srgbClr val="2DA66E"/>
                </a:solidFill>
              </a:rPr>
              <a:t>PROOF</a:t>
            </a:r>
          </a:p>
        </p:txBody>
      </p:sp>
      <p:sp>
        <p:nvSpPr>
          <p:cNvPr id="18" name="">
            <a:extLst xmlns:a="http://schemas.openxmlformats.org/drawingml/2006/main">
              <a:ext uri="{FF2B5EF4-FFF2-40B4-BE49-F238E27FC236}">
                <a16:creationId xmlns:a16="http://schemas.microsoft.com/office/drawing/2014/main" id="{926683B4-AC6C-40EC-9E64-51701CB77F3B}"/>
              </a:ext>
            </a:extLst>
          </p:cNvPr>
          <p:cNvSpPr>
            <a:spLocks xmlns:a="http://schemas.openxmlformats.org/drawingml/2006/main" noGrp="1"/>
          </p:cNvSpPr>
          <p:nvPr/>
        </p:nvSpPr>
        <p:spPr>
          <a:xfrm xmlns:a="http://schemas.openxmlformats.org/drawingml/2006/main">
            <a:off x="9620250" y="3200400"/>
            <a:ext cx="1828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FFFFFF"/>
                </a:solidFill>
              </a:defRPr>
            </a:pPr>
            <a:r>
              <a:rPr sz="1500" b="1" i="0">
                <a:solidFill>
                  <a:srgbClr val="FFFFFF"/>
                </a:solidFill>
              </a:rPr>
              <a:t>304K confirmed</a:t>
            </a:r>
          </a:p>
          <a:p xmlns:a="http://schemas.openxmlformats.org/drawingml/2006/main">
            <a:pPr algn="l">
              <a:defRPr sz="1500" b="1" i="0">
                <a:solidFill>
                  <a:srgbClr val="FFFFFF"/>
                </a:solidFill>
              </a:defRPr>
            </a:pPr>
            <a:r>
              <a:rPr sz="1500" b="1" i="0">
                <a:solidFill>
                  <a:srgbClr val="FFFFFF"/>
                </a:solidFill>
              </a:rPr>
              <a:t>COD order</a:t>
            </a:r>
          </a:p>
        </p:txBody>
      </p:sp>
      <p:sp>
        <p:nvSpPr>
          <p:cNvPr id="19" name="">
            <a:extLst xmlns:a="http://schemas.openxmlformats.org/drawingml/2006/main">
              <a:ext uri="{FF2B5EF4-FFF2-40B4-BE49-F238E27FC236}">
                <a16:creationId xmlns:a16="http://schemas.microsoft.com/office/drawing/2014/main" id="{11E097BD-EEA2-4651-BD6E-56059FD3A7AC}"/>
              </a:ext>
            </a:extLst>
          </p:cNvPr>
          <p:cNvSpPr>
            <a:spLocks xmlns:a="http://schemas.openxmlformats.org/drawingml/2006/main" noGrp="1"/>
          </p:cNvSpPr>
          <p:nvPr/>
        </p:nvSpPr>
        <p:spPr>
          <a:xfrm xmlns:a="http://schemas.openxmlformats.org/drawingml/2006/main">
            <a:off x="704850" y="4648200"/>
            <a:ext cx="10801350" cy="19050"/>
          </a:xfrm>
          <a:prstGeom xmlns:a="http://schemas.openxmlformats.org/drawingml/2006/main" prst="rect">
            <a:avLst/>
          </a:prstGeom>
          <a:solidFill xmlns:a="http://schemas.openxmlformats.org/drawingml/2006/main">
            <a:srgbClr val="27272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74C0907-C16E-4E61-92CF-FF81A2868E96}"/>
              </a:ext>
            </a:extLst>
          </p:cNvPr>
          <p:cNvSpPr>
            <a:spLocks xmlns:a="http://schemas.openxmlformats.org/drawingml/2006/main" noGrp="1"/>
          </p:cNvSpPr>
          <p:nvPr/>
        </p:nvSpPr>
        <p:spPr>
          <a:xfrm xmlns:a="http://schemas.openxmlformats.org/drawingml/2006/main">
            <a:off x="704850" y="4991100"/>
            <a:ext cx="10801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i="0">
                <a:solidFill>
                  <a:srgbClr val="F7F2E8"/>
                </a:solidFill>
              </a:defRPr>
            </a:pPr>
            <a:r>
              <a:rPr sz="1725" b="1" i="0">
                <a:solidFill>
                  <a:srgbClr val="F7F2E8"/>
                </a:solidFill>
              </a:rPr>
              <a:t>No combo conversion or upsize happens before customer approval.</a:t>
            </a:r>
          </a:p>
        </p:txBody>
      </p:sp>
      <p:sp>
        <p:nvSpPr>
          <p:cNvPr id="21" name="">
            <a:extLst xmlns:a="http://schemas.openxmlformats.org/drawingml/2006/main">
              <a:ext uri="{FF2B5EF4-FFF2-40B4-BE49-F238E27FC236}">
                <a16:creationId xmlns:a16="http://schemas.microsoft.com/office/drawing/2014/main" id="{FC36C7AC-80A0-450B-A21E-8FCD4F63A979}"/>
              </a:ext>
            </a:extLst>
          </p:cNvPr>
          <p:cNvSpPr>
            <a:spLocks xmlns:a="http://schemas.openxmlformats.org/drawingml/2006/main" noGrp="1"/>
          </p:cNvSpPr>
          <p:nvPr/>
        </p:nvSpPr>
        <p:spPr>
          <a:xfrm xmlns:a="http://schemas.openxmlformats.org/drawingml/2006/main">
            <a:off x="704850" y="5562600"/>
            <a:ext cx="10801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B8B2A8"/>
                </a:solidFill>
              </a:defRPr>
            </a:pPr>
            <a:r>
              <a:rPr sz="1275" b="1" i="0">
                <a:solidFill>
                  <a:srgbClr val="B8B2A8"/>
                </a:solidFill>
              </a:rPr>
              <a:t>Loose items  →  better-fit combo  →  priced upsize  →  verified order</a:t>
            </a:r>
          </a:p>
        </p:txBody>
      </p:sp>
      <p:sp>
        <p:nvSpPr>
          <p:cNvPr id="22" name="">
            <a:extLst xmlns:a="http://schemas.openxmlformats.org/drawingml/2006/main">
              <a:ext uri="{FF2B5EF4-FFF2-40B4-BE49-F238E27FC236}">
                <a16:creationId xmlns:a16="http://schemas.microsoft.com/office/drawing/2014/main" id="{B7E12615-4E0A-4A68-8BAB-BEE79A005885}"/>
              </a:ext>
            </a:extLst>
          </p:cNvPr>
          <p:cNvSpPr>
            <a:spLocks xmlns:a="http://schemas.openxmlformats.org/drawingml/2006/main" noGrp="1"/>
          </p:cNvSpPr>
          <p:nvPr/>
        </p:nvSpPr>
        <p:spPr>
          <a:xfrm xmlns:a="http://schemas.openxmlformats.org/drawingml/2006/main">
            <a:off x="685800" y="6457950"/>
            <a:ext cx="590550" cy="47625"/>
          </a:xfrm>
          <a:prstGeom xmlns:a="http://schemas.openxmlformats.org/drawingml/2006/main" prst="rect">
            <a:avLst/>
          </a:prstGeom>
          <a:solidFill xmlns:a="http://schemas.openxmlformats.org/drawingml/2006/main">
            <a:srgbClr val="E4002B"/>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5A40515-99F9-40E2-9C39-6A0FB09C991A}"/>
              </a:ext>
            </a:extLst>
          </p:cNvPr>
          <p:cNvSpPr>
            <a:spLocks xmlns:a="http://schemas.openxmlformats.org/drawingml/2006/main" noGrp="1"/>
          </p:cNvSpPr>
          <p:nvPr/>
        </p:nvSpPr>
        <p:spPr>
          <a:xfrm xmlns:a="http://schemas.openxmlformats.org/drawingml/2006/main">
            <a:off x="1466850" y="6381750"/>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B8B2A8"/>
                </a:solidFill>
              </a:defRPr>
            </a:pPr>
            <a:r>
              <a:rPr sz="825" b="1" i="0">
                <a:solidFill>
                  <a:srgbClr val="B8B2A8"/>
                </a:solidFill>
              </a:rPr>
              <a:t>TEAM BRAISE  /  KFC COMMERCE AGENT</a:t>
            </a:r>
          </a:p>
        </p:txBody>
      </p:sp>
    </p:spTree>
    <p:extLst>
      <p:ext uri="{BB962C8B-B14F-4D97-AF65-F5344CB8AC3E}">
        <p14:creationId xmlns:p14="http://schemas.microsoft.com/office/powerpoint/2010/main" val="1141701628"/>
      </p:ext>
    </p:extLst>
  </p:cSld>
</p:sld>
</file>

<file path=ppt/slides/slide9.xml><?xml version="1.0" encoding="utf-8"?>
<p:sld xmlns:p="http://schemas.openxmlformats.org/presentationml/2006/main">
  <p:cSld>
    <p:bg>
      <p:bgPr>
        <a:solidFill xmlns:a="http://schemas.openxmlformats.org/drawingml/2006/main">
          <a:srgbClr val="0B0B0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4D97307-897C-4B30-B453-A56528CF92A2}"/>
              </a:ext>
            </a:extLst>
          </p:cNvPr>
          <p:cNvSpPr>
            <a:spLocks xmlns:a="http://schemas.openxmlformats.org/drawingml/2006/main" noGrp="1"/>
          </p:cNvSpPr>
          <p:nvPr/>
        </p:nvSpPr>
        <p:spPr>
          <a:xfrm xmlns:a="http://schemas.openxmlformats.org/drawingml/2006/main">
            <a:off x="685800" y="495300"/>
            <a:ext cx="428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E4002B"/>
                </a:solidFill>
              </a:defRPr>
            </a:pPr>
            <a:r>
              <a:rPr sz="1125" b="1" i="0">
                <a:solidFill>
                  <a:srgbClr val="E4002B"/>
                </a:solidFill>
              </a:rPr>
              <a:t>A1  /  RUNTIME REQUEST FLOW</a:t>
            </a:r>
          </a:p>
        </p:txBody>
      </p:sp>
      <p:sp>
        <p:nvSpPr>
          <p:cNvPr id="2" name="">
            <a:extLst xmlns:a="http://schemas.openxmlformats.org/drawingml/2006/main">
              <a:ext uri="{FF2B5EF4-FFF2-40B4-BE49-F238E27FC236}">
                <a16:creationId xmlns:a16="http://schemas.microsoft.com/office/drawing/2014/main" id="{44EB8270-9C37-467F-A5CE-3869F2387B76}"/>
              </a:ext>
            </a:extLst>
          </p:cNvPr>
          <p:cNvSpPr>
            <a:spLocks xmlns:a="http://schemas.openxmlformats.org/drawingml/2006/main" noGrp="1"/>
          </p:cNvSpPr>
          <p:nvPr/>
        </p:nvSpPr>
        <p:spPr>
          <a:xfrm xmlns:a="http://schemas.openxmlformats.org/drawingml/2006/main">
            <a:off x="11087100" y="4953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i="0">
                <a:solidFill>
                  <a:srgbClr val="FFFFFF"/>
                </a:solidFill>
              </a:defRPr>
            </a:pPr>
            <a:r>
              <a:rPr sz="975" b="1" i="0">
                <a:solidFill>
                  <a:srgbClr val="FFFFFF"/>
                </a:solidFill>
              </a:rPr>
              <a:t>A1</a:t>
            </a:r>
          </a:p>
        </p:txBody>
      </p:sp>
      <p:sp>
        <p:nvSpPr>
          <p:cNvPr id="3" name="">
            <a:extLst xmlns:a="http://schemas.openxmlformats.org/drawingml/2006/main">
              <a:ext uri="{FF2B5EF4-FFF2-40B4-BE49-F238E27FC236}">
                <a16:creationId xmlns:a16="http://schemas.microsoft.com/office/drawing/2014/main" id="{E87CFED7-8FF1-401C-A2C2-84DF5A09E633}"/>
              </a:ext>
            </a:extLst>
          </p:cNvPr>
          <p:cNvSpPr>
            <a:spLocks xmlns:a="http://schemas.openxmlformats.org/drawingml/2006/main" noGrp="1"/>
          </p:cNvSpPr>
          <p:nvPr/>
        </p:nvSpPr>
        <p:spPr>
          <a:xfrm xmlns:a="http://schemas.openxmlformats.org/drawingml/2006/main">
            <a:off x="685800" y="933450"/>
            <a:ext cx="8572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i="0">
                <a:solidFill>
                  <a:srgbClr val="FFFFFF"/>
                </a:solidFill>
              </a:defRPr>
            </a:pPr>
            <a:r>
              <a:rPr sz="3450" b="1" i="0">
                <a:solidFill>
                  <a:srgbClr val="FFFFFF"/>
                </a:solidFill>
              </a:rPr>
              <a:t>One request enters one governed</a:t>
            </a:r>
          </a:p>
          <a:p xmlns:a="http://schemas.openxmlformats.org/drawingml/2006/main">
            <a:pPr algn="l">
              <a:defRPr sz="3450" b="1" i="0">
                <a:solidFill>
                  <a:srgbClr val="FFFFFF"/>
                </a:solidFill>
              </a:defRPr>
            </a:pPr>
            <a:r>
              <a:rPr sz="3450" b="1" i="0">
                <a:solidFill>
                  <a:srgbClr val="FFFFFF"/>
                </a:solidFill>
              </a:rPr>
              <a:t>commerce loop.</a:t>
            </a:r>
          </a:p>
        </p:txBody>
      </p:sp>
      <p:sp>
        <p:nvSpPr>
          <p:cNvPr id="4" name="">
            <a:extLst xmlns:a="http://schemas.openxmlformats.org/drawingml/2006/main">
              <a:ext uri="{FF2B5EF4-FFF2-40B4-BE49-F238E27FC236}">
                <a16:creationId xmlns:a16="http://schemas.microsoft.com/office/drawing/2014/main" id="{297C7770-2F70-4170-A638-9E9A134DB04A}"/>
              </a:ext>
            </a:extLst>
          </p:cNvPr>
          <p:cNvSpPr>
            <a:spLocks xmlns:a="http://schemas.openxmlformats.org/drawingml/2006/main" noGrp="1"/>
          </p:cNvSpPr>
          <p:nvPr/>
        </p:nvSpPr>
        <p:spPr>
          <a:xfrm xmlns:a="http://schemas.openxmlformats.org/drawingml/2006/main">
            <a:off x="704850" y="2571750"/>
            <a:ext cx="1562100" cy="1352550"/>
          </a:xfrm>
          <a:prstGeom xmlns:a="http://schemas.openxmlformats.org/drawingml/2006/main" prst="roundRect">
            <a:avLst>
              <a:gd name="adj" fmla="val 8451"/>
            </a:avLst>
          </a:prstGeom>
          <a:solidFill xmlns:a="http://schemas.openxmlformats.org/drawingml/2006/main">
            <a:srgbClr val="27272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27BACCE-D7C9-4C0C-B5E9-1875906FCA20}"/>
              </a:ext>
            </a:extLst>
          </p:cNvPr>
          <p:cNvSpPr>
            <a:spLocks xmlns:a="http://schemas.openxmlformats.org/drawingml/2006/main" noGrp="1"/>
          </p:cNvSpPr>
          <p:nvPr/>
        </p:nvSpPr>
        <p:spPr>
          <a:xfrm xmlns:a="http://schemas.openxmlformats.org/drawingml/2006/main">
            <a:off x="838200" y="2781300"/>
            <a:ext cx="1295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FFFFFF"/>
                </a:solidFill>
              </a:defRPr>
            </a:pPr>
            <a:r>
              <a:rPr sz="1125" b="1" i="0">
                <a:solidFill>
                  <a:srgbClr val="FFFFFF"/>
                </a:solidFill>
              </a:rPr>
              <a:t>CHANNEL</a:t>
            </a:r>
          </a:p>
        </p:txBody>
      </p:sp>
      <p:sp>
        <p:nvSpPr>
          <p:cNvPr id="6" name="">
            <a:extLst xmlns:a="http://schemas.openxmlformats.org/drawingml/2006/main">
              <a:ext uri="{FF2B5EF4-FFF2-40B4-BE49-F238E27FC236}">
                <a16:creationId xmlns:a16="http://schemas.microsoft.com/office/drawing/2014/main" id="{1B96C4F2-A6B2-4DDB-99E2-420343F87F3C}"/>
              </a:ext>
            </a:extLst>
          </p:cNvPr>
          <p:cNvSpPr>
            <a:spLocks xmlns:a="http://schemas.openxmlformats.org/drawingml/2006/main" noGrp="1"/>
          </p:cNvSpPr>
          <p:nvPr/>
        </p:nvSpPr>
        <p:spPr>
          <a:xfrm xmlns:a="http://schemas.openxmlformats.org/drawingml/2006/main">
            <a:off x="819150" y="3333750"/>
            <a:ext cx="133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B8B2A8"/>
                </a:solidFill>
              </a:defRPr>
            </a:pPr>
            <a:r>
              <a:rPr sz="975" b="1" i="0">
                <a:solidFill>
                  <a:srgbClr val="B8B2A8"/>
                </a:solidFill>
              </a:rPr>
              <a:t>KFC chat,</a:t>
            </a:r>
          </a:p>
          <a:p xmlns:a="http://schemas.openxmlformats.org/drawingml/2006/main">
            <a:pPr algn="ctr">
              <a:defRPr sz="975" b="1" i="0">
                <a:solidFill>
                  <a:srgbClr val="B8B2A8"/>
                </a:solidFill>
              </a:defRPr>
            </a:pPr>
            <a:r>
              <a:rPr sz="975" b="1" i="0">
                <a:solidFill>
                  <a:srgbClr val="B8B2A8"/>
                </a:solidFill>
              </a:rPr>
              <a:t>Messenger, Zalo</a:t>
            </a:r>
          </a:p>
        </p:txBody>
      </p:sp>
      <p:sp>
        <p:nvSpPr>
          <p:cNvPr id="7" name="">
            <a:extLst xmlns:a="http://schemas.openxmlformats.org/drawingml/2006/main">
              <a:ext uri="{FF2B5EF4-FFF2-40B4-BE49-F238E27FC236}">
                <a16:creationId xmlns:a16="http://schemas.microsoft.com/office/drawing/2014/main" id="{9CB1EBF6-4747-4F67-A40B-46C2EA8DD028}"/>
              </a:ext>
            </a:extLst>
          </p:cNvPr>
          <p:cNvSpPr>
            <a:spLocks xmlns:a="http://schemas.openxmlformats.org/drawingml/2006/main" noGrp="1"/>
          </p:cNvSpPr>
          <p:nvPr/>
        </p:nvSpPr>
        <p:spPr>
          <a:xfrm xmlns:a="http://schemas.openxmlformats.org/drawingml/2006/main">
            <a:off x="2266950" y="304800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i="0">
                <a:solidFill>
                  <a:srgbClr val="E4002B"/>
                </a:solidFill>
              </a:defRPr>
            </a:pPr>
            <a:r>
              <a:rPr sz="1425" b="1" i="0">
                <a:solidFill>
                  <a:srgbClr val="E4002B"/>
                </a:solidFill>
              </a:rPr>
              <a:t>→</a:t>
            </a:r>
          </a:p>
        </p:txBody>
      </p:sp>
      <p:sp>
        <p:nvSpPr>
          <p:cNvPr id="8" name="">
            <a:extLst xmlns:a="http://schemas.openxmlformats.org/drawingml/2006/main">
              <a:ext uri="{FF2B5EF4-FFF2-40B4-BE49-F238E27FC236}">
                <a16:creationId xmlns:a16="http://schemas.microsoft.com/office/drawing/2014/main" id="{D0E0CEBB-2E43-4DC3-9781-58B3DF1469CA}"/>
              </a:ext>
            </a:extLst>
          </p:cNvPr>
          <p:cNvSpPr>
            <a:spLocks xmlns:a="http://schemas.openxmlformats.org/drawingml/2006/main" noGrp="1"/>
          </p:cNvSpPr>
          <p:nvPr/>
        </p:nvSpPr>
        <p:spPr>
          <a:xfrm xmlns:a="http://schemas.openxmlformats.org/drawingml/2006/main">
            <a:off x="2514600" y="2571750"/>
            <a:ext cx="1562100" cy="1352550"/>
          </a:xfrm>
          <a:prstGeom xmlns:a="http://schemas.openxmlformats.org/drawingml/2006/main" prst="roundRect">
            <a:avLst>
              <a:gd name="adj" fmla="val 8451"/>
            </a:avLst>
          </a:prstGeom>
          <a:solidFill xmlns:a="http://schemas.openxmlformats.org/drawingml/2006/main">
            <a:srgbClr val="27272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AA9491E-48DA-4880-BC8A-21821F4974F1}"/>
              </a:ext>
            </a:extLst>
          </p:cNvPr>
          <p:cNvSpPr>
            <a:spLocks xmlns:a="http://schemas.openxmlformats.org/drawingml/2006/main" noGrp="1"/>
          </p:cNvSpPr>
          <p:nvPr/>
        </p:nvSpPr>
        <p:spPr>
          <a:xfrm xmlns:a="http://schemas.openxmlformats.org/drawingml/2006/main">
            <a:off x="2647950" y="2781300"/>
            <a:ext cx="1295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FFFFFF"/>
                </a:solidFill>
              </a:defRPr>
            </a:pPr>
            <a:r>
              <a:rPr sz="1125" b="1" i="0">
                <a:solidFill>
                  <a:srgbClr val="FFFFFF"/>
                </a:solidFill>
              </a:rPr>
              <a:t>ROUTE / RUN</a:t>
            </a:r>
          </a:p>
        </p:txBody>
      </p:sp>
      <p:sp>
        <p:nvSpPr>
          <p:cNvPr id="10" name="">
            <a:extLst xmlns:a="http://schemas.openxmlformats.org/drawingml/2006/main">
              <a:ext uri="{FF2B5EF4-FFF2-40B4-BE49-F238E27FC236}">
                <a16:creationId xmlns:a16="http://schemas.microsoft.com/office/drawing/2014/main" id="{34D62514-2D58-4DD6-9F39-E076F31EB73B}"/>
              </a:ext>
            </a:extLst>
          </p:cNvPr>
          <p:cNvSpPr>
            <a:spLocks xmlns:a="http://schemas.openxmlformats.org/drawingml/2006/main" noGrp="1"/>
          </p:cNvSpPr>
          <p:nvPr/>
        </p:nvSpPr>
        <p:spPr>
          <a:xfrm xmlns:a="http://schemas.openxmlformats.org/drawingml/2006/main">
            <a:off x="2628900" y="3333750"/>
            <a:ext cx="133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B8B2A8"/>
                </a:solidFill>
              </a:defRPr>
            </a:pPr>
            <a:r>
              <a:rPr sz="975" b="1" i="0">
                <a:solidFill>
                  <a:srgbClr val="B8B2A8"/>
                </a:solidFill>
              </a:rPr>
              <a:t>Synchronous chat</a:t>
            </a:r>
          </a:p>
          <a:p xmlns:a="http://schemas.openxmlformats.org/drawingml/2006/main">
            <a:pPr algn="ctr">
              <a:defRPr sz="975" b="1" i="0">
                <a:solidFill>
                  <a:srgbClr val="B8B2A8"/>
                </a:solidFill>
              </a:defRPr>
            </a:pPr>
            <a:r>
              <a:rPr sz="975" b="1" i="0">
                <a:solidFill>
                  <a:srgbClr val="B8B2A8"/>
                </a:solidFill>
              </a:rPr>
              <a:t>or durable channel run</a:t>
            </a:r>
          </a:p>
        </p:txBody>
      </p:sp>
      <p:sp>
        <p:nvSpPr>
          <p:cNvPr id="11" name="">
            <a:extLst xmlns:a="http://schemas.openxmlformats.org/drawingml/2006/main">
              <a:ext uri="{FF2B5EF4-FFF2-40B4-BE49-F238E27FC236}">
                <a16:creationId xmlns:a16="http://schemas.microsoft.com/office/drawing/2014/main" id="{CAE4553B-5E27-4247-BCDA-9C002D0E6CB5}"/>
              </a:ext>
            </a:extLst>
          </p:cNvPr>
          <p:cNvSpPr>
            <a:spLocks xmlns:a="http://schemas.openxmlformats.org/drawingml/2006/main" noGrp="1"/>
          </p:cNvSpPr>
          <p:nvPr/>
        </p:nvSpPr>
        <p:spPr>
          <a:xfrm xmlns:a="http://schemas.openxmlformats.org/drawingml/2006/main">
            <a:off x="4076700" y="304800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i="0">
                <a:solidFill>
                  <a:srgbClr val="E4002B"/>
                </a:solidFill>
              </a:defRPr>
            </a:pPr>
            <a:r>
              <a:rPr sz="1425" b="1" i="0">
                <a:solidFill>
                  <a:srgbClr val="E4002B"/>
                </a:solidFill>
              </a:rPr>
              <a:t>→</a:t>
            </a:r>
          </a:p>
        </p:txBody>
      </p:sp>
      <p:sp>
        <p:nvSpPr>
          <p:cNvPr id="12" name="">
            <a:extLst xmlns:a="http://schemas.openxmlformats.org/drawingml/2006/main">
              <a:ext uri="{FF2B5EF4-FFF2-40B4-BE49-F238E27FC236}">
                <a16:creationId xmlns:a16="http://schemas.microsoft.com/office/drawing/2014/main" id="{45A18ECB-7E10-48BF-A61E-FF5B7732B931}"/>
              </a:ext>
            </a:extLst>
          </p:cNvPr>
          <p:cNvSpPr>
            <a:spLocks xmlns:a="http://schemas.openxmlformats.org/drawingml/2006/main" noGrp="1"/>
          </p:cNvSpPr>
          <p:nvPr/>
        </p:nvSpPr>
        <p:spPr>
          <a:xfrm xmlns:a="http://schemas.openxmlformats.org/drawingml/2006/main">
            <a:off x="4324350" y="2571750"/>
            <a:ext cx="1562100" cy="1352550"/>
          </a:xfrm>
          <a:prstGeom xmlns:a="http://schemas.openxmlformats.org/drawingml/2006/main" prst="roundRect">
            <a:avLst>
              <a:gd name="adj" fmla="val 8451"/>
            </a:avLst>
          </a:prstGeom>
          <a:solidFill xmlns:a="http://schemas.openxmlformats.org/drawingml/2006/main">
            <a:srgbClr val="27272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883EE0A-E559-4D31-895D-CD4600BF6720}"/>
              </a:ext>
            </a:extLst>
          </p:cNvPr>
          <p:cNvSpPr>
            <a:spLocks xmlns:a="http://schemas.openxmlformats.org/drawingml/2006/main" noGrp="1"/>
          </p:cNvSpPr>
          <p:nvPr/>
        </p:nvSpPr>
        <p:spPr>
          <a:xfrm xmlns:a="http://schemas.openxmlformats.org/drawingml/2006/main">
            <a:off x="4457700" y="2781300"/>
            <a:ext cx="1295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FFFFFF"/>
                </a:solidFill>
              </a:defRPr>
            </a:pPr>
            <a:r>
              <a:rPr sz="1125" b="1" i="0">
                <a:solidFill>
                  <a:srgbClr val="FFFFFF"/>
                </a:solidFill>
              </a:rPr>
              <a:t>PLAN</a:t>
            </a:r>
          </a:p>
        </p:txBody>
      </p:sp>
      <p:sp>
        <p:nvSpPr>
          <p:cNvPr id="14" name="">
            <a:extLst xmlns:a="http://schemas.openxmlformats.org/drawingml/2006/main">
              <a:ext uri="{FF2B5EF4-FFF2-40B4-BE49-F238E27FC236}">
                <a16:creationId xmlns:a16="http://schemas.microsoft.com/office/drawing/2014/main" id="{21485FDD-E325-430A-BBEB-F80BC038FC67}"/>
              </a:ext>
            </a:extLst>
          </p:cNvPr>
          <p:cNvSpPr>
            <a:spLocks xmlns:a="http://schemas.openxmlformats.org/drawingml/2006/main" noGrp="1"/>
          </p:cNvSpPr>
          <p:nvPr/>
        </p:nvSpPr>
        <p:spPr>
          <a:xfrm xmlns:a="http://schemas.openxmlformats.org/drawingml/2006/main">
            <a:off x="4438650" y="3333750"/>
            <a:ext cx="133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B8B2A8"/>
                </a:solidFill>
              </a:defRPr>
            </a:pPr>
            <a:r>
              <a:rPr sz="975" b="1" i="0">
                <a:solidFill>
                  <a:srgbClr val="B8B2A8"/>
                </a:solidFill>
              </a:rPr>
              <a:t>Intent, context,</a:t>
            </a:r>
          </a:p>
          <a:p xmlns:a="http://schemas.openxmlformats.org/drawingml/2006/main">
            <a:pPr algn="ctr">
              <a:defRPr sz="975" b="1" i="0">
                <a:solidFill>
                  <a:srgbClr val="B8B2A8"/>
                </a:solidFill>
              </a:defRPr>
            </a:pPr>
            <a:r>
              <a:rPr sz="975" b="1" i="0">
                <a:solidFill>
                  <a:srgbClr val="B8B2A8"/>
                </a:solidFill>
              </a:rPr>
              <a:t>next actions</a:t>
            </a:r>
          </a:p>
        </p:txBody>
      </p:sp>
      <p:sp>
        <p:nvSpPr>
          <p:cNvPr id="15" name="">
            <a:extLst xmlns:a="http://schemas.openxmlformats.org/drawingml/2006/main">
              <a:ext uri="{FF2B5EF4-FFF2-40B4-BE49-F238E27FC236}">
                <a16:creationId xmlns:a16="http://schemas.microsoft.com/office/drawing/2014/main" id="{D721725F-E1A0-4412-85D4-E7F64B6542CA}"/>
              </a:ext>
            </a:extLst>
          </p:cNvPr>
          <p:cNvSpPr>
            <a:spLocks xmlns:a="http://schemas.openxmlformats.org/drawingml/2006/main" noGrp="1"/>
          </p:cNvSpPr>
          <p:nvPr/>
        </p:nvSpPr>
        <p:spPr>
          <a:xfrm xmlns:a="http://schemas.openxmlformats.org/drawingml/2006/main">
            <a:off x="5886450" y="304800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i="0">
                <a:solidFill>
                  <a:srgbClr val="E4002B"/>
                </a:solidFill>
              </a:defRPr>
            </a:pPr>
            <a:r>
              <a:rPr sz="1425" b="1" i="0">
                <a:solidFill>
                  <a:srgbClr val="E4002B"/>
                </a:solidFill>
              </a:rPr>
              <a:t>→</a:t>
            </a:r>
          </a:p>
        </p:txBody>
      </p:sp>
      <p:sp>
        <p:nvSpPr>
          <p:cNvPr id="16" name="">
            <a:extLst xmlns:a="http://schemas.openxmlformats.org/drawingml/2006/main">
              <a:ext uri="{FF2B5EF4-FFF2-40B4-BE49-F238E27FC236}">
                <a16:creationId xmlns:a16="http://schemas.microsoft.com/office/drawing/2014/main" id="{44B9E3C0-C958-48FF-B397-35D8F6B0F36D}"/>
              </a:ext>
            </a:extLst>
          </p:cNvPr>
          <p:cNvSpPr>
            <a:spLocks xmlns:a="http://schemas.openxmlformats.org/drawingml/2006/main" noGrp="1"/>
          </p:cNvSpPr>
          <p:nvPr/>
        </p:nvSpPr>
        <p:spPr>
          <a:xfrm xmlns:a="http://schemas.openxmlformats.org/drawingml/2006/main">
            <a:off x="6134100" y="2571750"/>
            <a:ext cx="1562100" cy="1352550"/>
          </a:xfrm>
          <a:prstGeom xmlns:a="http://schemas.openxmlformats.org/drawingml/2006/main" prst="roundRect">
            <a:avLst>
              <a:gd name="adj" fmla="val 8451"/>
            </a:avLst>
          </a:prstGeom>
          <a:solidFill xmlns:a="http://schemas.openxmlformats.org/drawingml/2006/main">
            <a:srgbClr val="E4002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385D310-B38E-45A4-B486-976BFCE59EB8}"/>
              </a:ext>
            </a:extLst>
          </p:cNvPr>
          <p:cNvSpPr>
            <a:spLocks xmlns:a="http://schemas.openxmlformats.org/drawingml/2006/main" noGrp="1"/>
          </p:cNvSpPr>
          <p:nvPr/>
        </p:nvSpPr>
        <p:spPr>
          <a:xfrm xmlns:a="http://schemas.openxmlformats.org/drawingml/2006/main">
            <a:off x="6267450" y="2781300"/>
            <a:ext cx="1295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FFFFFF"/>
                </a:solidFill>
              </a:defRPr>
            </a:pPr>
            <a:r>
              <a:rPr sz="1125" b="1" i="0">
                <a:solidFill>
                  <a:srgbClr val="FFFFFF"/>
                </a:solidFill>
              </a:rPr>
              <a:t>GATES + TOOLS</a:t>
            </a:r>
          </a:p>
        </p:txBody>
      </p:sp>
      <p:sp>
        <p:nvSpPr>
          <p:cNvPr id="18" name="">
            <a:extLst xmlns:a="http://schemas.openxmlformats.org/drawingml/2006/main">
              <a:ext uri="{FF2B5EF4-FFF2-40B4-BE49-F238E27FC236}">
                <a16:creationId xmlns:a16="http://schemas.microsoft.com/office/drawing/2014/main" id="{6455911C-79FA-42A8-84F4-503228606453}"/>
              </a:ext>
            </a:extLst>
          </p:cNvPr>
          <p:cNvSpPr>
            <a:spLocks xmlns:a="http://schemas.openxmlformats.org/drawingml/2006/main" noGrp="1"/>
          </p:cNvSpPr>
          <p:nvPr/>
        </p:nvSpPr>
        <p:spPr>
          <a:xfrm xmlns:a="http://schemas.openxmlformats.org/drawingml/2006/main">
            <a:off x="6248400" y="3333750"/>
            <a:ext cx="133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FFFFFF"/>
                </a:solidFill>
              </a:defRPr>
            </a:pPr>
            <a:r>
              <a:rPr sz="975" b="1" i="0">
                <a:solidFill>
                  <a:srgbClr val="FFFFFF"/>
                </a:solidFill>
              </a:rPr>
              <a:t>Typed commerce</a:t>
            </a:r>
          </a:p>
          <a:p xmlns:a="http://schemas.openxmlformats.org/drawingml/2006/main">
            <a:pPr algn="ctr">
              <a:defRPr sz="975" b="1" i="0">
                <a:solidFill>
                  <a:srgbClr val="FFFFFF"/>
                </a:solidFill>
              </a:defRPr>
            </a:pPr>
            <a:r>
              <a:rPr sz="975" b="1" i="0">
                <a:solidFill>
                  <a:srgbClr val="FFFFFF"/>
                </a:solidFill>
              </a:rPr>
              <a:t>operations</a:t>
            </a:r>
          </a:p>
        </p:txBody>
      </p:sp>
      <p:sp>
        <p:nvSpPr>
          <p:cNvPr id="19" name="">
            <a:extLst xmlns:a="http://schemas.openxmlformats.org/drawingml/2006/main">
              <a:ext uri="{FF2B5EF4-FFF2-40B4-BE49-F238E27FC236}">
                <a16:creationId xmlns:a16="http://schemas.microsoft.com/office/drawing/2014/main" id="{057680E0-A2BB-409D-99EE-6E7354114F8E}"/>
              </a:ext>
            </a:extLst>
          </p:cNvPr>
          <p:cNvSpPr>
            <a:spLocks xmlns:a="http://schemas.openxmlformats.org/drawingml/2006/main" noGrp="1"/>
          </p:cNvSpPr>
          <p:nvPr/>
        </p:nvSpPr>
        <p:spPr>
          <a:xfrm xmlns:a="http://schemas.openxmlformats.org/drawingml/2006/main">
            <a:off x="7696200" y="304800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i="0">
                <a:solidFill>
                  <a:srgbClr val="E4002B"/>
                </a:solidFill>
              </a:defRPr>
            </a:pPr>
            <a:r>
              <a:rPr sz="1425" b="1" i="0">
                <a:solidFill>
                  <a:srgbClr val="E4002B"/>
                </a:solidFill>
              </a:rPr>
              <a:t>→</a:t>
            </a:r>
          </a:p>
        </p:txBody>
      </p:sp>
      <p:sp>
        <p:nvSpPr>
          <p:cNvPr id="20" name="">
            <a:extLst xmlns:a="http://schemas.openxmlformats.org/drawingml/2006/main">
              <a:ext uri="{FF2B5EF4-FFF2-40B4-BE49-F238E27FC236}">
                <a16:creationId xmlns:a16="http://schemas.microsoft.com/office/drawing/2014/main" id="{22FFC277-A57C-4003-9C67-2D29AE2BD333}"/>
              </a:ext>
            </a:extLst>
          </p:cNvPr>
          <p:cNvSpPr>
            <a:spLocks xmlns:a="http://schemas.openxmlformats.org/drawingml/2006/main" noGrp="1"/>
          </p:cNvSpPr>
          <p:nvPr/>
        </p:nvSpPr>
        <p:spPr>
          <a:xfrm xmlns:a="http://schemas.openxmlformats.org/drawingml/2006/main">
            <a:off x="7943850" y="2571750"/>
            <a:ext cx="1562100" cy="1352550"/>
          </a:xfrm>
          <a:prstGeom xmlns:a="http://schemas.openxmlformats.org/drawingml/2006/main" prst="roundRect">
            <a:avLst>
              <a:gd name="adj" fmla="val 8451"/>
            </a:avLst>
          </a:prstGeom>
          <a:solidFill xmlns:a="http://schemas.openxmlformats.org/drawingml/2006/main">
            <a:srgbClr val="27272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C8915B3-ADA2-4EA3-B588-F7614DD27269}"/>
              </a:ext>
            </a:extLst>
          </p:cNvPr>
          <p:cNvSpPr>
            <a:spLocks xmlns:a="http://schemas.openxmlformats.org/drawingml/2006/main" noGrp="1"/>
          </p:cNvSpPr>
          <p:nvPr/>
        </p:nvSpPr>
        <p:spPr>
          <a:xfrm xmlns:a="http://schemas.openxmlformats.org/drawingml/2006/main">
            <a:off x="8077200" y="2781300"/>
            <a:ext cx="1295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FFFFFF"/>
                </a:solidFill>
              </a:defRPr>
            </a:pPr>
            <a:r>
              <a:rPr sz="1125" b="1" i="0">
                <a:solidFill>
                  <a:srgbClr val="FFFFFF"/>
                </a:solidFill>
              </a:rPr>
              <a:t>VERIFIED STATE</a:t>
            </a:r>
          </a:p>
        </p:txBody>
      </p:sp>
      <p:sp>
        <p:nvSpPr>
          <p:cNvPr id="22" name="">
            <a:extLst xmlns:a="http://schemas.openxmlformats.org/drawingml/2006/main">
              <a:ext uri="{FF2B5EF4-FFF2-40B4-BE49-F238E27FC236}">
                <a16:creationId xmlns:a16="http://schemas.microsoft.com/office/drawing/2014/main" id="{F8E71E07-044E-4EAD-A501-E9CB47427164}"/>
              </a:ext>
            </a:extLst>
          </p:cNvPr>
          <p:cNvSpPr>
            <a:spLocks xmlns:a="http://schemas.openxmlformats.org/drawingml/2006/main" noGrp="1"/>
          </p:cNvSpPr>
          <p:nvPr/>
        </p:nvSpPr>
        <p:spPr>
          <a:xfrm xmlns:a="http://schemas.openxmlformats.org/drawingml/2006/main">
            <a:off x="8058150" y="3333750"/>
            <a:ext cx="133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B8B2A8"/>
                </a:solidFill>
              </a:defRPr>
            </a:pPr>
            <a:r>
              <a:rPr sz="975" b="1" i="0">
                <a:solidFill>
                  <a:srgbClr val="B8B2A8"/>
                </a:solidFill>
              </a:rPr>
              <a:t>Cart, fulfillment,</a:t>
            </a:r>
          </a:p>
          <a:p xmlns:a="http://schemas.openxmlformats.org/drawingml/2006/main">
            <a:pPr algn="ctr">
              <a:defRPr sz="975" b="1" i="0">
                <a:solidFill>
                  <a:srgbClr val="B8B2A8"/>
                </a:solidFill>
              </a:defRPr>
            </a:pPr>
            <a:r>
              <a:rPr sz="975" b="1" i="0">
                <a:solidFill>
                  <a:srgbClr val="B8B2A8"/>
                </a:solidFill>
              </a:rPr>
              <a:t>order, payment</a:t>
            </a:r>
          </a:p>
        </p:txBody>
      </p:sp>
      <p:sp>
        <p:nvSpPr>
          <p:cNvPr id="23" name="">
            <a:extLst xmlns:a="http://schemas.openxmlformats.org/drawingml/2006/main">
              <a:ext uri="{FF2B5EF4-FFF2-40B4-BE49-F238E27FC236}">
                <a16:creationId xmlns:a16="http://schemas.microsoft.com/office/drawing/2014/main" id="{C89F848C-4CC1-4437-AEB8-23B765F4A397}"/>
              </a:ext>
            </a:extLst>
          </p:cNvPr>
          <p:cNvSpPr>
            <a:spLocks xmlns:a="http://schemas.openxmlformats.org/drawingml/2006/main" noGrp="1"/>
          </p:cNvSpPr>
          <p:nvPr/>
        </p:nvSpPr>
        <p:spPr>
          <a:xfrm xmlns:a="http://schemas.openxmlformats.org/drawingml/2006/main">
            <a:off x="9505950" y="304800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i="0">
                <a:solidFill>
                  <a:srgbClr val="E4002B"/>
                </a:solidFill>
              </a:defRPr>
            </a:pPr>
            <a:r>
              <a:rPr sz="1425" b="1" i="0">
                <a:solidFill>
                  <a:srgbClr val="E4002B"/>
                </a:solidFill>
              </a:rPr>
              <a:t>→</a:t>
            </a:r>
          </a:p>
        </p:txBody>
      </p:sp>
      <p:sp>
        <p:nvSpPr>
          <p:cNvPr id="24" name="">
            <a:extLst xmlns:a="http://schemas.openxmlformats.org/drawingml/2006/main">
              <a:ext uri="{FF2B5EF4-FFF2-40B4-BE49-F238E27FC236}">
                <a16:creationId xmlns:a16="http://schemas.microsoft.com/office/drawing/2014/main" id="{277603CF-E639-4FDB-84D3-991319B4DDDC}"/>
              </a:ext>
            </a:extLst>
          </p:cNvPr>
          <p:cNvSpPr>
            <a:spLocks xmlns:a="http://schemas.openxmlformats.org/drawingml/2006/main" noGrp="1"/>
          </p:cNvSpPr>
          <p:nvPr/>
        </p:nvSpPr>
        <p:spPr>
          <a:xfrm xmlns:a="http://schemas.openxmlformats.org/drawingml/2006/main">
            <a:off x="9753600" y="2571750"/>
            <a:ext cx="1562100" cy="1352550"/>
          </a:xfrm>
          <a:prstGeom xmlns:a="http://schemas.openxmlformats.org/drawingml/2006/main" prst="roundRect">
            <a:avLst>
              <a:gd name="adj" fmla="val 8451"/>
            </a:avLst>
          </a:prstGeom>
          <a:solidFill xmlns:a="http://schemas.openxmlformats.org/drawingml/2006/main">
            <a:srgbClr val="27272A"/>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7639CEC-1DAE-4E2F-83AF-00CE005B78A0}"/>
              </a:ext>
            </a:extLst>
          </p:cNvPr>
          <p:cNvSpPr>
            <a:spLocks xmlns:a="http://schemas.openxmlformats.org/drawingml/2006/main" noGrp="1"/>
          </p:cNvSpPr>
          <p:nvPr/>
        </p:nvSpPr>
        <p:spPr>
          <a:xfrm xmlns:a="http://schemas.openxmlformats.org/drawingml/2006/main">
            <a:off x="9886950" y="2781300"/>
            <a:ext cx="1295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FFFFFF"/>
                </a:solidFill>
              </a:defRPr>
            </a:pPr>
            <a:r>
              <a:rPr sz="1125" b="1" i="0">
                <a:solidFill>
                  <a:srgbClr val="FFFFFF"/>
                </a:solidFill>
              </a:rPr>
              <a:t>CUSTOMER +</a:t>
            </a:r>
          </a:p>
          <a:p xmlns:a="http://schemas.openxmlformats.org/drawingml/2006/main">
            <a:pPr algn="ctr">
              <a:defRPr sz="1125" b="1" i="0">
                <a:solidFill>
                  <a:srgbClr val="FFFFFF"/>
                </a:solidFill>
              </a:defRPr>
            </a:pPr>
            <a:r>
              <a:rPr sz="1125" b="1" i="0">
                <a:solidFill>
                  <a:srgbClr val="FFFFFF"/>
                </a:solidFill>
              </a:rPr>
              <a:t>OPERATOR</a:t>
            </a:r>
          </a:p>
        </p:txBody>
      </p:sp>
      <p:sp>
        <p:nvSpPr>
          <p:cNvPr id="26" name="">
            <a:extLst xmlns:a="http://schemas.openxmlformats.org/drawingml/2006/main">
              <a:ext uri="{FF2B5EF4-FFF2-40B4-BE49-F238E27FC236}">
                <a16:creationId xmlns:a16="http://schemas.microsoft.com/office/drawing/2014/main" id="{D7E4E6FF-5FD0-4B1E-B61E-6C017DE343B2}"/>
              </a:ext>
            </a:extLst>
          </p:cNvPr>
          <p:cNvSpPr>
            <a:spLocks xmlns:a="http://schemas.openxmlformats.org/drawingml/2006/main" noGrp="1"/>
          </p:cNvSpPr>
          <p:nvPr/>
        </p:nvSpPr>
        <p:spPr>
          <a:xfrm xmlns:a="http://schemas.openxmlformats.org/drawingml/2006/main">
            <a:off x="9867900" y="3333750"/>
            <a:ext cx="133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B8B2A8"/>
                </a:solidFill>
              </a:defRPr>
            </a:pPr>
            <a:r>
              <a:rPr sz="975" b="1" i="0">
                <a:solidFill>
                  <a:srgbClr val="B8B2A8"/>
                </a:solidFill>
              </a:rPr>
              <a:t>Text + GenUI;</a:t>
            </a:r>
          </a:p>
          <a:p xmlns:a="http://schemas.openxmlformats.org/drawingml/2006/main">
            <a:pPr algn="ctr">
              <a:defRPr sz="975" b="1" i="0">
                <a:solidFill>
                  <a:srgbClr val="B8B2A8"/>
                </a:solidFill>
              </a:defRPr>
            </a:pPr>
            <a:r>
              <a:rPr sz="975" b="1" i="0">
                <a:solidFill>
                  <a:srgbClr val="B8B2A8"/>
                </a:solidFill>
              </a:rPr>
              <a:t>monitor events</a:t>
            </a:r>
          </a:p>
        </p:txBody>
      </p:sp>
      <p:sp>
        <p:nvSpPr>
          <p:cNvPr id="27" name="">
            <a:extLst xmlns:a="http://schemas.openxmlformats.org/drawingml/2006/main">
              <a:ext uri="{FF2B5EF4-FFF2-40B4-BE49-F238E27FC236}">
                <a16:creationId xmlns:a16="http://schemas.microsoft.com/office/drawing/2014/main" id="{EAD507B8-92FA-41DA-9E6B-CC9A3CF3E745}"/>
              </a:ext>
            </a:extLst>
          </p:cNvPr>
          <p:cNvSpPr>
            <a:spLocks xmlns:a="http://schemas.openxmlformats.org/drawingml/2006/main" noGrp="1"/>
          </p:cNvSpPr>
          <p:nvPr/>
        </p:nvSpPr>
        <p:spPr>
          <a:xfrm xmlns:a="http://schemas.openxmlformats.org/drawingml/2006/main">
            <a:off x="704850" y="4552950"/>
            <a:ext cx="10801350" cy="723900"/>
          </a:xfrm>
          <a:prstGeom xmlns:a="http://schemas.openxmlformats.org/drawingml/2006/main" prst="roundRect">
            <a:avLst>
              <a:gd name="adj" fmla="val 15789"/>
            </a:avLst>
          </a:prstGeom>
          <a:solidFill xmlns:a="http://schemas.openxmlformats.org/drawingml/2006/main">
            <a:srgbClr val="F7F2E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AC6CD553-ADBE-4525-A7DB-7ED558E971B0}"/>
              </a:ext>
            </a:extLst>
          </p:cNvPr>
          <p:cNvSpPr>
            <a:spLocks xmlns:a="http://schemas.openxmlformats.org/drawingml/2006/main" noGrp="1"/>
          </p:cNvSpPr>
          <p:nvPr/>
        </p:nvSpPr>
        <p:spPr>
          <a:xfrm xmlns:a="http://schemas.openxmlformats.org/drawingml/2006/main">
            <a:off x="990600" y="4762500"/>
            <a:ext cx="10229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i="0">
                <a:solidFill>
                  <a:srgbClr val="0B0B0D"/>
                </a:solidFill>
              </a:defRPr>
            </a:pPr>
            <a:r>
              <a:rPr sz="1650" b="1" i="0">
                <a:solidFill>
                  <a:srgbClr val="0B0B0D"/>
                </a:solidFill>
              </a:rPr>
              <a:t>The response is composed only after tool results and state are recorded.</a:t>
            </a:r>
          </a:p>
        </p:txBody>
      </p:sp>
      <p:sp>
        <p:nvSpPr>
          <p:cNvPr id="29" name="">
            <a:extLst xmlns:a="http://schemas.openxmlformats.org/drawingml/2006/main">
              <a:ext uri="{FF2B5EF4-FFF2-40B4-BE49-F238E27FC236}">
                <a16:creationId xmlns:a16="http://schemas.microsoft.com/office/drawing/2014/main" id="{A6BBAC0C-153F-42E1-86D7-ED298F278F6B}"/>
              </a:ext>
            </a:extLst>
          </p:cNvPr>
          <p:cNvSpPr>
            <a:spLocks xmlns:a="http://schemas.openxmlformats.org/drawingml/2006/main" noGrp="1"/>
          </p:cNvSpPr>
          <p:nvPr/>
        </p:nvSpPr>
        <p:spPr>
          <a:xfrm xmlns:a="http://schemas.openxmlformats.org/drawingml/2006/main">
            <a:off x="704850" y="5676900"/>
            <a:ext cx="10801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E4002B"/>
                </a:solidFill>
              </a:defRPr>
            </a:pPr>
            <a:r>
              <a:rPr sz="1050" b="1" i="0">
                <a:solidFill>
                  <a:srgbClr val="E4002B"/>
                </a:solidFill>
              </a:rPr>
              <a:t>CLAIM BOUNDARY  /  SINGLE AGENT LOOP</a:t>
            </a:r>
          </a:p>
        </p:txBody>
      </p:sp>
      <p:sp>
        <p:nvSpPr>
          <p:cNvPr id="30" name="">
            <a:extLst xmlns:a="http://schemas.openxmlformats.org/drawingml/2006/main">
              <a:ext uri="{FF2B5EF4-FFF2-40B4-BE49-F238E27FC236}">
                <a16:creationId xmlns:a16="http://schemas.microsoft.com/office/drawing/2014/main" id="{C93E2837-87DC-4096-A468-099D88399CC1}"/>
              </a:ext>
            </a:extLst>
          </p:cNvPr>
          <p:cNvSpPr>
            <a:spLocks xmlns:a="http://schemas.openxmlformats.org/drawingml/2006/main" noGrp="1"/>
          </p:cNvSpPr>
          <p:nvPr/>
        </p:nvSpPr>
        <p:spPr>
          <a:xfrm xmlns:a="http://schemas.openxmlformats.org/drawingml/2006/main">
            <a:off x="704850" y="5962650"/>
            <a:ext cx="10801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B8B2A8"/>
                </a:solidFill>
              </a:defRPr>
            </a:pPr>
            <a:r>
              <a:rPr sz="1200" b="1" i="0">
                <a:solidFill>
                  <a:srgbClr val="B8B2A8"/>
                </a:solidFill>
              </a:rPr>
              <a:t>No supervisor or autonomous specialist-agent system.</a:t>
            </a:r>
          </a:p>
        </p:txBody>
      </p:sp>
      <p:sp>
        <p:nvSpPr>
          <p:cNvPr id="31" name="">
            <a:extLst xmlns:a="http://schemas.openxmlformats.org/drawingml/2006/main">
              <a:ext uri="{FF2B5EF4-FFF2-40B4-BE49-F238E27FC236}">
                <a16:creationId xmlns:a16="http://schemas.microsoft.com/office/drawing/2014/main" id="{2512896F-6EF2-469A-916D-0DF34E803423}"/>
              </a:ext>
            </a:extLst>
          </p:cNvPr>
          <p:cNvSpPr>
            <a:spLocks xmlns:a="http://schemas.openxmlformats.org/drawingml/2006/main" noGrp="1"/>
          </p:cNvSpPr>
          <p:nvPr/>
        </p:nvSpPr>
        <p:spPr>
          <a:xfrm xmlns:a="http://schemas.openxmlformats.org/drawingml/2006/main">
            <a:off x="685800" y="6457950"/>
            <a:ext cx="590550" cy="47625"/>
          </a:xfrm>
          <a:prstGeom xmlns:a="http://schemas.openxmlformats.org/drawingml/2006/main" prst="rect">
            <a:avLst/>
          </a:prstGeom>
          <a:solidFill xmlns:a="http://schemas.openxmlformats.org/drawingml/2006/main">
            <a:srgbClr val="E4002B"/>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A4444C09-0D55-447B-873D-A0C5ED8237C9}"/>
              </a:ext>
            </a:extLst>
          </p:cNvPr>
          <p:cNvSpPr>
            <a:spLocks xmlns:a="http://schemas.openxmlformats.org/drawingml/2006/main" noGrp="1"/>
          </p:cNvSpPr>
          <p:nvPr/>
        </p:nvSpPr>
        <p:spPr>
          <a:xfrm xmlns:a="http://schemas.openxmlformats.org/drawingml/2006/main">
            <a:off x="1466850" y="6381750"/>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B8B2A8"/>
                </a:solidFill>
              </a:defRPr>
            </a:pPr>
            <a:r>
              <a:rPr sz="825" b="1" i="0">
                <a:solidFill>
                  <a:srgbClr val="B8B2A8"/>
                </a:solidFill>
              </a:rPr>
              <a:t>TEAM BRAISE  /  KFC COMMERCE AGENT</a:t>
            </a:r>
          </a:p>
        </p:txBody>
      </p:sp>
    </p:spTree>
    <p:extLst>
      <p:ext uri="{BB962C8B-B14F-4D97-AF65-F5344CB8AC3E}">
        <p14:creationId xmlns:p14="http://schemas.microsoft.com/office/powerpoint/2010/main" val="240497071"/>
      </p:ext>
    </p:extLst>
  </p:cSld>
</p:sld>
</file>

<file path=ppt/slides/slide10.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2810622-E174-4D7F-88C0-7CE77E966A6E}"/>
              </a:ext>
            </a:extLst>
          </p:cNvPr>
          <p:cNvSpPr>
            <a:spLocks xmlns:a="http://schemas.openxmlformats.org/drawingml/2006/main" noGrp="1"/>
          </p:cNvSpPr>
          <p:nvPr/>
        </p:nvSpPr>
        <p:spPr>
          <a:xfrm xmlns:a="http://schemas.openxmlformats.org/drawingml/2006/main">
            <a:off x="685800" y="495300"/>
            <a:ext cx="428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E4002B"/>
                </a:solidFill>
              </a:defRPr>
            </a:pPr>
            <a:r>
              <a:rPr sz="1125" b="1" i="0">
                <a:solidFill>
                  <a:srgbClr val="E4002B"/>
                </a:solidFill>
              </a:rPr>
              <a:t>A2  /  SYSTEM AUTHORITY</a:t>
            </a:r>
          </a:p>
        </p:txBody>
      </p:sp>
      <p:sp>
        <p:nvSpPr>
          <p:cNvPr id="2" name="">
            <a:extLst xmlns:a="http://schemas.openxmlformats.org/drawingml/2006/main">
              <a:ext uri="{FF2B5EF4-FFF2-40B4-BE49-F238E27FC236}">
                <a16:creationId xmlns:a16="http://schemas.microsoft.com/office/drawing/2014/main" id="{B9A18B48-0137-47FE-9BE0-13F71EA4B9DB}"/>
              </a:ext>
            </a:extLst>
          </p:cNvPr>
          <p:cNvSpPr>
            <a:spLocks xmlns:a="http://schemas.openxmlformats.org/drawingml/2006/main" noGrp="1"/>
          </p:cNvSpPr>
          <p:nvPr/>
        </p:nvSpPr>
        <p:spPr>
          <a:xfrm xmlns:a="http://schemas.openxmlformats.org/drawingml/2006/main">
            <a:off x="11087100" y="4953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i="0">
                <a:solidFill>
                  <a:srgbClr val="0B0B0D"/>
                </a:solidFill>
              </a:defRPr>
            </a:pPr>
            <a:r>
              <a:rPr sz="975" b="1" i="0">
                <a:solidFill>
                  <a:srgbClr val="0B0B0D"/>
                </a:solidFill>
              </a:rPr>
              <a:t>A2</a:t>
            </a:r>
          </a:p>
        </p:txBody>
      </p:sp>
      <p:sp>
        <p:nvSpPr>
          <p:cNvPr id="3" name="">
            <a:extLst xmlns:a="http://schemas.openxmlformats.org/drawingml/2006/main">
              <a:ext uri="{FF2B5EF4-FFF2-40B4-BE49-F238E27FC236}">
                <a16:creationId xmlns:a16="http://schemas.microsoft.com/office/drawing/2014/main" id="{E123621F-B69D-45CE-9A22-B4065C5DFCC1}"/>
              </a:ext>
            </a:extLst>
          </p:cNvPr>
          <p:cNvSpPr>
            <a:spLocks xmlns:a="http://schemas.openxmlformats.org/drawingml/2006/main" noGrp="1"/>
          </p:cNvSpPr>
          <p:nvPr/>
        </p:nvSpPr>
        <p:spPr>
          <a:xfrm xmlns:a="http://schemas.openxmlformats.org/drawingml/2006/main">
            <a:off x="685800" y="914400"/>
            <a:ext cx="10287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i="0">
                <a:solidFill>
                  <a:srgbClr val="0B0B0D"/>
                </a:solidFill>
              </a:defRPr>
            </a:pPr>
            <a:r>
              <a:rPr sz="3300" b="1" i="0">
                <a:solidFill>
                  <a:srgbClr val="0B0B0D"/>
                </a:solidFill>
              </a:rPr>
              <a:t>The model proposes. The system decides</a:t>
            </a:r>
          </a:p>
          <a:p xmlns:a="http://schemas.openxmlformats.org/drawingml/2006/main">
            <a:pPr algn="l">
              <a:defRPr sz="3300" b="1" i="0">
                <a:solidFill>
                  <a:srgbClr val="0B0B0D"/>
                </a:solidFill>
              </a:defRPr>
            </a:pPr>
            <a:r>
              <a:rPr sz="3300" b="1" i="0">
                <a:solidFill>
                  <a:srgbClr val="0B0B0D"/>
                </a:solidFill>
              </a:rPr>
              <a:t>what can execute.</a:t>
            </a:r>
          </a:p>
        </p:txBody>
      </p:sp>
      <p:sp>
        <p:nvSpPr>
          <p:cNvPr id="4" name="">
            <a:extLst xmlns:a="http://schemas.openxmlformats.org/drawingml/2006/main">
              <a:ext uri="{FF2B5EF4-FFF2-40B4-BE49-F238E27FC236}">
                <a16:creationId xmlns:a16="http://schemas.microsoft.com/office/drawing/2014/main" id="{AA7B0506-210C-48FF-BCCF-87921B9E3D5E}"/>
              </a:ext>
            </a:extLst>
          </p:cNvPr>
          <p:cNvSpPr>
            <a:spLocks xmlns:a="http://schemas.openxmlformats.org/drawingml/2006/main" noGrp="1"/>
          </p:cNvSpPr>
          <p:nvPr/>
        </p:nvSpPr>
        <p:spPr>
          <a:xfrm xmlns:a="http://schemas.openxmlformats.org/drawingml/2006/main">
            <a:off x="704850" y="2247900"/>
            <a:ext cx="6286500" cy="533400"/>
          </a:xfrm>
          <a:prstGeom xmlns:a="http://schemas.openxmlformats.org/drawingml/2006/main" prst="roundRect">
            <a:avLst>
              <a:gd name="adj" fmla="val 21429"/>
            </a:avLst>
          </a:prstGeom>
          <a:solidFill xmlns:a="http://schemas.openxmlformats.org/drawingml/2006/main">
            <a:srgbClr val="0B0B0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2E538E5-FD29-4328-B252-E338FF73DBBA}"/>
              </a:ext>
            </a:extLst>
          </p:cNvPr>
          <p:cNvSpPr>
            <a:spLocks xmlns:a="http://schemas.openxmlformats.org/drawingml/2006/main" noGrp="1"/>
          </p:cNvSpPr>
          <p:nvPr/>
        </p:nvSpPr>
        <p:spPr>
          <a:xfrm xmlns:a="http://schemas.openxmlformats.org/drawingml/2006/main">
            <a:off x="914400" y="23812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E4002B"/>
                </a:solidFill>
              </a:defRPr>
            </a:pPr>
            <a:r>
              <a:rPr sz="1050" b="1" i="0">
                <a:solidFill>
                  <a:srgbClr val="E4002B"/>
                </a:solidFill>
              </a:rPr>
              <a:t>LLM PLANNER</a:t>
            </a:r>
          </a:p>
        </p:txBody>
      </p:sp>
      <p:sp>
        <p:nvSpPr>
          <p:cNvPr id="6" name="">
            <a:extLst xmlns:a="http://schemas.openxmlformats.org/drawingml/2006/main">
              <a:ext uri="{FF2B5EF4-FFF2-40B4-BE49-F238E27FC236}">
                <a16:creationId xmlns:a16="http://schemas.microsoft.com/office/drawing/2014/main" id="{BDFCBD77-B855-4490-AE48-AC86FAFF7D23}"/>
              </a:ext>
            </a:extLst>
          </p:cNvPr>
          <p:cNvSpPr>
            <a:spLocks xmlns:a="http://schemas.openxmlformats.org/drawingml/2006/main" noGrp="1"/>
          </p:cNvSpPr>
          <p:nvPr/>
        </p:nvSpPr>
        <p:spPr>
          <a:xfrm xmlns:a="http://schemas.openxmlformats.org/drawingml/2006/main">
            <a:off x="3028950" y="2352675"/>
            <a:ext cx="3733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FFFFFF"/>
                </a:solidFill>
              </a:defRPr>
            </a:pPr>
            <a:r>
              <a:rPr sz="1125" b="1" i="0">
                <a:solidFill>
                  <a:srgbClr val="FFFFFF"/>
                </a:solidFill>
              </a:rPr>
              <a:t>Proposes intent, entities, tool calls, and response claims</a:t>
            </a:r>
          </a:p>
        </p:txBody>
      </p:sp>
      <p:sp>
        <p:nvSpPr>
          <p:cNvPr id="7" name="">
            <a:extLst xmlns:a="http://schemas.openxmlformats.org/drawingml/2006/main">
              <a:ext uri="{FF2B5EF4-FFF2-40B4-BE49-F238E27FC236}">
                <a16:creationId xmlns:a16="http://schemas.microsoft.com/office/drawing/2014/main" id="{8788A9DB-983A-4E63-8EDC-795551DD92F0}"/>
              </a:ext>
            </a:extLst>
          </p:cNvPr>
          <p:cNvSpPr>
            <a:spLocks xmlns:a="http://schemas.openxmlformats.org/drawingml/2006/main" noGrp="1"/>
          </p:cNvSpPr>
          <p:nvPr/>
        </p:nvSpPr>
        <p:spPr>
          <a:xfrm xmlns:a="http://schemas.openxmlformats.org/drawingml/2006/main">
            <a:off x="704850" y="2933700"/>
            <a:ext cx="6286500" cy="533400"/>
          </a:xfrm>
          <a:prstGeom xmlns:a="http://schemas.openxmlformats.org/drawingml/2006/main" prst="roundRect">
            <a:avLst>
              <a:gd name="adj" fmla="val 21429"/>
            </a:avLst>
          </a:prstGeom>
          <a:solidFill xmlns:a="http://schemas.openxmlformats.org/drawingml/2006/main">
            <a:srgbClr val="0B0B0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21B0C45-15CA-4902-929B-DE95B6F77A4B}"/>
              </a:ext>
            </a:extLst>
          </p:cNvPr>
          <p:cNvSpPr>
            <a:spLocks xmlns:a="http://schemas.openxmlformats.org/drawingml/2006/main" noGrp="1"/>
          </p:cNvSpPr>
          <p:nvPr/>
        </p:nvSpPr>
        <p:spPr>
          <a:xfrm xmlns:a="http://schemas.openxmlformats.org/drawingml/2006/main">
            <a:off x="914400" y="30670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E4002B"/>
                </a:solidFill>
              </a:defRPr>
            </a:pPr>
            <a:r>
              <a:rPr sz="1050" b="1" i="0">
                <a:solidFill>
                  <a:srgbClr val="E4002B"/>
                </a:solidFill>
              </a:rPr>
              <a:t>TYPED TOOL CATALOG</a:t>
            </a:r>
          </a:p>
        </p:txBody>
      </p:sp>
      <p:sp>
        <p:nvSpPr>
          <p:cNvPr id="9" name="">
            <a:extLst xmlns:a="http://schemas.openxmlformats.org/drawingml/2006/main">
              <a:ext uri="{FF2B5EF4-FFF2-40B4-BE49-F238E27FC236}">
                <a16:creationId xmlns:a16="http://schemas.microsoft.com/office/drawing/2014/main" id="{37D5B773-6A1A-4A40-8578-9960C4CD918A}"/>
              </a:ext>
            </a:extLst>
          </p:cNvPr>
          <p:cNvSpPr>
            <a:spLocks xmlns:a="http://schemas.openxmlformats.org/drawingml/2006/main" noGrp="1"/>
          </p:cNvSpPr>
          <p:nvPr/>
        </p:nvSpPr>
        <p:spPr>
          <a:xfrm xmlns:a="http://schemas.openxmlformats.org/drawingml/2006/main">
            <a:off x="3028950" y="3038475"/>
            <a:ext cx="3733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FFFFFF"/>
                </a:solidFill>
              </a:defRPr>
            </a:pPr>
            <a:r>
              <a:rPr sz="1125" b="1" i="0">
                <a:solidFill>
                  <a:srgbClr val="FFFFFF"/>
                </a:solidFill>
              </a:rPr>
              <a:t>Rejects unknown tools and invalid arguments</a:t>
            </a:r>
          </a:p>
        </p:txBody>
      </p:sp>
      <p:sp>
        <p:nvSpPr>
          <p:cNvPr id="10" name="">
            <a:extLst xmlns:a="http://schemas.openxmlformats.org/drawingml/2006/main">
              <a:ext uri="{FF2B5EF4-FFF2-40B4-BE49-F238E27FC236}">
                <a16:creationId xmlns:a16="http://schemas.microsoft.com/office/drawing/2014/main" id="{55C0A4E3-F37D-4630-B0C6-2F9B44878C72}"/>
              </a:ext>
            </a:extLst>
          </p:cNvPr>
          <p:cNvSpPr>
            <a:spLocks xmlns:a="http://schemas.openxmlformats.org/drawingml/2006/main" noGrp="1"/>
          </p:cNvSpPr>
          <p:nvPr/>
        </p:nvSpPr>
        <p:spPr>
          <a:xfrm xmlns:a="http://schemas.openxmlformats.org/drawingml/2006/main">
            <a:off x="704850" y="3619500"/>
            <a:ext cx="6286500" cy="533400"/>
          </a:xfrm>
          <a:prstGeom xmlns:a="http://schemas.openxmlformats.org/drawingml/2006/main" prst="roundRect">
            <a:avLst>
              <a:gd name="adj" fmla="val 21429"/>
            </a:avLst>
          </a:prstGeom>
          <a:solidFill xmlns:a="http://schemas.openxmlformats.org/drawingml/2006/main">
            <a:srgbClr val="E4002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DCE700D-3483-453C-8172-186C110B1CE6}"/>
              </a:ext>
            </a:extLst>
          </p:cNvPr>
          <p:cNvSpPr>
            <a:spLocks xmlns:a="http://schemas.openxmlformats.org/drawingml/2006/main" noGrp="1"/>
          </p:cNvSpPr>
          <p:nvPr/>
        </p:nvSpPr>
        <p:spPr>
          <a:xfrm xmlns:a="http://schemas.openxmlformats.org/drawingml/2006/main">
            <a:off x="914400" y="37528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FFFFFF"/>
                </a:solidFill>
              </a:defRPr>
            </a:pPr>
            <a:r>
              <a:rPr sz="1050" b="1" i="0">
                <a:solidFill>
                  <a:srgbClr val="FFFFFF"/>
                </a:solidFill>
              </a:rPr>
              <a:t>POLICY + SAFETY GATES</a:t>
            </a:r>
          </a:p>
        </p:txBody>
      </p:sp>
      <p:sp>
        <p:nvSpPr>
          <p:cNvPr id="12" name="">
            <a:extLst xmlns:a="http://schemas.openxmlformats.org/drawingml/2006/main">
              <a:ext uri="{FF2B5EF4-FFF2-40B4-BE49-F238E27FC236}">
                <a16:creationId xmlns:a16="http://schemas.microsoft.com/office/drawing/2014/main" id="{D3D95CE4-A239-4EB1-B11F-6DC3AB14FC21}"/>
              </a:ext>
            </a:extLst>
          </p:cNvPr>
          <p:cNvSpPr>
            <a:spLocks xmlns:a="http://schemas.openxmlformats.org/drawingml/2006/main" noGrp="1"/>
          </p:cNvSpPr>
          <p:nvPr/>
        </p:nvSpPr>
        <p:spPr>
          <a:xfrm xmlns:a="http://schemas.openxmlformats.org/drawingml/2006/main">
            <a:off x="3028950" y="3724275"/>
            <a:ext cx="3733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FFFFFF"/>
                </a:solidFill>
              </a:defRPr>
            </a:pPr>
            <a:r>
              <a:rPr sz="1125" b="1" i="0">
                <a:solidFill>
                  <a:srgbClr val="FFFFFF"/>
                </a:solidFill>
              </a:rPr>
              <a:t>Require verified items, fulfillment, evidence, and approval</a:t>
            </a:r>
          </a:p>
        </p:txBody>
      </p:sp>
      <p:sp>
        <p:nvSpPr>
          <p:cNvPr id="13" name="">
            <a:extLst xmlns:a="http://schemas.openxmlformats.org/drawingml/2006/main">
              <a:ext uri="{FF2B5EF4-FFF2-40B4-BE49-F238E27FC236}">
                <a16:creationId xmlns:a16="http://schemas.microsoft.com/office/drawing/2014/main" id="{EF1D31AD-D539-44E2-9D6D-746F6A851740}"/>
              </a:ext>
            </a:extLst>
          </p:cNvPr>
          <p:cNvSpPr>
            <a:spLocks xmlns:a="http://schemas.openxmlformats.org/drawingml/2006/main" noGrp="1"/>
          </p:cNvSpPr>
          <p:nvPr/>
        </p:nvSpPr>
        <p:spPr>
          <a:xfrm xmlns:a="http://schemas.openxmlformats.org/drawingml/2006/main">
            <a:off x="704850" y="4305300"/>
            <a:ext cx="6286500" cy="533400"/>
          </a:xfrm>
          <a:prstGeom xmlns:a="http://schemas.openxmlformats.org/drawingml/2006/main" prst="roundRect">
            <a:avLst>
              <a:gd name="adj" fmla="val 21429"/>
            </a:avLst>
          </a:prstGeom>
          <a:solidFill xmlns:a="http://schemas.openxmlformats.org/drawingml/2006/main">
            <a:srgbClr val="0B0B0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3D7460D-2EA2-45C0-9BF5-1D0F03151D95}"/>
              </a:ext>
            </a:extLst>
          </p:cNvPr>
          <p:cNvSpPr>
            <a:spLocks xmlns:a="http://schemas.openxmlformats.org/drawingml/2006/main" noGrp="1"/>
          </p:cNvSpPr>
          <p:nvPr/>
        </p:nvSpPr>
        <p:spPr>
          <a:xfrm xmlns:a="http://schemas.openxmlformats.org/drawingml/2006/main">
            <a:off x="914400" y="44386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E4002B"/>
                </a:solidFill>
              </a:defRPr>
            </a:pPr>
            <a:r>
              <a:rPr sz="1050" b="1" i="0">
                <a:solidFill>
                  <a:srgbClr val="E4002B"/>
                </a:solidFill>
              </a:rPr>
              <a:t>TOOL EXECUTOR</a:t>
            </a:r>
          </a:p>
        </p:txBody>
      </p:sp>
      <p:sp>
        <p:nvSpPr>
          <p:cNvPr id="15" name="">
            <a:extLst xmlns:a="http://schemas.openxmlformats.org/drawingml/2006/main">
              <a:ext uri="{FF2B5EF4-FFF2-40B4-BE49-F238E27FC236}">
                <a16:creationId xmlns:a16="http://schemas.microsoft.com/office/drawing/2014/main" id="{39B7DF20-5A78-48EF-8A3C-58434FABD180}"/>
              </a:ext>
            </a:extLst>
          </p:cNvPr>
          <p:cNvSpPr>
            <a:spLocks xmlns:a="http://schemas.openxmlformats.org/drawingml/2006/main" noGrp="1"/>
          </p:cNvSpPr>
          <p:nvPr/>
        </p:nvSpPr>
        <p:spPr>
          <a:xfrm xmlns:a="http://schemas.openxmlformats.org/drawingml/2006/main">
            <a:off x="3028950" y="4410075"/>
            <a:ext cx="3733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FFFFFF"/>
                </a:solidFill>
              </a:defRPr>
            </a:pPr>
            <a:r>
              <a:rPr sz="1125" b="1" i="0">
                <a:solidFill>
                  <a:srgbClr val="FFFFFF"/>
                </a:solidFill>
              </a:rPr>
              <a:t>Calls bounded commerce clients and records provenance</a:t>
            </a:r>
          </a:p>
        </p:txBody>
      </p:sp>
      <p:sp>
        <p:nvSpPr>
          <p:cNvPr id="16" name="">
            <a:extLst xmlns:a="http://schemas.openxmlformats.org/drawingml/2006/main">
              <a:ext uri="{FF2B5EF4-FFF2-40B4-BE49-F238E27FC236}">
                <a16:creationId xmlns:a16="http://schemas.microsoft.com/office/drawing/2014/main" id="{D231F6CA-6C64-49F5-93DE-7E71F44E8D04}"/>
              </a:ext>
            </a:extLst>
          </p:cNvPr>
          <p:cNvSpPr>
            <a:spLocks xmlns:a="http://schemas.openxmlformats.org/drawingml/2006/main" noGrp="1"/>
          </p:cNvSpPr>
          <p:nvPr/>
        </p:nvSpPr>
        <p:spPr>
          <a:xfrm xmlns:a="http://schemas.openxmlformats.org/drawingml/2006/main">
            <a:off x="704850" y="4991100"/>
            <a:ext cx="6286500" cy="533400"/>
          </a:xfrm>
          <a:prstGeom xmlns:a="http://schemas.openxmlformats.org/drawingml/2006/main" prst="roundRect">
            <a:avLst>
              <a:gd name="adj" fmla="val 21429"/>
            </a:avLst>
          </a:prstGeom>
          <a:solidFill xmlns:a="http://schemas.openxmlformats.org/drawingml/2006/main">
            <a:srgbClr val="0B0B0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9A19C38-A62E-4F7E-8964-A467C3DAA63C}"/>
              </a:ext>
            </a:extLst>
          </p:cNvPr>
          <p:cNvSpPr>
            <a:spLocks xmlns:a="http://schemas.openxmlformats.org/drawingml/2006/main" noGrp="1"/>
          </p:cNvSpPr>
          <p:nvPr/>
        </p:nvSpPr>
        <p:spPr>
          <a:xfrm xmlns:a="http://schemas.openxmlformats.org/drawingml/2006/main">
            <a:off x="914400" y="51244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E4002B"/>
                </a:solidFill>
              </a:defRPr>
            </a:pPr>
            <a:r>
              <a:rPr sz="1050" b="1" i="0">
                <a:solidFill>
                  <a:srgbClr val="E4002B"/>
                </a:solidFill>
              </a:rPr>
              <a:t>PERSISTED STATE</a:t>
            </a:r>
          </a:p>
        </p:txBody>
      </p:sp>
      <p:sp>
        <p:nvSpPr>
          <p:cNvPr id="18" name="">
            <a:extLst xmlns:a="http://schemas.openxmlformats.org/drawingml/2006/main">
              <a:ext uri="{FF2B5EF4-FFF2-40B4-BE49-F238E27FC236}">
                <a16:creationId xmlns:a16="http://schemas.microsoft.com/office/drawing/2014/main" id="{739242B6-8B39-48D9-A574-F524504E0CE6}"/>
              </a:ext>
            </a:extLst>
          </p:cNvPr>
          <p:cNvSpPr>
            <a:spLocks xmlns:a="http://schemas.openxmlformats.org/drawingml/2006/main" noGrp="1"/>
          </p:cNvSpPr>
          <p:nvPr/>
        </p:nvSpPr>
        <p:spPr>
          <a:xfrm xmlns:a="http://schemas.openxmlformats.org/drawingml/2006/main">
            <a:off x="3028950" y="5095875"/>
            <a:ext cx="3733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FFFFFF"/>
                </a:solidFill>
              </a:defRPr>
            </a:pPr>
            <a:r>
              <a:rPr sz="1125" b="1" i="0">
                <a:solidFill>
                  <a:srgbClr val="FFFFFF"/>
                </a:solidFill>
              </a:rPr>
              <a:t>Owns cart, order, payment, handoff, and event truth</a:t>
            </a:r>
          </a:p>
        </p:txBody>
      </p:sp>
      <p:sp>
        <p:nvSpPr>
          <p:cNvPr id="19" name="">
            <a:extLst xmlns:a="http://schemas.openxmlformats.org/drawingml/2006/main">
              <a:ext uri="{FF2B5EF4-FFF2-40B4-BE49-F238E27FC236}">
                <a16:creationId xmlns:a16="http://schemas.microsoft.com/office/drawing/2014/main" id="{695C82DE-FD81-4354-AECC-3CF69C7AA9FA}"/>
              </a:ext>
            </a:extLst>
          </p:cNvPr>
          <p:cNvSpPr>
            <a:spLocks xmlns:a="http://schemas.openxmlformats.org/drawingml/2006/main" noGrp="1"/>
          </p:cNvSpPr>
          <p:nvPr/>
        </p:nvSpPr>
        <p:spPr>
          <a:xfrm xmlns:a="http://schemas.openxmlformats.org/drawingml/2006/main">
            <a:off x="7620000" y="3619500"/>
            <a:ext cx="3886200" cy="1466850"/>
          </a:xfrm>
          <a:prstGeom xmlns:a="http://schemas.openxmlformats.org/drawingml/2006/main" prst="roundRect">
            <a:avLst>
              <a:gd name="adj" fmla="val 7792"/>
            </a:avLst>
          </a:prstGeom>
          <a:solidFill xmlns:a="http://schemas.openxmlformats.org/drawingml/2006/main">
            <a:srgbClr val="0B0B0D"/>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2401A9A-ED24-4BD1-93E4-F8F1F2B34013}"/>
              </a:ext>
            </a:extLst>
          </p:cNvPr>
          <p:cNvSpPr>
            <a:spLocks xmlns:a="http://schemas.openxmlformats.org/drawingml/2006/main" noGrp="1"/>
          </p:cNvSpPr>
          <p:nvPr/>
        </p:nvSpPr>
        <p:spPr>
          <a:xfrm xmlns:a="http://schemas.openxmlformats.org/drawingml/2006/main">
            <a:off x="7924800" y="3886200"/>
            <a:ext cx="3276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E4002B"/>
                </a:solidFill>
              </a:defRPr>
            </a:pPr>
            <a:r>
              <a:rPr sz="1050" b="1" i="0">
                <a:solidFill>
                  <a:srgbClr val="E4002B"/>
                </a:solidFill>
              </a:rPr>
              <a:t>CUSTOMER RESULT</a:t>
            </a:r>
          </a:p>
        </p:txBody>
      </p:sp>
      <p:sp>
        <p:nvSpPr>
          <p:cNvPr id="21" name="">
            <a:extLst xmlns:a="http://schemas.openxmlformats.org/drawingml/2006/main">
              <a:ext uri="{FF2B5EF4-FFF2-40B4-BE49-F238E27FC236}">
                <a16:creationId xmlns:a16="http://schemas.microsoft.com/office/drawing/2014/main" id="{1F1FA8F1-A6F9-4709-A27C-935789044AB6}"/>
              </a:ext>
            </a:extLst>
          </p:cNvPr>
          <p:cNvSpPr>
            <a:spLocks xmlns:a="http://schemas.openxmlformats.org/drawingml/2006/main" noGrp="1"/>
          </p:cNvSpPr>
          <p:nvPr/>
        </p:nvSpPr>
        <p:spPr>
          <a:xfrm xmlns:a="http://schemas.openxmlformats.org/drawingml/2006/main">
            <a:off x="7924800" y="4286250"/>
            <a:ext cx="32766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FFFFFF"/>
                </a:solidFill>
              </a:defRPr>
            </a:pPr>
            <a:r>
              <a:rPr sz="1650" b="1" i="0">
                <a:solidFill>
                  <a:srgbClr val="FFFFFF"/>
                </a:solidFill>
              </a:rPr>
              <a:t>GenUI and the final response</a:t>
            </a:r>
          </a:p>
          <a:p xmlns:a="http://schemas.openxmlformats.org/drawingml/2006/main">
            <a:pPr algn="l">
              <a:defRPr sz="1650" b="1" i="0">
                <a:solidFill>
                  <a:srgbClr val="FFFFFF"/>
                </a:solidFill>
              </a:defRPr>
            </a:pPr>
            <a:r>
              <a:rPr sz="1650" b="1" i="0">
                <a:solidFill>
                  <a:srgbClr val="FFFFFF"/>
                </a:solidFill>
              </a:rPr>
              <a:t>reflect verified state.</a:t>
            </a:r>
          </a:p>
        </p:txBody>
      </p:sp>
      <p:sp>
        <p:nvSpPr>
          <p:cNvPr id="22" name="">
            <a:extLst xmlns:a="http://schemas.openxmlformats.org/drawingml/2006/main">
              <a:ext uri="{FF2B5EF4-FFF2-40B4-BE49-F238E27FC236}">
                <a16:creationId xmlns:a16="http://schemas.microsoft.com/office/drawing/2014/main" id="{05806EC4-B8D2-41B3-9654-B0018C881EF4}"/>
              </a:ext>
            </a:extLst>
          </p:cNvPr>
          <p:cNvSpPr>
            <a:spLocks xmlns:a="http://schemas.openxmlformats.org/drawingml/2006/main" noGrp="1"/>
          </p:cNvSpPr>
          <p:nvPr/>
        </p:nvSpPr>
        <p:spPr>
          <a:xfrm xmlns:a="http://schemas.openxmlformats.org/drawingml/2006/main">
            <a:off x="7620000" y="5410200"/>
            <a:ext cx="3886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E4002B"/>
                </a:solidFill>
              </a:defRPr>
            </a:pPr>
            <a:r>
              <a:rPr sz="975" b="1" i="0">
                <a:solidFill>
                  <a:srgbClr val="E4002B"/>
                </a:solidFill>
              </a:rPr>
              <a:t>CLAIM BOUNDARY  /  PROTOTYPE + FIXTURE BACKED</a:t>
            </a:r>
          </a:p>
        </p:txBody>
      </p:sp>
      <p:sp>
        <p:nvSpPr>
          <p:cNvPr id="23" name="">
            <a:extLst xmlns:a="http://schemas.openxmlformats.org/drawingml/2006/main">
              <a:ext uri="{FF2B5EF4-FFF2-40B4-BE49-F238E27FC236}">
                <a16:creationId xmlns:a16="http://schemas.microsoft.com/office/drawing/2014/main" id="{C243C82A-112D-426D-927C-E2280B4BCEFB}"/>
              </a:ext>
            </a:extLst>
          </p:cNvPr>
          <p:cNvSpPr>
            <a:spLocks xmlns:a="http://schemas.openxmlformats.org/drawingml/2006/main" noGrp="1"/>
          </p:cNvSpPr>
          <p:nvPr/>
        </p:nvSpPr>
        <p:spPr>
          <a:xfrm xmlns:a="http://schemas.openxmlformats.org/drawingml/2006/main">
            <a:off x="7620000" y="5695950"/>
            <a:ext cx="3886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0B0B0D"/>
                </a:solidFill>
              </a:defRPr>
            </a:pPr>
            <a:r>
              <a:rPr sz="1125" b="1" i="0">
                <a:solidFill>
                  <a:srgbClr val="0B0B0D"/>
                </a:solidFill>
              </a:rPr>
              <a:t>Implemented safety design; not a production KFC system.</a:t>
            </a:r>
          </a:p>
        </p:txBody>
      </p:sp>
      <p:sp>
        <p:nvSpPr>
          <p:cNvPr id="24" name="">
            <a:extLst xmlns:a="http://schemas.openxmlformats.org/drawingml/2006/main">
              <a:ext uri="{FF2B5EF4-FFF2-40B4-BE49-F238E27FC236}">
                <a16:creationId xmlns:a16="http://schemas.microsoft.com/office/drawing/2014/main" id="{976E3A5B-DC67-4DAF-9B49-389C00983B8C}"/>
              </a:ext>
            </a:extLst>
          </p:cNvPr>
          <p:cNvSpPr>
            <a:spLocks xmlns:a="http://schemas.openxmlformats.org/drawingml/2006/main" noGrp="1"/>
          </p:cNvSpPr>
          <p:nvPr/>
        </p:nvSpPr>
        <p:spPr>
          <a:xfrm xmlns:a="http://schemas.openxmlformats.org/drawingml/2006/main">
            <a:off x="685800" y="6457950"/>
            <a:ext cx="590550" cy="47625"/>
          </a:xfrm>
          <a:prstGeom xmlns:a="http://schemas.openxmlformats.org/drawingml/2006/main" prst="rect">
            <a:avLst/>
          </a:prstGeom>
          <a:solidFill xmlns:a="http://schemas.openxmlformats.org/drawingml/2006/main">
            <a:srgbClr val="E4002B"/>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BE5B91A5-B377-44FA-8FD4-B7964196B1E1}"/>
              </a:ext>
            </a:extLst>
          </p:cNvPr>
          <p:cNvSpPr>
            <a:spLocks xmlns:a="http://schemas.openxmlformats.org/drawingml/2006/main" noGrp="1"/>
          </p:cNvSpPr>
          <p:nvPr/>
        </p:nvSpPr>
        <p:spPr>
          <a:xfrm xmlns:a="http://schemas.openxmlformats.org/drawingml/2006/main">
            <a:off x="1466850" y="6381750"/>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6F6A63"/>
                </a:solidFill>
              </a:defRPr>
            </a:pPr>
            <a:r>
              <a:rPr sz="825" b="1" i="0">
                <a:solidFill>
                  <a:srgbClr val="6F6A63"/>
                </a:solidFill>
              </a:rPr>
              <a:t>TEAM BRAISE  /  KFC COMMERCE AGENT</a:t>
            </a:r>
          </a:p>
        </p:txBody>
      </p:sp>
    </p:spTree>
    <p:extLst>
      <p:ext uri="{BB962C8B-B14F-4D97-AF65-F5344CB8AC3E}">
        <p14:creationId xmlns:p14="http://schemas.microsoft.com/office/powerpoint/2010/main" val="1054128360"/>
      </p:ext>
    </p:extLst>
  </p:cSld>
</p:sld>
</file>

<file path=ppt/slides/slide11.xml><?xml version="1.0" encoding="utf-8"?>
<p:sld xmlns:p="http://schemas.openxmlformats.org/presentationml/2006/main">
  <p:cSld>
    <p:bg>
      <p:bgPr>
        <a:solidFill xmlns:a="http://schemas.openxmlformats.org/drawingml/2006/main">
          <a:srgbClr val="0B0B0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C2F1C9D-692A-4CFD-A3F6-EC32FD03D832}"/>
              </a:ext>
            </a:extLst>
          </p:cNvPr>
          <p:cNvSpPr>
            <a:spLocks xmlns:a="http://schemas.openxmlformats.org/drawingml/2006/main" noGrp="1"/>
          </p:cNvSpPr>
          <p:nvPr/>
        </p:nvSpPr>
        <p:spPr>
          <a:xfrm xmlns:a="http://schemas.openxmlformats.org/drawingml/2006/main">
            <a:off x="685800" y="495300"/>
            <a:ext cx="428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E4002B"/>
                </a:solidFill>
              </a:defRPr>
            </a:pPr>
            <a:r>
              <a:rPr sz="1125" b="1" i="0">
                <a:solidFill>
                  <a:srgbClr val="E4002B"/>
                </a:solidFill>
              </a:rPr>
              <a:t>A3  /  INTERRUPTION + HUMAN CONTROL</a:t>
            </a:r>
          </a:p>
        </p:txBody>
      </p:sp>
      <p:sp>
        <p:nvSpPr>
          <p:cNvPr id="2" name="">
            <a:extLst xmlns:a="http://schemas.openxmlformats.org/drawingml/2006/main">
              <a:ext uri="{FF2B5EF4-FFF2-40B4-BE49-F238E27FC236}">
                <a16:creationId xmlns:a16="http://schemas.microsoft.com/office/drawing/2014/main" id="{A8F47513-8707-4EF4-835A-D3696FB44B92}"/>
              </a:ext>
            </a:extLst>
          </p:cNvPr>
          <p:cNvSpPr>
            <a:spLocks xmlns:a="http://schemas.openxmlformats.org/drawingml/2006/main" noGrp="1"/>
          </p:cNvSpPr>
          <p:nvPr/>
        </p:nvSpPr>
        <p:spPr>
          <a:xfrm xmlns:a="http://schemas.openxmlformats.org/drawingml/2006/main">
            <a:off x="11087100" y="4953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i="0">
                <a:solidFill>
                  <a:srgbClr val="FFFFFF"/>
                </a:solidFill>
              </a:defRPr>
            </a:pPr>
            <a:r>
              <a:rPr sz="975" b="1" i="0">
                <a:solidFill>
                  <a:srgbClr val="FFFFFF"/>
                </a:solidFill>
              </a:rPr>
              <a:t>A3</a:t>
            </a:r>
          </a:p>
        </p:txBody>
      </p:sp>
      <p:sp>
        <p:nvSpPr>
          <p:cNvPr id="3" name="">
            <a:extLst xmlns:a="http://schemas.openxmlformats.org/drawingml/2006/main">
              <a:ext uri="{FF2B5EF4-FFF2-40B4-BE49-F238E27FC236}">
                <a16:creationId xmlns:a16="http://schemas.microsoft.com/office/drawing/2014/main" id="{359E62E8-2613-40F2-A065-86292D665DC8}"/>
              </a:ext>
            </a:extLst>
          </p:cNvPr>
          <p:cNvSpPr>
            <a:spLocks xmlns:a="http://schemas.openxmlformats.org/drawingml/2006/main" noGrp="1"/>
          </p:cNvSpPr>
          <p:nvPr/>
        </p:nvSpPr>
        <p:spPr>
          <a:xfrm xmlns:a="http://schemas.openxmlformats.org/drawingml/2006/main">
            <a:off x="685800" y="914400"/>
            <a:ext cx="10287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i="0">
                <a:solidFill>
                  <a:srgbClr val="FFFFFF"/>
                </a:solidFill>
              </a:defRPr>
            </a:pPr>
            <a:r>
              <a:rPr sz="3300" b="1" i="0">
                <a:solidFill>
                  <a:srgbClr val="FFFFFF"/>
                </a:solidFill>
              </a:rPr>
              <a:t>New intent can replace safe work;</a:t>
            </a:r>
          </a:p>
          <a:p xmlns:a="http://schemas.openxmlformats.org/drawingml/2006/main">
            <a:pPr algn="l">
              <a:defRPr sz="3300" b="1" i="0">
                <a:solidFill>
                  <a:srgbClr val="FFFFFF"/>
                </a:solidFill>
              </a:defRPr>
            </a:pPr>
            <a:r>
              <a:rPr sz="3300" b="1" i="0">
                <a:solidFill>
                  <a:srgbClr val="FFFFFF"/>
                </a:solidFill>
              </a:rPr>
              <a:t>irreversible work is protected.</a:t>
            </a:r>
          </a:p>
        </p:txBody>
      </p:sp>
      <p:sp>
        <p:nvSpPr>
          <p:cNvPr id="4" name="">
            <a:extLst xmlns:a="http://schemas.openxmlformats.org/drawingml/2006/main">
              <a:ext uri="{FF2B5EF4-FFF2-40B4-BE49-F238E27FC236}">
                <a16:creationId xmlns:a16="http://schemas.microsoft.com/office/drawing/2014/main" id="{C298C44C-8EEF-48E8-9686-3CAC21B07885}"/>
              </a:ext>
            </a:extLst>
          </p:cNvPr>
          <p:cNvSpPr>
            <a:spLocks xmlns:a="http://schemas.openxmlformats.org/drawingml/2006/main" noGrp="1"/>
          </p:cNvSpPr>
          <p:nvPr/>
        </p:nvSpPr>
        <p:spPr>
          <a:xfrm xmlns:a="http://schemas.openxmlformats.org/drawingml/2006/main">
            <a:off x="704850" y="2514600"/>
            <a:ext cx="2305050" cy="1104900"/>
          </a:xfrm>
          <a:prstGeom xmlns:a="http://schemas.openxmlformats.org/drawingml/2006/main" prst="roundRect">
            <a:avLst>
              <a:gd name="adj" fmla="val 10345"/>
            </a:avLst>
          </a:prstGeom>
          <a:solidFill xmlns:a="http://schemas.openxmlformats.org/drawingml/2006/main">
            <a:srgbClr val="27272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5F3A987-240F-4502-AFC9-4E9B5B7BD271}"/>
              </a:ext>
            </a:extLst>
          </p:cNvPr>
          <p:cNvSpPr>
            <a:spLocks xmlns:a="http://schemas.openxmlformats.org/drawingml/2006/main" noGrp="1"/>
          </p:cNvSpPr>
          <p:nvPr/>
        </p:nvSpPr>
        <p:spPr>
          <a:xfrm xmlns:a="http://schemas.openxmlformats.org/drawingml/2006/main">
            <a:off x="876300" y="2705100"/>
            <a:ext cx="1962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FFFFFF"/>
                </a:solidFill>
              </a:defRPr>
            </a:pPr>
            <a:r>
              <a:rPr sz="1275" b="1" i="0">
                <a:solidFill>
                  <a:srgbClr val="FFFFFF"/>
                </a:solidFill>
              </a:rPr>
              <a:t>NEW CUSTOMER</a:t>
            </a:r>
          </a:p>
          <a:p xmlns:a="http://schemas.openxmlformats.org/drawingml/2006/main">
            <a:pPr algn="ctr">
              <a:defRPr sz="1275" b="1" i="0">
                <a:solidFill>
                  <a:srgbClr val="FFFFFF"/>
                </a:solidFill>
              </a:defRPr>
            </a:pPr>
            <a:r>
              <a:rPr sz="1275" b="1" i="0">
                <a:solidFill>
                  <a:srgbClr val="FFFFFF"/>
                </a:solidFill>
              </a:rPr>
              <a:t>TURNS</a:t>
            </a:r>
          </a:p>
        </p:txBody>
      </p:sp>
      <p:sp>
        <p:nvSpPr>
          <p:cNvPr id="6" name="">
            <a:extLst xmlns:a="http://schemas.openxmlformats.org/drawingml/2006/main">
              <a:ext uri="{FF2B5EF4-FFF2-40B4-BE49-F238E27FC236}">
                <a16:creationId xmlns:a16="http://schemas.microsoft.com/office/drawing/2014/main" id="{9E1B33A1-07CC-49D3-81C6-DC0093FB445A}"/>
              </a:ext>
            </a:extLst>
          </p:cNvPr>
          <p:cNvSpPr>
            <a:spLocks xmlns:a="http://schemas.openxmlformats.org/drawingml/2006/main" noGrp="1"/>
          </p:cNvSpPr>
          <p:nvPr/>
        </p:nvSpPr>
        <p:spPr>
          <a:xfrm xmlns:a="http://schemas.openxmlformats.org/drawingml/2006/main">
            <a:off x="876300" y="3276600"/>
            <a:ext cx="1962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B8B2A8"/>
                </a:solidFill>
              </a:defRPr>
            </a:pPr>
            <a:r>
              <a:rPr sz="1050" b="1" i="0">
                <a:solidFill>
                  <a:srgbClr val="B8B2A8"/>
                </a:solidFill>
              </a:rPr>
              <a:t>Incoming intent</a:t>
            </a:r>
          </a:p>
        </p:txBody>
      </p:sp>
      <p:sp>
        <p:nvSpPr>
          <p:cNvPr id="7" name="">
            <a:extLst xmlns:a="http://schemas.openxmlformats.org/drawingml/2006/main">
              <a:ext uri="{FF2B5EF4-FFF2-40B4-BE49-F238E27FC236}">
                <a16:creationId xmlns:a16="http://schemas.microsoft.com/office/drawing/2014/main" id="{ABE0D83A-65B7-408A-AB03-2DD19FD7F8DA}"/>
              </a:ext>
            </a:extLst>
          </p:cNvPr>
          <p:cNvSpPr>
            <a:spLocks xmlns:a="http://schemas.openxmlformats.org/drawingml/2006/main" noGrp="1"/>
          </p:cNvSpPr>
          <p:nvPr/>
        </p:nvSpPr>
        <p:spPr>
          <a:xfrm xmlns:a="http://schemas.openxmlformats.org/drawingml/2006/main">
            <a:off x="3028950" y="29146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i="0">
                <a:solidFill>
                  <a:srgbClr val="E4002B"/>
                </a:solidFill>
              </a:defRPr>
            </a:pPr>
            <a:r>
              <a:rPr sz="1500" b="1" i="0">
                <a:solidFill>
                  <a:srgbClr val="E4002B"/>
                </a:solidFill>
              </a:rPr>
              <a:t>→</a:t>
            </a:r>
          </a:p>
        </p:txBody>
      </p:sp>
      <p:sp>
        <p:nvSpPr>
          <p:cNvPr id="8" name="">
            <a:extLst xmlns:a="http://schemas.openxmlformats.org/drawingml/2006/main">
              <a:ext uri="{FF2B5EF4-FFF2-40B4-BE49-F238E27FC236}">
                <a16:creationId xmlns:a16="http://schemas.microsoft.com/office/drawing/2014/main" id="{92BD40ED-844A-481F-BBBB-64D6899549FC}"/>
              </a:ext>
            </a:extLst>
          </p:cNvPr>
          <p:cNvSpPr>
            <a:spLocks xmlns:a="http://schemas.openxmlformats.org/drawingml/2006/main" noGrp="1"/>
          </p:cNvSpPr>
          <p:nvPr/>
        </p:nvSpPr>
        <p:spPr>
          <a:xfrm xmlns:a="http://schemas.openxmlformats.org/drawingml/2006/main">
            <a:off x="3409950" y="2514600"/>
            <a:ext cx="2305050" cy="1104900"/>
          </a:xfrm>
          <a:prstGeom xmlns:a="http://schemas.openxmlformats.org/drawingml/2006/main" prst="roundRect">
            <a:avLst>
              <a:gd name="adj" fmla="val 10345"/>
            </a:avLst>
          </a:prstGeom>
          <a:solidFill xmlns:a="http://schemas.openxmlformats.org/drawingml/2006/main">
            <a:srgbClr val="27272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12EEA5E-932A-4560-84F2-B8048860780E}"/>
              </a:ext>
            </a:extLst>
          </p:cNvPr>
          <p:cNvSpPr>
            <a:spLocks xmlns:a="http://schemas.openxmlformats.org/drawingml/2006/main" noGrp="1"/>
          </p:cNvSpPr>
          <p:nvPr/>
        </p:nvSpPr>
        <p:spPr>
          <a:xfrm xmlns:a="http://schemas.openxmlformats.org/drawingml/2006/main">
            <a:off x="3581400" y="2705100"/>
            <a:ext cx="1962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FFFFFF"/>
                </a:solidFill>
              </a:defRPr>
            </a:pPr>
            <a:r>
              <a:rPr sz="1275" b="1" i="0">
                <a:solidFill>
                  <a:srgbClr val="FFFFFF"/>
                </a:solidFill>
              </a:rPr>
              <a:t>PENDING +</a:t>
            </a:r>
          </a:p>
          <a:p xmlns:a="http://schemas.openxmlformats.org/drawingml/2006/main">
            <a:pPr algn="ctr">
              <a:defRPr sz="1275" b="1" i="0">
                <a:solidFill>
                  <a:srgbClr val="FFFFFF"/>
                </a:solidFill>
              </a:defRPr>
            </a:pPr>
            <a:r>
              <a:rPr sz="1275" b="1" i="0">
                <a:solidFill>
                  <a:srgbClr val="FFFFFF"/>
                </a:solidFill>
              </a:rPr>
              <a:t>COALESCED</a:t>
            </a:r>
          </a:p>
        </p:txBody>
      </p:sp>
      <p:sp>
        <p:nvSpPr>
          <p:cNvPr id="10" name="">
            <a:extLst xmlns:a="http://schemas.openxmlformats.org/drawingml/2006/main">
              <a:ext uri="{FF2B5EF4-FFF2-40B4-BE49-F238E27FC236}">
                <a16:creationId xmlns:a16="http://schemas.microsoft.com/office/drawing/2014/main" id="{3BD9F7C6-9F09-456A-88D4-3AB7E5E855F3}"/>
              </a:ext>
            </a:extLst>
          </p:cNvPr>
          <p:cNvSpPr>
            <a:spLocks xmlns:a="http://schemas.openxmlformats.org/drawingml/2006/main" noGrp="1"/>
          </p:cNvSpPr>
          <p:nvPr/>
        </p:nvSpPr>
        <p:spPr>
          <a:xfrm xmlns:a="http://schemas.openxmlformats.org/drawingml/2006/main">
            <a:off x="3581400" y="3276600"/>
            <a:ext cx="1962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B8B2A8"/>
                </a:solidFill>
              </a:defRPr>
            </a:pPr>
            <a:r>
              <a:rPr sz="1050" b="1" i="0">
                <a:solidFill>
                  <a:srgbClr val="B8B2A8"/>
                </a:solidFill>
              </a:rPr>
              <a:t>Reserve and combine</a:t>
            </a:r>
          </a:p>
        </p:txBody>
      </p:sp>
      <p:sp>
        <p:nvSpPr>
          <p:cNvPr id="11" name="">
            <a:extLst xmlns:a="http://schemas.openxmlformats.org/drawingml/2006/main">
              <a:ext uri="{FF2B5EF4-FFF2-40B4-BE49-F238E27FC236}">
                <a16:creationId xmlns:a16="http://schemas.microsoft.com/office/drawing/2014/main" id="{E82C7598-A66D-40CB-A17A-3F4DAFC46143}"/>
              </a:ext>
            </a:extLst>
          </p:cNvPr>
          <p:cNvSpPr>
            <a:spLocks xmlns:a="http://schemas.openxmlformats.org/drawingml/2006/main" noGrp="1"/>
          </p:cNvSpPr>
          <p:nvPr/>
        </p:nvSpPr>
        <p:spPr>
          <a:xfrm xmlns:a="http://schemas.openxmlformats.org/drawingml/2006/main">
            <a:off x="5734050" y="29146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i="0">
                <a:solidFill>
                  <a:srgbClr val="E4002B"/>
                </a:solidFill>
              </a:defRPr>
            </a:pPr>
            <a:r>
              <a:rPr sz="1500" b="1" i="0">
                <a:solidFill>
                  <a:srgbClr val="E4002B"/>
                </a:solidFill>
              </a:rPr>
              <a:t>→</a:t>
            </a:r>
          </a:p>
        </p:txBody>
      </p:sp>
      <p:sp>
        <p:nvSpPr>
          <p:cNvPr id="12" name="">
            <a:extLst xmlns:a="http://schemas.openxmlformats.org/drawingml/2006/main">
              <a:ext uri="{FF2B5EF4-FFF2-40B4-BE49-F238E27FC236}">
                <a16:creationId xmlns:a16="http://schemas.microsoft.com/office/drawing/2014/main" id="{A06257DD-02F4-4919-93B1-9D1FC35EB0F6}"/>
              </a:ext>
            </a:extLst>
          </p:cNvPr>
          <p:cNvSpPr>
            <a:spLocks xmlns:a="http://schemas.openxmlformats.org/drawingml/2006/main" noGrp="1"/>
          </p:cNvSpPr>
          <p:nvPr/>
        </p:nvSpPr>
        <p:spPr>
          <a:xfrm xmlns:a="http://schemas.openxmlformats.org/drawingml/2006/main">
            <a:off x="6115050" y="2514600"/>
            <a:ext cx="2305050" cy="1104900"/>
          </a:xfrm>
          <a:prstGeom xmlns:a="http://schemas.openxmlformats.org/drawingml/2006/main" prst="roundRect">
            <a:avLst>
              <a:gd name="adj" fmla="val 10345"/>
            </a:avLst>
          </a:prstGeom>
          <a:solidFill xmlns:a="http://schemas.openxmlformats.org/drawingml/2006/main">
            <a:srgbClr val="E4002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7490480-B0EA-419D-B93F-4E4D031A79ED}"/>
              </a:ext>
            </a:extLst>
          </p:cNvPr>
          <p:cNvSpPr>
            <a:spLocks xmlns:a="http://schemas.openxmlformats.org/drawingml/2006/main" noGrp="1"/>
          </p:cNvSpPr>
          <p:nvPr/>
        </p:nvSpPr>
        <p:spPr>
          <a:xfrm xmlns:a="http://schemas.openxmlformats.org/drawingml/2006/main">
            <a:off x="6286500" y="2705100"/>
            <a:ext cx="1962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FFFFFF"/>
                </a:solidFill>
              </a:defRPr>
            </a:pPr>
            <a:r>
              <a:rPr sz="1275" b="1" i="0">
                <a:solidFill>
                  <a:srgbClr val="FFFFFF"/>
                </a:solidFill>
              </a:rPr>
              <a:t>GENERATION-</a:t>
            </a:r>
          </a:p>
          <a:p xmlns:a="http://schemas.openxmlformats.org/drawingml/2006/main">
            <a:pPr algn="ctr">
              <a:defRPr sz="1275" b="1" i="0">
                <a:solidFill>
                  <a:srgbClr val="FFFFFF"/>
                </a:solidFill>
              </a:defRPr>
            </a:pPr>
            <a:r>
              <a:rPr sz="1275" b="1" i="0">
                <a:solidFill>
                  <a:srgbClr val="FFFFFF"/>
                </a:solidFill>
              </a:rPr>
              <a:t>OWNED RUN</a:t>
            </a:r>
          </a:p>
        </p:txBody>
      </p:sp>
      <p:sp>
        <p:nvSpPr>
          <p:cNvPr id="14" name="">
            <a:extLst xmlns:a="http://schemas.openxmlformats.org/drawingml/2006/main">
              <a:ext uri="{FF2B5EF4-FFF2-40B4-BE49-F238E27FC236}">
                <a16:creationId xmlns:a16="http://schemas.microsoft.com/office/drawing/2014/main" id="{94B661BC-D03B-43AC-874E-61D3C37C774F}"/>
              </a:ext>
            </a:extLst>
          </p:cNvPr>
          <p:cNvSpPr>
            <a:spLocks xmlns:a="http://schemas.openxmlformats.org/drawingml/2006/main" noGrp="1"/>
          </p:cNvSpPr>
          <p:nvPr/>
        </p:nvSpPr>
        <p:spPr>
          <a:xfrm xmlns:a="http://schemas.openxmlformats.org/drawingml/2006/main">
            <a:off x="6286500" y="3276600"/>
            <a:ext cx="1962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One current run</a:t>
            </a:r>
          </a:p>
        </p:txBody>
      </p:sp>
      <p:sp>
        <p:nvSpPr>
          <p:cNvPr id="15" name="">
            <a:extLst xmlns:a="http://schemas.openxmlformats.org/drawingml/2006/main">
              <a:ext uri="{FF2B5EF4-FFF2-40B4-BE49-F238E27FC236}">
                <a16:creationId xmlns:a16="http://schemas.microsoft.com/office/drawing/2014/main" id="{CE12EBB6-D3BA-4ACF-BE44-BBD3807F2930}"/>
              </a:ext>
            </a:extLst>
          </p:cNvPr>
          <p:cNvSpPr>
            <a:spLocks xmlns:a="http://schemas.openxmlformats.org/drawingml/2006/main" noGrp="1"/>
          </p:cNvSpPr>
          <p:nvPr/>
        </p:nvSpPr>
        <p:spPr>
          <a:xfrm xmlns:a="http://schemas.openxmlformats.org/drawingml/2006/main">
            <a:off x="8439150" y="29146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i="0">
                <a:solidFill>
                  <a:srgbClr val="E4002B"/>
                </a:solidFill>
              </a:defRPr>
            </a:pPr>
            <a:r>
              <a:rPr sz="1500" b="1" i="0">
                <a:solidFill>
                  <a:srgbClr val="E4002B"/>
                </a:solidFill>
              </a:rPr>
              <a:t>→</a:t>
            </a:r>
          </a:p>
        </p:txBody>
      </p:sp>
      <p:sp>
        <p:nvSpPr>
          <p:cNvPr id="16" name="">
            <a:extLst xmlns:a="http://schemas.openxmlformats.org/drawingml/2006/main">
              <a:ext uri="{FF2B5EF4-FFF2-40B4-BE49-F238E27FC236}">
                <a16:creationId xmlns:a16="http://schemas.microsoft.com/office/drawing/2014/main" id="{03BAB194-62E2-4092-A4D1-61A484A88816}"/>
              </a:ext>
            </a:extLst>
          </p:cNvPr>
          <p:cNvSpPr>
            <a:spLocks xmlns:a="http://schemas.openxmlformats.org/drawingml/2006/main" noGrp="1"/>
          </p:cNvSpPr>
          <p:nvPr/>
        </p:nvSpPr>
        <p:spPr>
          <a:xfrm xmlns:a="http://schemas.openxmlformats.org/drawingml/2006/main">
            <a:off x="8820150" y="2514600"/>
            <a:ext cx="2305050" cy="1104900"/>
          </a:xfrm>
          <a:prstGeom xmlns:a="http://schemas.openxmlformats.org/drawingml/2006/main" prst="roundRect">
            <a:avLst>
              <a:gd name="adj" fmla="val 10345"/>
            </a:avLst>
          </a:prstGeom>
          <a:solidFill xmlns:a="http://schemas.openxmlformats.org/drawingml/2006/main">
            <a:srgbClr val="27272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DC85840-C839-4C50-B167-617894D94EAA}"/>
              </a:ext>
            </a:extLst>
          </p:cNvPr>
          <p:cNvSpPr>
            <a:spLocks xmlns:a="http://schemas.openxmlformats.org/drawingml/2006/main" noGrp="1"/>
          </p:cNvSpPr>
          <p:nvPr/>
        </p:nvSpPr>
        <p:spPr>
          <a:xfrm xmlns:a="http://schemas.openxmlformats.org/drawingml/2006/main">
            <a:off x="8991600" y="2705100"/>
            <a:ext cx="1962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FFFFFF"/>
                </a:solidFill>
              </a:defRPr>
            </a:pPr>
            <a:r>
              <a:rPr sz="1275" b="1" i="0">
                <a:solidFill>
                  <a:srgbClr val="FFFFFF"/>
                </a:solidFill>
              </a:rPr>
              <a:t>DELIVER OR</a:t>
            </a:r>
          </a:p>
          <a:p xmlns:a="http://schemas.openxmlformats.org/drawingml/2006/main">
            <a:pPr algn="ctr">
              <a:defRPr sz="1275" b="1" i="0">
                <a:solidFill>
                  <a:srgbClr val="FFFFFF"/>
                </a:solidFill>
              </a:defRPr>
            </a:pPr>
            <a:r>
              <a:rPr sz="1275" b="1" i="0">
                <a:solidFill>
                  <a:srgbClr val="FFFFFF"/>
                </a:solidFill>
              </a:rPr>
              <a:t>SUPPRESS</a:t>
            </a:r>
          </a:p>
        </p:txBody>
      </p:sp>
      <p:sp>
        <p:nvSpPr>
          <p:cNvPr id="18" name="">
            <a:extLst xmlns:a="http://schemas.openxmlformats.org/drawingml/2006/main">
              <a:ext uri="{FF2B5EF4-FFF2-40B4-BE49-F238E27FC236}">
                <a16:creationId xmlns:a16="http://schemas.microsoft.com/office/drawing/2014/main" id="{BAC69A87-F84D-4DEE-A09A-A94285D777B8}"/>
              </a:ext>
            </a:extLst>
          </p:cNvPr>
          <p:cNvSpPr>
            <a:spLocks xmlns:a="http://schemas.openxmlformats.org/drawingml/2006/main" noGrp="1"/>
          </p:cNvSpPr>
          <p:nvPr/>
        </p:nvSpPr>
        <p:spPr>
          <a:xfrm xmlns:a="http://schemas.openxmlformats.org/drawingml/2006/main">
            <a:off x="8991600" y="3276600"/>
            <a:ext cx="1962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B8B2A8"/>
                </a:solidFill>
              </a:defRPr>
            </a:pPr>
            <a:r>
              <a:rPr sz="1050" b="1" i="0">
                <a:solidFill>
                  <a:srgbClr val="B8B2A8"/>
                </a:solidFill>
              </a:rPr>
              <a:t>Only current output</a:t>
            </a:r>
          </a:p>
        </p:txBody>
      </p:sp>
      <p:sp>
        <p:nvSpPr>
          <p:cNvPr id="19" name="">
            <a:extLst xmlns:a="http://schemas.openxmlformats.org/drawingml/2006/main">
              <a:ext uri="{FF2B5EF4-FFF2-40B4-BE49-F238E27FC236}">
                <a16:creationId xmlns:a16="http://schemas.microsoft.com/office/drawing/2014/main" id="{346662F4-476F-463D-BF65-B70848D4B0E0}"/>
              </a:ext>
            </a:extLst>
          </p:cNvPr>
          <p:cNvSpPr>
            <a:spLocks xmlns:a="http://schemas.openxmlformats.org/drawingml/2006/main" noGrp="1"/>
          </p:cNvSpPr>
          <p:nvPr/>
        </p:nvSpPr>
        <p:spPr>
          <a:xfrm xmlns:a="http://schemas.openxmlformats.org/drawingml/2006/main">
            <a:off x="6115050" y="3790950"/>
            <a:ext cx="5391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E4002B"/>
                </a:solidFill>
              </a:defRPr>
            </a:pPr>
            <a:r>
              <a:rPr sz="1050" b="1" i="0">
                <a:solidFill>
                  <a:srgbClr val="E4002B"/>
                </a:solidFill>
              </a:rPr>
              <a:t>SUPERSEDE ONLY BEFORE AN IRREVERSIBLE BOUNDARY</a:t>
            </a:r>
          </a:p>
        </p:txBody>
      </p:sp>
      <p:sp>
        <p:nvSpPr>
          <p:cNvPr id="20" name="">
            <a:extLst xmlns:a="http://schemas.openxmlformats.org/drawingml/2006/main">
              <a:ext uri="{FF2B5EF4-FFF2-40B4-BE49-F238E27FC236}">
                <a16:creationId xmlns:a16="http://schemas.microsoft.com/office/drawing/2014/main" id="{C35CD85D-B0EA-4C4F-B8E3-F22D849DDB63}"/>
              </a:ext>
            </a:extLst>
          </p:cNvPr>
          <p:cNvSpPr>
            <a:spLocks xmlns:a="http://schemas.openxmlformats.org/drawingml/2006/main" noGrp="1"/>
          </p:cNvSpPr>
          <p:nvPr/>
        </p:nvSpPr>
        <p:spPr>
          <a:xfrm xmlns:a="http://schemas.openxmlformats.org/drawingml/2006/main">
            <a:off x="704850" y="42291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2DA66E"/>
                </a:solidFill>
              </a:defRPr>
            </a:pPr>
            <a:r>
              <a:rPr sz="1050" b="1" i="0">
                <a:solidFill>
                  <a:srgbClr val="2DA66E"/>
                </a:solidFill>
              </a:rPr>
              <a:t>OPERATOR CONTROL</a:t>
            </a:r>
          </a:p>
        </p:txBody>
      </p:sp>
      <p:sp>
        <p:nvSpPr>
          <p:cNvPr id="21" name="">
            <a:extLst xmlns:a="http://schemas.openxmlformats.org/drawingml/2006/main">
              <a:ext uri="{FF2B5EF4-FFF2-40B4-BE49-F238E27FC236}">
                <a16:creationId xmlns:a16="http://schemas.microsoft.com/office/drawing/2014/main" id="{0EF0DC6F-3583-42BF-AA45-4F8C61BA53A5}"/>
              </a:ext>
            </a:extLst>
          </p:cNvPr>
          <p:cNvSpPr>
            <a:spLocks xmlns:a="http://schemas.openxmlformats.org/drawingml/2006/main" noGrp="1"/>
          </p:cNvSpPr>
          <p:nvPr/>
        </p:nvSpPr>
        <p:spPr>
          <a:xfrm xmlns:a="http://schemas.openxmlformats.org/drawingml/2006/main">
            <a:off x="704850" y="4572000"/>
            <a:ext cx="1428750" cy="628650"/>
          </a:xfrm>
          <a:prstGeom xmlns:a="http://schemas.openxmlformats.org/drawingml/2006/main" prst="roundRect">
            <a:avLst>
              <a:gd name="adj" fmla="val 18182"/>
            </a:avLst>
          </a:prstGeom>
          <a:solidFill xmlns:a="http://schemas.openxmlformats.org/drawingml/2006/main">
            <a:srgbClr val="27272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4B5F684-6C1E-4B56-B427-755640648912}"/>
              </a:ext>
            </a:extLst>
          </p:cNvPr>
          <p:cNvSpPr>
            <a:spLocks xmlns:a="http://schemas.openxmlformats.org/drawingml/2006/main" noGrp="1"/>
          </p:cNvSpPr>
          <p:nvPr/>
        </p:nvSpPr>
        <p:spPr>
          <a:xfrm xmlns:a="http://schemas.openxmlformats.org/drawingml/2006/main">
            <a:off x="838200" y="4762500"/>
            <a:ext cx="1162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FFFFFF"/>
                </a:solidFill>
              </a:defRPr>
            </a:pPr>
            <a:r>
              <a:rPr sz="1125" b="1" i="0">
                <a:solidFill>
                  <a:srgbClr val="FFFFFF"/>
                </a:solidFill>
              </a:rPr>
              <a:t>JOIN</a:t>
            </a:r>
          </a:p>
        </p:txBody>
      </p:sp>
      <p:sp>
        <p:nvSpPr>
          <p:cNvPr id="23" name="">
            <a:extLst xmlns:a="http://schemas.openxmlformats.org/drawingml/2006/main">
              <a:ext uri="{FF2B5EF4-FFF2-40B4-BE49-F238E27FC236}">
                <a16:creationId xmlns:a16="http://schemas.microsoft.com/office/drawing/2014/main" id="{6A36A992-AE63-4B50-B281-7FD2ED8CB049}"/>
              </a:ext>
            </a:extLst>
          </p:cNvPr>
          <p:cNvSpPr>
            <a:spLocks xmlns:a="http://schemas.openxmlformats.org/drawingml/2006/main" noGrp="1"/>
          </p:cNvSpPr>
          <p:nvPr/>
        </p:nvSpPr>
        <p:spPr>
          <a:xfrm xmlns:a="http://schemas.openxmlformats.org/drawingml/2006/main">
            <a:off x="2171700" y="4743450"/>
            <a:ext cx="304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2DA66E"/>
                </a:solidFill>
              </a:defRPr>
            </a:pPr>
            <a:r>
              <a:rPr sz="1350" b="1" i="0">
                <a:solidFill>
                  <a:srgbClr val="2DA66E"/>
                </a:solidFill>
              </a:rPr>
              <a:t>→</a:t>
            </a:r>
          </a:p>
        </p:txBody>
      </p:sp>
      <p:sp>
        <p:nvSpPr>
          <p:cNvPr id="24" name="">
            <a:extLst xmlns:a="http://schemas.openxmlformats.org/drawingml/2006/main">
              <a:ext uri="{FF2B5EF4-FFF2-40B4-BE49-F238E27FC236}">
                <a16:creationId xmlns:a16="http://schemas.microsoft.com/office/drawing/2014/main" id="{9E00EFFD-6CC7-4523-BFA4-400C3B29FB15}"/>
              </a:ext>
            </a:extLst>
          </p:cNvPr>
          <p:cNvSpPr>
            <a:spLocks xmlns:a="http://schemas.openxmlformats.org/drawingml/2006/main" noGrp="1"/>
          </p:cNvSpPr>
          <p:nvPr/>
        </p:nvSpPr>
        <p:spPr>
          <a:xfrm xmlns:a="http://schemas.openxmlformats.org/drawingml/2006/main">
            <a:off x="2476500" y="4572000"/>
            <a:ext cx="2095500" cy="628650"/>
          </a:xfrm>
          <a:prstGeom xmlns:a="http://schemas.openxmlformats.org/drawingml/2006/main" prst="roundRect">
            <a:avLst>
              <a:gd name="adj" fmla="val 18182"/>
            </a:avLst>
          </a:prstGeom>
          <a:solidFill xmlns:a="http://schemas.openxmlformats.org/drawingml/2006/main">
            <a:srgbClr val="2DA66E"/>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9E5ED1DB-E781-4927-B6A4-025D4A83BC67}"/>
              </a:ext>
            </a:extLst>
          </p:cNvPr>
          <p:cNvSpPr>
            <a:spLocks xmlns:a="http://schemas.openxmlformats.org/drawingml/2006/main" noGrp="1"/>
          </p:cNvSpPr>
          <p:nvPr/>
        </p:nvSpPr>
        <p:spPr>
          <a:xfrm xmlns:a="http://schemas.openxmlformats.org/drawingml/2006/main">
            <a:off x="2609850" y="4762500"/>
            <a:ext cx="1828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FFFFFF"/>
                </a:solidFill>
              </a:defRPr>
            </a:pPr>
            <a:r>
              <a:rPr sz="1125" b="1" i="0">
                <a:solidFill>
                  <a:srgbClr val="FFFFFF"/>
                </a:solidFill>
              </a:rPr>
              <a:t>HUMAN REPLY</a:t>
            </a:r>
          </a:p>
        </p:txBody>
      </p:sp>
      <p:sp>
        <p:nvSpPr>
          <p:cNvPr id="26" name="">
            <a:extLst xmlns:a="http://schemas.openxmlformats.org/drawingml/2006/main">
              <a:ext uri="{FF2B5EF4-FFF2-40B4-BE49-F238E27FC236}">
                <a16:creationId xmlns:a16="http://schemas.microsoft.com/office/drawing/2014/main" id="{3AA44035-42D1-4627-9EDF-00B83316D0BC}"/>
              </a:ext>
            </a:extLst>
          </p:cNvPr>
          <p:cNvSpPr>
            <a:spLocks xmlns:a="http://schemas.openxmlformats.org/drawingml/2006/main" noGrp="1"/>
          </p:cNvSpPr>
          <p:nvPr/>
        </p:nvSpPr>
        <p:spPr>
          <a:xfrm xmlns:a="http://schemas.openxmlformats.org/drawingml/2006/main">
            <a:off x="4610100" y="4743450"/>
            <a:ext cx="304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2DA66E"/>
                </a:solidFill>
              </a:defRPr>
            </a:pPr>
            <a:r>
              <a:rPr sz="1350" b="1" i="0">
                <a:solidFill>
                  <a:srgbClr val="2DA66E"/>
                </a:solidFill>
              </a:rPr>
              <a:t>→</a:t>
            </a:r>
          </a:p>
        </p:txBody>
      </p:sp>
      <p:sp>
        <p:nvSpPr>
          <p:cNvPr id="27" name="">
            <a:extLst xmlns:a="http://schemas.openxmlformats.org/drawingml/2006/main">
              <a:ext uri="{FF2B5EF4-FFF2-40B4-BE49-F238E27FC236}">
                <a16:creationId xmlns:a16="http://schemas.microsoft.com/office/drawing/2014/main" id="{40D3F31B-616D-4673-B996-F87FE0F13E27}"/>
              </a:ext>
            </a:extLst>
          </p:cNvPr>
          <p:cNvSpPr>
            <a:spLocks xmlns:a="http://schemas.openxmlformats.org/drawingml/2006/main" noGrp="1"/>
          </p:cNvSpPr>
          <p:nvPr/>
        </p:nvSpPr>
        <p:spPr>
          <a:xfrm xmlns:a="http://schemas.openxmlformats.org/drawingml/2006/main">
            <a:off x="4914900" y="4572000"/>
            <a:ext cx="3009900" cy="628650"/>
          </a:xfrm>
          <a:prstGeom xmlns:a="http://schemas.openxmlformats.org/drawingml/2006/main" prst="roundRect">
            <a:avLst>
              <a:gd name="adj" fmla="val 18182"/>
            </a:avLst>
          </a:prstGeom>
          <a:solidFill xmlns:a="http://schemas.openxmlformats.org/drawingml/2006/main">
            <a:srgbClr val="27272A"/>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3B5CF61D-7237-4B19-89D7-8FC22DAC977A}"/>
              </a:ext>
            </a:extLst>
          </p:cNvPr>
          <p:cNvSpPr>
            <a:spLocks xmlns:a="http://schemas.openxmlformats.org/drawingml/2006/main" noGrp="1"/>
          </p:cNvSpPr>
          <p:nvPr/>
        </p:nvSpPr>
        <p:spPr>
          <a:xfrm xmlns:a="http://schemas.openxmlformats.org/drawingml/2006/main">
            <a:off x="5048250" y="4762500"/>
            <a:ext cx="2743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FFFFFF"/>
                </a:solidFill>
              </a:defRPr>
            </a:pPr>
            <a:r>
              <a:rPr sz="1125" b="1" i="0">
                <a:solidFill>
                  <a:srgbClr val="FFFFFF"/>
                </a:solidFill>
              </a:rPr>
              <a:t>RESUME AI WITH CONTEXT</a:t>
            </a:r>
          </a:p>
        </p:txBody>
      </p:sp>
      <p:sp>
        <p:nvSpPr>
          <p:cNvPr id="29" name="">
            <a:extLst xmlns:a="http://schemas.openxmlformats.org/drawingml/2006/main">
              <a:ext uri="{FF2B5EF4-FFF2-40B4-BE49-F238E27FC236}">
                <a16:creationId xmlns:a16="http://schemas.microsoft.com/office/drawing/2014/main" id="{919DC2E1-90D3-48C2-B409-50299C9EBA22}"/>
              </a:ext>
            </a:extLst>
          </p:cNvPr>
          <p:cNvSpPr>
            <a:spLocks xmlns:a="http://schemas.openxmlformats.org/drawingml/2006/main" noGrp="1"/>
          </p:cNvSpPr>
          <p:nvPr/>
        </p:nvSpPr>
        <p:spPr>
          <a:xfrm xmlns:a="http://schemas.openxmlformats.org/drawingml/2006/main">
            <a:off x="704850" y="5562600"/>
            <a:ext cx="10801350" cy="19050"/>
          </a:xfrm>
          <a:prstGeom xmlns:a="http://schemas.openxmlformats.org/drawingml/2006/main" prst="rect">
            <a:avLst/>
          </a:prstGeom>
          <a:solidFill xmlns:a="http://schemas.openxmlformats.org/drawingml/2006/main">
            <a:srgbClr val="27272A"/>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2A7FEABF-9F61-44D5-874E-E8ED98B27846}"/>
              </a:ext>
            </a:extLst>
          </p:cNvPr>
          <p:cNvSpPr>
            <a:spLocks xmlns:a="http://schemas.openxmlformats.org/drawingml/2006/main" noGrp="1"/>
          </p:cNvSpPr>
          <p:nvPr/>
        </p:nvSpPr>
        <p:spPr>
          <a:xfrm xmlns:a="http://schemas.openxmlformats.org/drawingml/2006/main">
            <a:off x="704850" y="5772150"/>
            <a:ext cx="10801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i="0">
                <a:solidFill>
                  <a:srgbClr val="FFFFFF"/>
                </a:solidFill>
              </a:defRPr>
            </a:pPr>
            <a:r>
              <a:rPr sz="1650" b="1" i="0">
                <a:solidFill>
                  <a:srgbClr val="FFFFFF"/>
                </a:solidFill>
              </a:rPr>
              <a:t>One current run and one explicit control owner per session.</a:t>
            </a:r>
          </a:p>
        </p:txBody>
      </p:sp>
      <p:sp>
        <p:nvSpPr>
          <p:cNvPr id="31" name="">
            <a:extLst xmlns:a="http://schemas.openxmlformats.org/drawingml/2006/main">
              <a:ext uri="{FF2B5EF4-FFF2-40B4-BE49-F238E27FC236}">
                <a16:creationId xmlns:a16="http://schemas.microsoft.com/office/drawing/2014/main" id="{431880D3-A137-49BC-94F6-DC06DB7A546C}"/>
              </a:ext>
            </a:extLst>
          </p:cNvPr>
          <p:cNvSpPr>
            <a:spLocks xmlns:a="http://schemas.openxmlformats.org/drawingml/2006/main" noGrp="1"/>
          </p:cNvSpPr>
          <p:nvPr/>
        </p:nvSpPr>
        <p:spPr>
          <a:xfrm xmlns:a="http://schemas.openxmlformats.org/drawingml/2006/main">
            <a:off x="685800" y="6457950"/>
            <a:ext cx="590550" cy="47625"/>
          </a:xfrm>
          <a:prstGeom xmlns:a="http://schemas.openxmlformats.org/drawingml/2006/main" prst="rect">
            <a:avLst/>
          </a:prstGeom>
          <a:solidFill xmlns:a="http://schemas.openxmlformats.org/drawingml/2006/main">
            <a:srgbClr val="E4002B"/>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E7D8FFE8-3D77-4A1F-AE1A-F476EF555F16}"/>
              </a:ext>
            </a:extLst>
          </p:cNvPr>
          <p:cNvSpPr>
            <a:spLocks xmlns:a="http://schemas.openxmlformats.org/drawingml/2006/main" noGrp="1"/>
          </p:cNvSpPr>
          <p:nvPr/>
        </p:nvSpPr>
        <p:spPr>
          <a:xfrm xmlns:a="http://schemas.openxmlformats.org/drawingml/2006/main">
            <a:off x="1466850" y="6381750"/>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B8B2A8"/>
                </a:solidFill>
              </a:defRPr>
            </a:pPr>
            <a:r>
              <a:rPr sz="825" b="1" i="0">
                <a:solidFill>
                  <a:srgbClr val="B8B2A8"/>
                </a:solidFill>
              </a:rPr>
              <a:t>TEAM BRAISE  /  KFC COMMERCE AGENT</a:t>
            </a:r>
          </a:p>
        </p:txBody>
      </p:sp>
    </p:spTree>
    <p:extLst>
      <p:ext uri="{BB962C8B-B14F-4D97-AF65-F5344CB8AC3E}">
        <p14:creationId xmlns:p14="http://schemas.microsoft.com/office/powerpoint/2010/main" val="1678508456"/>
      </p:ext>
    </p:extLst>
  </p:cSld>
</p:sld>
</file>

<file path=ppt/slides/slide12.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B882A8D-8C4D-456A-A544-EE7D8F5917F6}"/>
              </a:ext>
            </a:extLst>
          </p:cNvPr>
          <p:cNvSpPr>
            <a:spLocks xmlns:a="http://schemas.openxmlformats.org/drawingml/2006/main" noGrp="1"/>
          </p:cNvSpPr>
          <p:nvPr/>
        </p:nvSpPr>
        <p:spPr>
          <a:xfrm xmlns:a="http://schemas.openxmlformats.org/drawingml/2006/main">
            <a:off x="685800" y="495300"/>
            <a:ext cx="428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E4002B"/>
                </a:solidFill>
              </a:defRPr>
            </a:pPr>
            <a:r>
              <a:rPr sz="1125" b="1" i="0">
                <a:solidFill>
                  <a:srgbClr val="E4002B"/>
                </a:solidFill>
              </a:rPr>
              <a:t>A4  /  EVALUATION + PROOF</a:t>
            </a:r>
          </a:p>
        </p:txBody>
      </p:sp>
      <p:sp>
        <p:nvSpPr>
          <p:cNvPr id="2" name="">
            <a:extLst xmlns:a="http://schemas.openxmlformats.org/drawingml/2006/main">
              <a:ext uri="{FF2B5EF4-FFF2-40B4-BE49-F238E27FC236}">
                <a16:creationId xmlns:a16="http://schemas.microsoft.com/office/drawing/2014/main" id="{D954318B-BA88-4B16-B773-54C00A08CA0D}"/>
              </a:ext>
            </a:extLst>
          </p:cNvPr>
          <p:cNvSpPr>
            <a:spLocks xmlns:a="http://schemas.openxmlformats.org/drawingml/2006/main" noGrp="1"/>
          </p:cNvSpPr>
          <p:nvPr/>
        </p:nvSpPr>
        <p:spPr>
          <a:xfrm xmlns:a="http://schemas.openxmlformats.org/drawingml/2006/main">
            <a:off x="11087100" y="4953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i="0">
                <a:solidFill>
                  <a:srgbClr val="0B0B0D"/>
                </a:solidFill>
              </a:defRPr>
            </a:pPr>
            <a:r>
              <a:rPr sz="975" b="1" i="0">
                <a:solidFill>
                  <a:srgbClr val="0B0B0D"/>
                </a:solidFill>
              </a:rPr>
              <a:t>A4</a:t>
            </a:r>
          </a:p>
        </p:txBody>
      </p:sp>
      <p:sp>
        <p:nvSpPr>
          <p:cNvPr id="3" name="">
            <a:extLst xmlns:a="http://schemas.openxmlformats.org/drawingml/2006/main">
              <a:ext uri="{FF2B5EF4-FFF2-40B4-BE49-F238E27FC236}">
                <a16:creationId xmlns:a16="http://schemas.microsoft.com/office/drawing/2014/main" id="{BC04AD5B-9D50-4B9E-BE2E-9C6632E38779}"/>
              </a:ext>
            </a:extLst>
          </p:cNvPr>
          <p:cNvSpPr>
            <a:spLocks xmlns:a="http://schemas.openxmlformats.org/drawingml/2006/main" noGrp="1"/>
          </p:cNvSpPr>
          <p:nvPr/>
        </p:nvSpPr>
        <p:spPr>
          <a:xfrm xmlns:a="http://schemas.openxmlformats.org/drawingml/2006/main">
            <a:off x="685800" y="914400"/>
            <a:ext cx="8572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i="0">
                <a:solidFill>
                  <a:srgbClr val="0B0B0D"/>
                </a:solidFill>
              </a:defRPr>
            </a:pPr>
            <a:r>
              <a:rPr sz="3450" b="1" i="0">
                <a:solidFill>
                  <a:srgbClr val="0B0B0D"/>
                </a:solidFill>
              </a:rPr>
              <a:t>We test outcomes at four separate</a:t>
            </a:r>
          </a:p>
          <a:p xmlns:a="http://schemas.openxmlformats.org/drawingml/2006/main">
            <a:pPr algn="l">
              <a:defRPr sz="3450" b="1" i="0">
                <a:solidFill>
                  <a:srgbClr val="0B0B0D"/>
                </a:solidFill>
              </a:defRPr>
            </a:pPr>
            <a:r>
              <a:rPr sz="3450" b="1" i="0">
                <a:solidFill>
                  <a:srgbClr val="0B0B0D"/>
                </a:solidFill>
              </a:rPr>
              <a:t>proof layers.</a:t>
            </a:r>
          </a:p>
        </p:txBody>
      </p:sp>
      <p:sp>
        <p:nvSpPr>
          <p:cNvPr id="4" name="">
            <a:extLst xmlns:a="http://schemas.openxmlformats.org/drawingml/2006/main">
              <a:ext uri="{FF2B5EF4-FFF2-40B4-BE49-F238E27FC236}">
                <a16:creationId xmlns:a16="http://schemas.microsoft.com/office/drawing/2014/main" id="{132EC4CE-FD8D-47BF-8DAD-A7B84292695D}"/>
              </a:ext>
            </a:extLst>
          </p:cNvPr>
          <p:cNvSpPr>
            <a:spLocks xmlns:a="http://schemas.openxmlformats.org/drawingml/2006/main" noGrp="1"/>
          </p:cNvSpPr>
          <p:nvPr/>
        </p:nvSpPr>
        <p:spPr>
          <a:xfrm xmlns:a="http://schemas.openxmlformats.org/drawingml/2006/main">
            <a:off x="704850" y="2305050"/>
            <a:ext cx="108013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9525">
            <a:solidFill>
              <a:srgbClr val="D8D0C4"/>
            </a:solidFill>
            <a:prstDash val="solid"/>
          </a:ln>
        </p:spPr>
      </p:sp>
      <p:sp>
        <p:nvSpPr>
          <p:cNvPr id="5" name="">
            <a:extLst xmlns:a="http://schemas.openxmlformats.org/drawingml/2006/main">
              <a:ext uri="{FF2B5EF4-FFF2-40B4-BE49-F238E27FC236}">
                <a16:creationId xmlns:a16="http://schemas.microsoft.com/office/drawing/2014/main" id="{9EF287CD-341F-4369-B396-5A591FF15519}"/>
              </a:ext>
            </a:extLst>
          </p:cNvPr>
          <p:cNvSpPr>
            <a:spLocks xmlns:a="http://schemas.openxmlformats.org/drawingml/2006/main" noGrp="1"/>
          </p:cNvSpPr>
          <p:nvPr/>
        </p:nvSpPr>
        <p:spPr>
          <a:xfrm xmlns:a="http://schemas.openxmlformats.org/drawingml/2006/main">
            <a:off x="704850" y="2305050"/>
            <a:ext cx="95250" cy="571500"/>
          </a:xfrm>
          <a:prstGeom xmlns:a="http://schemas.openxmlformats.org/drawingml/2006/main" prst="rect">
            <a:avLst/>
          </a:prstGeom>
          <a:solidFill xmlns:a="http://schemas.openxmlformats.org/drawingml/2006/main">
            <a:srgbClr val="E4002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D49CC69-13FB-46B7-A3EA-3223747F12B4}"/>
              </a:ext>
            </a:extLst>
          </p:cNvPr>
          <p:cNvSpPr>
            <a:spLocks xmlns:a="http://schemas.openxmlformats.org/drawingml/2006/main" noGrp="1"/>
          </p:cNvSpPr>
          <p:nvPr/>
        </p:nvSpPr>
        <p:spPr>
          <a:xfrm xmlns:a="http://schemas.openxmlformats.org/drawingml/2006/main">
            <a:off x="990600" y="245745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0B0B0D"/>
                </a:solidFill>
              </a:defRPr>
            </a:pPr>
            <a:r>
              <a:rPr sz="1125" b="1" i="0">
                <a:solidFill>
                  <a:srgbClr val="0B0B0D"/>
                </a:solidFill>
              </a:rPr>
              <a:t>DETERMINISTIC CONTRACTS</a:t>
            </a:r>
          </a:p>
        </p:txBody>
      </p:sp>
      <p:sp>
        <p:nvSpPr>
          <p:cNvPr id="7" name="">
            <a:extLst xmlns:a="http://schemas.openxmlformats.org/drawingml/2006/main">
              <a:ext uri="{FF2B5EF4-FFF2-40B4-BE49-F238E27FC236}">
                <a16:creationId xmlns:a16="http://schemas.microsoft.com/office/drawing/2014/main" id="{60B413DE-34D7-473E-A369-FB333EB1145F}"/>
              </a:ext>
            </a:extLst>
          </p:cNvPr>
          <p:cNvSpPr>
            <a:spLocks xmlns:a="http://schemas.openxmlformats.org/drawingml/2006/main" noGrp="1"/>
          </p:cNvSpPr>
          <p:nvPr/>
        </p:nvSpPr>
        <p:spPr>
          <a:xfrm xmlns:a="http://schemas.openxmlformats.org/drawingml/2006/main">
            <a:off x="4457700" y="2438400"/>
            <a:ext cx="676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0B0B0D"/>
                </a:solidFill>
              </a:defRPr>
            </a:pPr>
            <a:r>
              <a:rPr sz="1200" b="1" i="0">
                <a:solidFill>
                  <a:srgbClr val="0B0B0D"/>
                </a:solidFill>
              </a:rPr>
              <a:t>Did gates, tools, state transitions, and adapters behave correctly?</a:t>
            </a:r>
          </a:p>
        </p:txBody>
      </p:sp>
      <p:sp>
        <p:nvSpPr>
          <p:cNvPr id="8" name="">
            <a:extLst xmlns:a="http://schemas.openxmlformats.org/drawingml/2006/main">
              <a:ext uri="{FF2B5EF4-FFF2-40B4-BE49-F238E27FC236}">
                <a16:creationId xmlns:a16="http://schemas.microsoft.com/office/drawing/2014/main" id="{01E02AA3-0CAA-443D-A058-043E7650CD15}"/>
              </a:ext>
            </a:extLst>
          </p:cNvPr>
          <p:cNvSpPr>
            <a:spLocks xmlns:a="http://schemas.openxmlformats.org/drawingml/2006/main" noGrp="1"/>
          </p:cNvSpPr>
          <p:nvPr/>
        </p:nvSpPr>
        <p:spPr>
          <a:xfrm xmlns:a="http://schemas.openxmlformats.org/drawingml/2006/main">
            <a:off x="704850" y="3028950"/>
            <a:ext cx="10801350" cy="571500"/>
          </a:xfrm>
          <a:prstGeom xmlns:a="http://schemas.openxmlformats.org/drawingml/2006/main" prst="roundRect">
            <a:avLst>
              <a:gd name="adj" fmla="val 20000"/>
            </a:avLst>
          </a:prstGeom>
          <a:solidFill xmlns:a="http://schemas.openxmlformats.org/drawingml/2006/main">
            <a:srgbClr val="FBE8EC"/>
          </a:solidFill>
          <a:ln xmlns:a="http://schemas.openxmlformats.org/drawingml/2006/main" w="9525">
            <a:solidFill>
              <a:srgbClr val="D8D0C4"/>
            </a:solidFill>
            <a:prstDash val="solid"/>
          </a:ln>
        </p:spPr>
      </p:sp>
      <p:sp>
        <p:nvSpPr>
          <p:cNvPr id="9" name="">
            <a:extLst xmlns:a="http://schemas.openxmlformats.org/drawingml/2006/main">
              <a:ext uri="{FF2B5EF4-FFF2-40B4-BE49-F238E27FC236}">
                <a16:creationId xmlns:a16="http://schemas.microsoft.com/office/drawing/2014/main" id="{DCD57822-D518-4C32-A82A-EF294FAB6C93}"/>
              </a:ext>
            </a:extLst>
          </p:cNvPr>
          <p:cNvSpPr>
            <a:spLocks xmlns:a="http://schemas.openxmlformats.org/drawingml/2006/main" noGrp="1"/>
          </p:cNvSpPr>
          <p:nvPr/>
        </p:nvSpPr>
        <p:spPr>
          <a:xfrm xmlns:a="http://schemas.openxmlformats.org/drawingml/2006/main">
            <a:off x="704850" y="3028950"/>
            <a:ext cx="95250" cy="571500"/>
          </a:xfrm>
          <a:prstGeom xmlns:a="http://schemas.openxmlformats.org/drawingml/2006/main" prst="rect">
            <a:avLst/>
          </a:prstGeom>
          <a:solidFill xmlns:a="http://schemas.openxmlformats.org/drawingml/2006/main">
            <a:srgbClr val="E4002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B7B96BD-F85D-4328-B391-B5E5D83B38B1}"/>
              </a:ext>
            </a:extLst>
          </p:cNvPr>
          <p:cNvSpPr>
            <a:spLocks xmlns:a="http://schemas.openxmlformats.org/drawingml/2006/main" noGrp="1"/>
          </p:cNvSpPr>
          <p:nvPr/>
        </p:nvSpPr>
        <p:spPr>
          <a:xfrm xmlns:a="http://schemas.openxmlformats.org/drawingml/2006/main">
            <a:off x="990600" y="318135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0B0B0D"/>
                </a:solidFill>
              </a:defRPr>
            </a:pPr>
            <a:r>
              <a:rPr sz="1125" b="1" i="0">
                <a:solidFill>
                  <a:srgbClr val="0B0B0D"/>
                </a:solidFill>
              </a:rPr>
              <a:t>SCENARIO REPLAY</a:t>
            </a:r>
          </a:p>
        </p:txBody>
      </p:sp>
      <p:sp>
        <p:nvSpPr>
          <p:cNvPr id="11" name="">
            <a:extLst xmlns:a="http://schemas.openxmlformats.org/drawingml/2006/main">
              <a:ext uri="{FF2B5EF4-FFF2-40B4-BE49-F238E27FC236}">
                <a16:creationId xmlns:a16="http://schemas.microsoft.com/office/drawing/2014/main" id="{1B6EF50B-E907-4422-9A72-F7C726B4B5ED}"/>
              </a:ext>
            </a:extLst>
          </p:cNvPr>
          <p:cNvSpPr>
            <a:spLocks xmlns:a="http://schemas.openxmlformats.org/drawingml/2006/main" noGrp="1"/>
          </p:cNvSpPr>
          <p:nvPr/>
        </p:nvSpPr>
        <p:spPr>
          <a:xfrm xmlns:a="http://schemas.openxmlformats.org/drawingml/2006/main">
            <a:off x="4457700" y="3162300"/>
            <a:ext cx="676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0B0B0D"/>
                </a:solidFill>
              </a:defRPr>
            </a:pPr>
            <a:r>
              <a:rPr sz="1200" b="1" i="0">
                <a:solidFill>
                  <a:srgbClr val="0B0B0D"/>
                </a:solidFill>
              </a:rPr>
              <a:t>Did nine representative journeys reach intended state and recovery?</a:t>
            </a:r>
          </a:p>
        </p:txBody>
      </p:sp>
      <p:sp>
        <p:nvSpPr>
          <p:cNvPr id="12" name="">
            <a:extLst xmlns:a="http://schemas.openxmlformats.org/drawingml/2006/main">
              <a:ext uri="{FF2B5EF4-FFF2-40B4-BE49-F238E27FC236}">
                <a16:creationId xmlns:a16="http://schemas.microsoft.com/office/drawing/2014/main" id="{43A21018-A34F-4D1B-8EC0-EA1FE85FBDC7}"/>
              </a:ext>
            </a:extLst>
          </p:cNvPr>
          <p:cNvSpPr>
            <a:spLocks xmlns:a="http://schemas.openxmlformats.org/drawingml/2006/main" noGrp="1"/>
          </p:cNvSpPr>
          <p:nvPr/>
        </p:nvSpPr>
        <p:spPr>
          <a:xfrm xmlns:a="http://schemas.openxmlformats.org/drawingml/2006/main">
            <a:off x="704850" y="3752850"/>
            <a:ext cx="108013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9525">
            <a:solidFill>
              <a:srgbClr val="D8D0C4"/>
            </a:solidFill>
            <a:prstDash val="solid"/>
          </a:ln>
        </p:spPr>
      </p:sp>
      <p:sp>
        <p:nvSpPr>
          <p:cNvPr id="13" name="">
            <a:extLst xmlns:a="http://schemas.openxmlformats.org/drawingml/2006/main">
              <a:ext uri="{FF2B5EF4-FFF2-40B4-BE49-F238E27FC236}">
                <a16:creationId xmlns:a16="http://schemas.microsoft.com/office/drawing/2014/main" id="{9AF2192A-46D9-4D42-A04B-24EF19ACD2D9}"/>
              </a:ext>
            </a:extLst>
          </p:cNvPr>
          <p:cNvSpPr>
            <a:spLocks xmlns:a="http://schemas.openxmlformats.org/drawingml/2006/main" noGrp="1"/>
          </p:cNvSpPr>
          <p:nvPr/>
        </p:nvSpPr>
        <p:spPr>
          <a:xfrm xmlns:a="http://schemas.openxmlformats.org/drawingml/2006/main">
            <a:off x="704850" y="3752850"/>
            <a:ext cx="95250" cy="571500"/>
          </a:xfrm>
          <a:prstGeom xmlns:a="http://schemas.openxmlformats.org/drawingml/2006/main" prst="rect">
            <a:avLst/>
          </a:prstGeom>
          <a:solidFill xmlns:a="http://schemas.openxmlformats.org/drawingml/2006/main">
            <a:srgbClr val="E4002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4CB7BD0-EEDB-4ABA-85F6-300702E6EE8D}"/>
              </a:ext>
            </a:extLst>
          </p:cNvPr>
          <p:cNvSpPr>
            <a:spLocks xmlns:a="http://schemas.openxmlformats.org/drawingml/2006/main" noGrp="1"/>
          </p:cNvSpPr>
          <p:nvPr/>
        </p:nvSpPr>
        <p:spPr>
          <a:xfrm xmlns:a="http://schemas.openxmlformats.org/drawingml/2006/main">
            <a:off x="990600" y="390525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0B0B0D"/>
                </a:solidFill>
              </a:defRPr>
            </a:pPr>
            <a:r>
              <a:rPr sz="1125" b="1" i="0">
                <a:solidFill>
                  <a:srgbClr val="0B0B0D"/>
                </a:solidFill>
              </a:rPr>
              <a:t>LIVE UI + GenUI</a:t>
            </a:r>
          </a:p>
        </p:txBody>
      </p:sp>
      <p:sp>
        <p:nvSpPr>
          <p:cNvPr id="15" name="">
            <a:extLst xmlns:a="http://schemas.openxmlformats.org/drawingml/2006/main">
              <a:ext uri="{FF2B5EF4-FFF2-40B4-BE49-F238E27FC236}">
                <a16:creationId xmlns:a16="http://schemas.microsoft.com/office/drawing/2014/main" id="{17D4ACCD-3FBF-4499-9AFB-757136242882}"/>
              </a:ext>
            </a:extLst>
          </p:cNvPr>
          <p:cNvSpPr>
            <a:spLocks xmlns:a="http://schemas.openxmlformats.org/drawingml/2006/main" noGrp="1"/>
          </p:cNvSpPr>
          <p:nvPr/>
        </p:nvSpPr>
        <p:spPr>
          <a:xfrm xmlns:a="http://schemas.openxmlformats.org/drawingml/2006/main">
            <a:off x="4457700" y="3886200"/>
            <a:ext cx="676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0B0B0D"/>
                </a:solidFill>
              </a:defRPr>
            </a:pPr>
            <a:r>
              <a:rPr sz="1200" b="1" i="0">
                <a:solidFill>
                  <a:srgbClr val="0B0B0D"/>
                </a:solidFill>
              </a:rPr>
              <a:t>Did the customer see the correct structured result?</a:t>
            </a:r>
          </a:p>
        </p:txBody>
      </p:sp>
      <p:sp>
        <p:nvSpPr>
          <p:cNvPr id="16" name="">
            <a:extLst xmlns:a="http://schemas.openxmlformats.org/drawingml/2006/main">
              <a:ext uri="{FF2B5EF4-FFF2-40B4-BE49-F238E27FC236}">
                <a16:creationId xmlns:a16="http://schemas.microsoft.com/office/drawing/2014/main" id="{A8325339-5F95-46DD-A686-751D20A8C989}"/>
              </a:ext>
            </a:extLst>
          </p:cNvPr>
          <p:cNvSpPr>
            <a:spLocks xmlns:a="http://schemas.openxmlformats.org/drawingml/2006/main" noGrp="1"/>
          </p:cNvSpPr>
          <p:nvPr/>
        </p:nvSpPr>
        <p:spPr>
          <a:xfrm xmlns:a="http://schemas.openxmlformats.org/drawingml/2006/main">
            <a:off x="704850" y="4476750"/>
            <a:ext cx="10801350" cy="571500"/>
          </a:xfrm>
          <a:prstGeom xmlns:a="http://schemas.openxmlformats.org/drawingml/2006/main" prst="roundRect">
            <a:avLst>
              <a:gd name="adj" fmla="val 20000"/>
            </a:avLst>
          </a:prstGeom>
          <a:solidFill xmlns:a="http://schemas.openxmlformats.org/drawingml/2006/main">
            <a:srgbClr val="0B0B0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1742011-EB8D-4169-A0CF-6B55BB2AE1E8}"/>
              </a:ext>
            </a:extLst>
          </p:cNvPr>
          <p:cNvSpPr>
            <a:spLocks xmlns:a="http://schemas.openxmlformats.org/drawingml/2006/main" noGrp="1"/>
          </p:cNvSpPr>
          <p:nvPr/>
        </p:nvSpPr>
        <p:spPr>
          <a:xfrm xmlns:a="http://schemas.openxmlformats.org/drawingml/2006/main">
            <a:off x="704850" y="4476750"/>
            <a:ext cx="95250" cy="571500"/>
          </a:xfrm>
          <a:prstGeom xmlns:a="http://schemas.openxmlformats.org/drawingml/2006/main" prst="rect">
            <a:avLst/>
          </a:prstGeom>
          <a:solidFill xmlns:a="http://schemas.openxmlformats.org/drawingml/2006/main">
            <a:srgbClr val="E4002B"/>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0D6C9C0-02C1-4AC4-8911-E97630F44531}"/>
              </a:ext>
            </a:extLst>
          </p:cNvPr>
          <p:cNvSpPr>
            <a:spLocks xmlns:a="http://schemas.openxmlformats.org/drawingml/2006/main" noGrp="1"/>
          </p:cNvSpPr>
          <p:nvPr/>
        </p:nvSpPr>
        <p:spPr>
          <a:xfrm xmlns:a="http://schemas.openxmlformats.org/drawingml/2006/main">
            <a:off x="990600" y="462915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E4002B"/>
                </a:solidFill>
              </a:defRPr>
            </a:pPr>
            <a:r>
              <a:rPr sz="1125" b="1" i="0">
                <a:solidFill>
                  <a:srgbClr val="E4002B"/>
                </a:solidFill>
              </a:rPr>
              <a:t>LIVE MODEL + DEPLOYED PROOF</a:t>
            </a:r>
          </a:p>
        </p:txBody>
      </p:sp>
      <p:sp>
        <p:nvSpPr>
          <p:cNvPr id="19" name="">
            <a:extLst xmlns:a="http://schemas.openxmlformats.org/drawingml/2006/main">
              <a:ext uri="{FF2B5EF4-FFF2-40B4-BE49-F238E27FC236}">
                <a16:creationId xmlns:a16="http://schemas.microsoft.com/office/drawing/2014/main" id="{AF22DFB6-60F8-4B06-851A-B2086B7F3C18}"/>
              </a:ext>
            </a:extLst>
          </p:cNvPr>
          <p:cNvSpPr>
            <a:spLocks xmlns:a="http://schemas.openxmlformats.org/drawingml/2006/main" noGrp="1"/>
          </p:cNvSpPr>
          <p:nvPr/>
        </p:nvSpPr>
        <p:spPr>
          <a:xfrm xmlns:a="http://schemas.openxmlformats.org/drawingml/2006/main">
            <a:off x="4457700" y="4610100"/>
            <a:ext cx="676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FFFFFF"/>
                </a:solidFill>
              </a:defRPr>
            </a:pPr>
            <a:r>
              <a:rPr sz="1200" b="1" i="0">
                <a:solidFill>
                  <a:srgbClr val="FFFFFF"/>
                </a:solidFill>
              </a:rPr>
              <a:t>Did the runtime produce the expected causal trace and outcome?</a:t>
            </a:r>
          </a:p>
        </p:txBody>
      </p:sp>
      <p:sp>
        <p:nvSpPr>
          <p:cNvPr id="20" name="">
            <a:extLst xmlns:a="http://schemas.openxmlformats.org/drawingml/2006/main">
              <a:ext uri="{FF2B5EF4-FFF2-40B4-BE49-F238E27FC236}">
                <a16:creationId xmlns:a16="http://schemas.microsoft.com/office/drawing/2014/main" id="{1B67A16F-B477-417C-845A-8CA0FD859903}"/>
              </a:ext>
            </a:extLst>
          </p:cNvPr>
          <p:cNvSpPr>
            <a:spLocks xmlns:a="http://schemas.openxmlformats.org/drawingml/2006/main" noGrp="1"/>
          </p:cNvSpPr>
          <p:nvPr/>
        </p:nvSpPr>
        <p:spPr>
          <a:xfrm xmlns:a="http://schemas.openxmlformats.org/drawingml/2006/main">
            <a:off x="704850" y="53340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E4002B"/>
                </a:solidFill>
              </a:defRPr>
            </a:pPr>
            <a:r>
              <a:rPr sz="1050" b="1" i="0">
                <a:solidFill>
                  <a:srgbClr val="E4002B"/>
                </a:solidFill>
              </a:rPr>
              <a:t>CONTINUOUS QUALITY LOOP</a:t>
            </a:r>
          </a:p>
        </p:txBody>
      </p:sp>
      <p:sp>
        <p:nvSpPr>
          <p:cNvPr id="21" name="">
            <a:extLst xmlns:a="http://schemas.openxmlformats.org/drawingml/2006/main">
              <a:ext uri="{FF2B5EF4-FFF2-40B4-BE49-F238E27FC236}">
                <a16:creationId xmlns:a16="http://schemas.microsoft.com/office/drawing/2014/main" id="{236EFFC5-A714-4CDF-8BBA-D9564C76F6AE}"/>
              </a:ext>
            </a:extLst>
          </p:cNvPr>
          <p:cNvSpPr>
            <a:spLocks xmlns:a="http://schemas.openxmlformats.org/drawingml/2006/main" noGrp="1"/>
          </p:cNvSpPr>
          <p:nvPr/>
        </p:nvSpPr>
        <p:spPr>
          <a:xfrm xmlns:a="http://schemas.openxmlformats.org/drawingml/2006/main">
            <a:off x="3143250" y="5295900"/>
            <a:ext cx="8362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0B0B0D"/>
                </a:solidFill>
              </a:defRPr>
            </a:pPr>
            <a:r>
              <a:rPr sz="1275" b="1" i="0">
                <a:solidFill>
                  <a:srgbClr val="0B0B0D"/>
                </a:solidFill>
              </a:rPr>
              <a:t>OBSERVE LOGS  →  FIND GAPS  →  IMPROVE BEHAVIOR  →  RE-EVALUATE</a:t>
            </a:r>
          </a:p>
        </p:txBody>
      </p:sp>
      <p:sp>
        <p:nvSpPr>
          <p:cNvPr id="22" name="">
            <a:extLst xmlns:a="http://schemas.openxmlformats.org/drawingml/2006/main">
              <a:ext uri="{FF2B5EF4-FFF2-40B4-BE49-F238E27FC236}">
                <a16:creationId xmlns:a16="http://schemas.microsoft.com/office/drawing/2014/main" id="{03569283-AD85-4F8C-A6E4-9BB2F5F1437C}"/>
              </a:ext>
            </a:extLst>
          </p:cNvPr>
          <p:cNvSpPr>
            <a:spLocks xmlns:a="http://schemas.openxmlformats.org/drawingml/2006/main" noGrp="1"/>
          </p:cNvSpPr>
          <p:nvPr/>
        </p:nvSpPr>
        <p:spPr>
          <a:xfrm xmlns:a="http://schemas.openxmlformats.org/drawingml/2006/main">
            <a:off x="704850" y="5772150"/>
            <a:ext cx="10801350" cy="19050"/>
          </a:xfrm>
          <a:prstGeom xmlns:a="http://schemas.openxmlformats.org/drawingml/2006/main" prst="rect">
            <a:avLst/>
          </a:prstGeom>
          <a:solidFill xmlns:a="http://schemas.openxmlformats.org/drawingml/2006/main">
            <a:srgbClr val="0B0B0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0E98A4D0-41E5-4AB7-9944-960D9EF0C7E4}"/>
              </a:ext>
            </a:extLst>
          </p:cNvPr>
          <p:cNvSpPr>
            <a:spLocks xmlns:a="http://schemas.openxmlformats.org/drawingml/2006/main" noGrp="1"/>
          </p:cNvSpPr>
          <p:nvPr/>
        </p:nvSpPr>
        <p:spPr>
          <a:xfrm xmlns:a="http://schemas.openxmlformats.org/drawingml/2006/main">
            <a:off x="704850" y="5943600"/>
            <a:ext cx="10801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i="0">
                <a:solidFill>
                  <a:srgbClr val="0B0B0D"/>
                </a:solidFill>
              </a:defRPr>
            </a:pPr>
            <a:r>
              <a:rPr sz="1500" b="1" i="0">
                <a:solidFill>
                  <a:srgbClr val="0B0B0D"/>
                </a:solidFill>
              </a:rPr>
              <a:t>Evidence layers are never collapsed into one pass-rate claim.</a:t>
            </a:r>
          </a:p>
        </p:txBody>
      </p:sp>
      <p:sp>
        <p:nvSpPr>
          <p:cNvPr id="24" name="">
            <a:extLst xmlns:a="http://schemas.openxmlformats.org/drawingml/2006/main">
              <a:ext uri="{FF2B5EF4-FFF2-40B4-BE49-F238E27FC236}">
                <a16:creationId xmlns:a16="http://schemas.microsoft.com/office/drawing/2014/main" id="{419A34E6-9197-44F7-A864-C966C350FC02}"/>
              </a:ext>
            </a:extLst>
          </p:cNvPr>
          <p:cNvSpPr>
            <a:spLocks xmlns:a="http://schemas.openxmlformats.org/drawingml/2006/main" noGrp="1"/>
          </p:cNvSpPr>
          <p:nvPr/>
        </p:nvSpPr>
        <p:spPr>
          <a:xfrm xmlns:a="http://schemas.openxmlformats.org/drawingml/2006/main">
            <a:off x="685800" y="6457950"/>
            <a:ext cx="590550" cy="47625"/>
          </a:xfrm>
          <a:prstGeom xmlns:a="http://schemas.openxmlformats.org/drawingml/2006/main" prst="rect">
            <a:avLst/>
          </a:prstGeom>
          <a:solidFill xmlns:a="http://schemas.openxmlformats.org/drawingml/2006/main">
            <a:srgbClr val="E4002B"/>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B7D7C6F3-C901-4B81-8EB5-09CB64D18AA2}"/>
              </a:ext>
            </a:extLst>
          </p:cNvPr>
          <p:cNvSpPr>
            <a:spLocks xmlns:a="http://schemas.openxmlformats.org/drawingml/2006/main" noGrp="1"/>
          </p:cNvSpPr>
          <p:nvPr/>
        </p:nvSpPr>
        <p:spPr>
          <a:xfrm xmlns:a="http://schemas.openxmlformats.org/drawingml/2006/main">
            <a:off x="1466850" y="6381750"/>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6F6A63"/>
                </a:solidFill>
              </a:defRPr>
            </a:pPr>
            <a:r>
              <a:rPr sz="825" b="1" i="0">
                <a:solidFill>
                  <a:srgbClr val="6F6A63"/>
                </a:solidFill>
              </a:rPr>
              <a:t>TEAM BRAISE  /  KFC COMMERCE AGENT</a:t>
            </a:r>
          </a:p>
        </p:txBody>
      </p:sp>
    </p:spTree>
    <p:extLst>
      <p:ext uri="{BB962C8B-B14F-4D97-AF65-F5344CB8AC3E}">
        <p14:creationId xmlns:p14="http://schemas.microsoft.com/office/powerpoint/2010/main" val="1775967845"/>
      </p:ext>
    </p:extLst>
  </p:cSld>
</p:sld>
</file>

<file path=ppt/slides/slide13.xml><?xml version="1.0" encoding="utf-8"?>
<p:sld xmlns:p="http://schemas.openxmlformats.org/presentationml/2006/main">
  <p:cSld>
    <p:bg>
      <p:bgPr>
        <a:solidFill xmlns:a="http://schemas.openxmlformats.org/drawingml/2006/main">
          <a:srgbClr val="0B0B0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766CE20-C185-4719-A166-B9C05FACF9F8}"/>
              </a:ext>
            </a:extLst>
          </p:cNvPr>
          <p:cNvSpPr>
            <a:spLocks xmlns:a="http://schemas.openxmlformats.org/drawingml/2006/main" noGrp="1"/>
          </p:cNvSpPr>
          <p:nvPr/>
        </p:nvSpPr>
        <p:spPr>
          <a:xfrm xmlns:a="http://schemas.openxmlformats.org/drawingml/2006/main">
            <a:off x="685800" y="495300"/>
            <a:ext cx="428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E4002B"/>
                </a:solidFill>
              </a:defRPr>
            </a:pPr>
            <a:r>
              <a:rPr sz="1125" b="1" i="0">
                <a:solidFill>
                  <a:srgbClr val="E4002B"/>
                </a:solidFill>
              </a:rPr>
              <a:t>A5  /  OMS + POS INTEGRATION</a:t>
            </a:r>
          </a:p>
        </p:txBody>
      </p:sp>
      <p:sp>
        <p:nvSpPr>
          <p:cNvPr id="2" name="">
            <a:extLst xmlns:a="http://schemas.openxmlformats.org/drawingml/2006/main">
              <a:ext uri="{FF2B5EF4-FFF2-40B4-BE49-F238E27FC236}">
                <a16:creationId xmlns:a16="http://schemas.microsoft.com/office/drawing/2014/main" id="{7F7C3B0B-9C22-48B1-A00B-282834463927}"/>
              </a:ext>
            </a:extLst>
          </p:cNvPr>
          <p:cNvSpPr>
            <a:spLocks xmlns:a="http://schemas.openxmlformats.org/drawingml/2006/main" noGrp="1"/>
          </p:cNvSpPr>
          <p:nvPr/>
        </p:nvSpPr>
        <p:spPr>
          <a:xfrm xmlns:a="http://schemas.openxmlformats.org/drawingml/2006/main">
            <a:off x="11087100" y="4953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i="0">
                <a:solidFill>
                  <a:srgbClr val="FFFFFF"/>
                </a:solidFill>
              </a:defRPr>
            </a:pPr>
            <a:r>
              <a:rPr sz="975" b="1" i="0">
                <a:solidFill>
                  <a:srgbClr val="FFFFFF"/>
                </a:solidFill>
              </a:rPr>
              <a:t>A5</a:t>
            </a:r>
          </a:p>
        </p:txBody>
      </p:sp>
      <p:sp>
        <p:nvSpPr>
          <p:cNvPr id="3" name="">
            <a:extLst xmlns:a="http://schemas.openxmlformats.org/drawingml/2006/main">
              <a:ext uri="{FF2B5EF4-FFF2-40B4-BE49-F238E27FC236}">
                <a16:creationId xmlns:a16="http://schemas.microsoft.com/office/drawing/2014/main" id="{A6959708-5504-4DF8-A27B-5D7B0FF8EF2D}"/>
              </a:ext>
            </a:extLst>
          </p:cNvPr>
          <p:cNvSpPr>
            <a:spLocks xmlns:a="http://schemas.openxmlformats.org/drawingml/2006/main" noGrp="1"/>
          </p:cNvSpPr>
          <p:nvPr/>
        </p:nvSpPr>
        <p:spPr>
          <a:xfrm xmlns:a="http://schemas.openxmlformats.org/drawingml/2006/main">
            <a:off x="685800" y="914400"/>
            <a:ext cx="10287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i="0">
                <a:solidFill>
                  <a:srgbClr val="FFFFFF"/>
                </a:solidFill>
              </a:defRPr>
            </a:pPr>
            <a:r>
              <a:rPr sz="3300" b="1" i="0">
                <a:solidFill>
                  <a:srgbClr val="FFFFFF"/>
                </a:solidFill>
              </a:rPr>
              <a:t>Stable adapter contracts isolate the agent</a:t>
            </a:r>
          </a:p>
          <a:p xmlns:a="http://schemas.openxmlformats.org/drawingml/2006/main">
            <a:pPr algn="l">
              <a:defRPr sz="3300" b="1" i="0">
                <a:solidFill>
                  <a:srgbClr val="FFFFFF"/>
                </a:solidFill>
              </a:defRPr>
            </a:pPr>
            <a:r>
              <a:rPr sz="3300" b="1" i="0">
                <a:solidFill>
                  <a:srgbClr val="FFFFFF"/>
                </a:solidFill>
              </a:rPr>
              <a:t>from OMS/POS specifics.</a:t>
            </a:r>
          </a:p>
        </p:txBody>
      </p:sp>
      <p:sp>
        <p:nvSpPr>
          <p:cNvPr id="4" name="">
            <a:extLst xmlns:a="http://schemas.openxmlformats.org/drawingml/2006/main">
              <a:ext uri="{FF2B5EF4-FFF2-40B4-BE49-F238E27FC236}">
                <a16:creationId xmlns:a16="http://schemas.microsoft.com/office/drawing/2014/main" id="{D1EE3731-E2F9-4848-8EB8-55C55A25BB16}"/>
              </a:ext>
            </a:extLst>
          </p:cNvPr>
          <p:cNvSpPr>
            <a:spLocks xmlns:a="http://schemas.openxmlformats.org/drawingml/2006/main" noGrp="1"/>
          </p:cNvSpPr>
          <p:nvPr/>
        </p:nvSpPr>
        <p:spPr>
          <a:xfrm xmlns:a="http://schemas.openxmlformats.org/drawingml/2006/main">
            <a:off x="704850" y="2514600"/>
            <a:ext cx="2095500" cy="876300"/>
          </a:xfrm>
          <a:prstGeom xmlns:a="http://schemas.openxmlformats.org/drawingml/2006/main" prst="roundRect">
            <a:avLst>
              <a:gd name="adj" fmla="val 13043"/>
            </a:avLst>
          </a:prstGeom>
          <a:solidFill xmlns:a="http://schemas.openxmlformats.org/drawingml/2006/main">
            <a:srgbClr val="27272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277001A-AB45-4F47-9935-DCD284204CCF}"/>
              </a:ext>
            </a:extLst>
          </p:cNvPr>
          <p:cNvSpPr>
            <a:spLocks xmlns:a="http://schemas.openxmlformats.org/drawingml/2006/main" noGrp="1"/>
          </p:cNvSpPr>
          <p:nvPr/>
        </p:nvSpPr>
        <p:spPr>
          <a:xfrm xmlns:a="http://schemas.openxmlformats.org/drawingml/2006/main">
            <a:off x="914400" y="2819400"/>
            <a:ext cx="167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AGENT TOOLS</a:t>
            </a:r>
          </a:p>
        </p:txBody>
      </p:sp>
      <p:sp>
        <p:nvSpPr>
          <p:cNvPr id="6" name="">
            <a:extLst xmlns:a="http://schemas.openxmlformats.org/drawingml/2006/main">
              <a:ext uri="{FF2B5EF4-FFF2-40B4-BE49-F238E27FC236}">
                <a16:creationId xmlns:a16="http://schemas.microsoft.com/office/drawing/2014/main" id="{7BA0A196-7707-4E5E-9395-544D637B67D6}"/>
              </a:ext>
            </a:extLst>
          </p:cNvPr>
          <p:cNvSpPr>
            <a:spLocks xmlns:a="http://schemas.openxmlformats.org/drawingml/2006/main" noGrp="1"/>
          </p:cNvSpPr>
          <p:nvPr/>
        </p:nvSpPr>
        <p:spPr>
          <a:xfrm xmlns:a="http://schemas.openxmlformats.org/drawingml/2006/main">
            <a:off x="2857500" y="280035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i="0">
                <a:solidFill>
                  <a:srgbClr val="E4002B"/>
                </a:solidFill>
              </a:defRPr>
            </a:pPr>
            <a:r>
              <a:rPr sz="1650" b="1" i="0">
                <a:solidFill>
                  <a:srgbClr val="E4002B"/>
                </a:solidFill>
              </a:rPr>
              <a:t>→</a:t>
            </a:r>
          </a:p>
        </p:txBody>
      </p:sp>
      <p:sp>
        <p:nvSpPr>
          <p:cNvPr id="7" name="">
            <a:extLst xmlns:a="http://schemas.openxmlformats.org/drawingml/2006/main">
              <a:ext uri="{FF2B5EF4-FFF2-40B4-BE49-F238E27FC236}">
                <a16:creationId xmlns:a16="http://schemas.microsoft.com/office/drawing/2014/main" id="{0E249A61-5CAD-4930-84DC-E14CC83F0E7A}"/>
              </a:ext>
            </a:extLst>
          </p:cNvPr>
          <p:cNvSpPr>
            <a:spLocks xmlns:a="http://schemas.openxmlformats.org/drawingml/2006/main" noGrp="1"/>
          </p:cNvSpPr>
          <p:nvPr/>
        </p:nvSpPr>
        <p:spPr>
          <a:xfrm xmlns:a="http://schemas.openxmlformats.org/drawingml/2006/main">
            <a:off x="3429000" y="2362200"/>
            <a:ext cx="3619500" cy="1181100"/>
          </a:xfrm>
          <a:prstGeom xmlns:a="http://schemas.openxmlformats.org/drawingml/2006/main" prst="roundRect">
            <a:avLst>
              <a:gd name="adj" fmla="val 9677"/>
            </a:avLst>
          </a:prstGeom>
          <a:solidFill xmlns:a="http://schemas.openxmlformats.org/drawingml/2006/main">
            <a:srgbClr val="E4002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6521A38-A9D4-41E9-A42B-7DFF3BD0243E}"/>
              </a:ext>
            </a:extLst>
          </p:cNvPr>
          <p:cNvSpPr>
            <a:spLocks xmlns:a="http://schemas.openxmlformats.org/drawingml/2006/main" noGrp="1"/>
          </p:cNvSpPr>
          <p:nvPr/>
        </p:nvSpPr>
        <p:spPr>
          <a:xfrm xmlns:a="http://schemas.openxmlformats.org/drawingml/2006/main">
            <a:off x="3695700" y="2609850"/>
            <a:ext cx="3086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COMMERCE CONTRACT</a:t>
            </a:r>
          </a:p>
        </p:txBody>
      </p:sp>
      <p:sp>
        <p:nvSpPr>
          <p:cNvPr id="9" name="">
            <a:extLst xmlns:a="http://schemas.openxmlformats.org/drawingml/2006/main">
              <a:ext uri="{FF2B5EF4-FFF2-40B4-BE49-F238E27FC236}">
                <a16:creationId xmlns:a16="http://schemas.microsoft.com/office/drawing/2014/main" id="{379F8A9B-0375-424E-8D14-D60281ED5DC9}"/>
              </a:ext>
            </a:extLst>
          </p:cNvPr>
          <p:cNvSpPr>
            <a:spLocks xmlns:a="http://schemas.openxmlformats.org/drawingml/2006/main" noGrp="1"/>
          </p:cNvSpPr>
          <p:nvPr/>
        </p:nvSpPr>
        <p:spPr>
          <a:xfrm xmlns:a="http://schemas.openxmlformats.org/drawingml/2006/main">
            <a:off x="3695700" y="3048000"/>
            <a:ext cx="3086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FFFFFF"/>
                </a:solidFill>
              </a:defRPr>
            </a:pPr>
            <a:r>
              <a:rPr sz="1125" b="1" i="0">
                <a:solidFill>
                  <a:srgbClr val="FFFFFF"/>
                </a:solidFill>
              </a:rPr>
              <a:t>Typed commands + stable outcomes</a:t>
            </a:r>
          </a:p>
        </p:txBody>
      </p:sp>
      <p:sp>
        <p:nvSpPr>
          <p:cNvPr id="10" name="">
            <a:extLst xmlns:a="http://schemas.openxmlformats.org/drawingml/2006/main">
              <a:ext uri="{FF2B5EF4-FFF2-40B4-BE49-F238E27FC236}">
                <a16:creationId xmlns:a16="http://schemas.microsoft.com/office/drawing/2014/main" id="{9E4AE4D9-DABF-4898-AD85-2C74EBCBAB21}"/>
              </a:ext>
            </a:extLst>
          </p:cNvPr>
          <p:cNvSpPr>
            <a:spLocks xmlns:a="http://schemas.openxmlformats.org/drawingml/2006/main" noGrp="1"/>
          </p:cNvSpPr>
          <p:nvPr/>
        </p:nvSpPr>
        <p:spPr>
          <a:xfrm xmlns:a="http://schemas.openxmlformats.org/drawingml/2006/main">
            <a:off x="7086600" y="25527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i="0">
                <a:solidFill>
                  <a:srgbClr val="E4002B"/>
                </a:solidFill>
              </a:defRPr>
            </a:pPr>
            <a:r>
              <a:rPr sz="1650" b="1" i="0">
                <a:solidFill>
                  <a:srgbClr val="E4002B"/>
                </a:solidFill>
              </a:rPr>
              <a:t>→</a:t>
            </a:r>
          </a:p>
        </p:txBody>
      </p:sp>
      <p:sp>
        <p:nvSpPr>
          <p:cNvPr id="11" name="">
            <a:extLst xmlns:a="http://schemas.openxmlformats.org/drawingml/2006/main">
              <a:ext uri="{FF2B5EF4-FFF2-40B4-BE49-F238E27FC236}">
                <a16:creationId xmlns:a16="http://schemas.microsoft.com/office/drawing/2014/main" id="{2A3763AC-EEAE-4F4F-AF7E-B4188E5CF96A}"/>
              </a:ext>
            </a:extLst>
          </p:cNvPr>
          <p:cNvSpPr>
            <a:spLocks xmlns:a="http://schemas.openxmlformats.org/drawingml/2006/main" noGrp="1"/>
          </p:cNvSpPr>
          <p:nvPr/>
        </p:nvSpPr>
        <p:spPr>
          <a:xfrm xmlns:a="http://schemas.openxmlformats.org/drawingml/2006/main">
            <a:off x="7086600" y="321945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i="0">
                <a:solidFill>
                  <a:srgbClr val="E4002B"/>
                </a:solidFill>
              </a:defRPr>
            </a:pPr>
            <a:r>
              <a:rPr sz="1650" b="1" i="0">
                <a:solidFill>
                  <a:srgbClr val="E4002B"/>
                </a:solidFill>
              </a:rPr>
              <a:t>→</a:t>
            </a:r>
          </a:p>
        </p:txBody>
      </p:sp>
      <p:sp>
        <p:nvSpPr>
          <p:cNvPr id="12" name="">
            <a:extLst xmlns:a="http://schemas.openxmlformats.org/drawingml/2006/main">
              <a:ext uri="{FF2B5EF4-FFF2-40B4-BE49-F238E27FC236}">
                <a16:creationId xmlns:a16="http://schemas.microsoft.com/office/drawing/2014/main" id="{4621C67F-1E6D-4A8E-B110-C11678DE8391}"/>
              </a:ext>
            </a:extLst>
          </p:cNvPr>
          <p:cNvSpPr>
            <a:spLocks xmlns:a="http://schemas.openxmlformats.org/drawingml/2006/main" noGrp="1"/>
          </p:cNvSpPr>
          <p:nvPr/>
        </p:nvSpPr>
        <p:spPr>
          <a:xfrm xmlns:a="http://schemas.openxmlformats.org/drawingml/2006/main">
            <a:off x="7658100" y="2247900"/>
            <a:ext cx="2952750" cy="647700"/>
          </a:xfrm>
          <a:prstGeom xmlns:a="http://schemas.openxmlformats.org/drawingml/2006/main" prst="roundRect">
            <a:avLst>
              <a:gd name="adj" fmla="val 17647"/>
            </a:avLst>
          </a:prstGeom>
          <a:solidFill xmlns:a="http://schemas.openxmlformats.org/drawingml/2006/main">
            <a:srgbClr val="27272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44CA05C-1ABB-423B-8C3A-06F7E7924F88}"/>
              </a:ext>
            </a:extLst>
          </p:cNvPr>
          <p:cNvSpPr>
            <a:spLocks xmlns:a="http://schemas.openxmlformats.org/drawingml/2006/main" noGrp="1"/>
          </p:cNvSpPr>
          <p:nvPr/>
        </p:nvSpPr>
        <p:spPr>
          <a:xfrm xmlns:a="http://schemas.openxmlformats.org/drawingml/2006/main">
            <a:off x="7886700" y="2447925"/>
            <a:ext cx="2495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FFFFFF"/>
                </a:solidFill>
              </a:defRPr>
            </a:pPr>
            <a:r>
              <a:rPr sz="1275" b="1" i="0">
                <a:solidFill>
                  <a:srgbClr val="FFFFFF"/>
                </a:solidFill>
              </a:rPr>
              <a:t>OMS ADAPTER</a:t>
            </a:r>
          </a:p>
        </p:txBody>
      </p:sp>
      <p:sp>
        <p:nvSpPr>
          <p:cNvPr id="14" name="">
            <a:extLst xmlns:a="http://schemas.openxmlformats.org/drawingml/2006/main">
              <a:ext uri="{FF2B5EF4-FFF2-40B4-BE49-F238E27FC236}">
                <a16:creationId xmlns:a16="http://schemas.microsoft.com/office/drawing/2014/main" id="{7F247A49-A990-48F2-83D5-7F5B615AC2F5}"/>
              </a:ext>
            </a:extLst>
          </p:cNvPr>
          <p:cNvSpPr>
            <a:spLocks xmlns:a="http://schemas.openxmlformats.org/drawingml/2006/main" noGrp="1"/>
          </p:cNvSpPr>
          <p:nvPr/>
        </p:nvSpPr>
        <p:spPr>
          <a:xfrm xmlns:a="http://schemas.openxmlformats.org/drawingml/2006/main">
            <a:off x="7658100" y="3067050"/>
            <a:ext cx="2952750" cy="647700"/>
          </a:xfrm>
          <a:prstGeom xmlns:a="http://schemas.openxmlformats.org/drawingml/2006/main" prst="roundRect">
            <a:avLst>
              <a:gd name="adj" fmla="val 17647"/>
            </a:avLst>
          </a:prstGeom>
          <a:solidFill xmlns:a="http://schemas.openxmlformats.org/drawingml/2006/main">
            <a:srgbClr val="27272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7212A41-4880-477C-A157-8A7606E5F9B2}"/>
              </a:ext>
            </a:extLst>
          </p:cNvPr>
          <p:cNvSpPr>
            <a:spLocks xmlns:a="http://schemas.openxmlformats.org/drawingml/2006/main" noGrp="1"/>
          </p:cNvSpPr>
          <p:nvPr/>
        </p:nvSpPr>
        <p:spPr>
          <a:xfrm xmlns:a="http://schemas.openxmlformats.org/drawingml/2006/main">
            <a:off x="7886700" y="3267075"/>
            <a:ext cx="2495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FFFFFF"/>
                </a:solidFill>
              </a:defRPr>
            </a:pPr>
            <a:r>
              <a:rPr sz="1275" b="1" i="0">
                <a:solidFill>
                  <a:srgbClr val="FFFFFF"/>
                </a:solidFill>
              </a:rPr>
              <a:t>POS ADAPTER</a:t>
            </a:r>
          </a:p>
        </p:txBody>
      </p:sp>
      <p:sp>
        <p:nvSpPr>
          <p:cNvPr id="16" name="">
            <a:extLst xmlns:a="http://schemas.openxmlformats.org/drawingml/2006/main">
              <a:ext uri="{FF2B5EF4-FFF2-40B4-BE49-F238E27FC236}">
                <a16:creationId xmlns:a16="http://schemas.microsoft.com/office/drawing/2014/main" id="{91179220-F2E7-404B-A058-5C8C17492BAD}"/>
              </a:ext>
            </a:extLst>
          </p:cNvPr>
          <p:cNvSpPr>
            <a:spLocks xmlns:a="http://schemas.openxmlformats.org/drawingml/2006/main" noGrp="1"/>
          </p:cNvSpPr>
          <p:nvPr/>
        </p:nvSpPr>
        <p:spPr>
          <a:xfrm xmlns:a="http://schemas.openxmlformats.org/drawingml/2006/main">
            <a:off x="704850" y="4229100"/>
            <a:ext cx="76200" cy="666750"/>
          </a:xfrm>
          <a:prstGeom xmlns:a="http://schemas.openxmlformats.org/drawingml/2006/main" prst="rect">
            <a:avLst/>
          </a:prstGeom>
          <a:solidFill xmlns:a="http://schemas.openxmlformats.org/drawingml/2006/main">
            <a:srgbClr val="E4002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2CFE2CD-377B-4BCB-954F-19D70EA13CC9}"/>
              </a:ext>
            </a:extLst>
          </p:cNvPr>
          <p:cNvSpPr>
            <a:spLocks xmlns:a="http://schemas.openxmlformats.org/drawingml/2006/main" noGrp="1"/>
          </p:cNvSpPr>
          <p:nvPr/>
        </p:nvSpPr>
        <p:spPr>
          <a:xfrm xmlns:a="http://schemas.openxmlformats.org/drawingml/2006/main">
            <a:off x="914400" y="4267200"/>
            <a:ext cx="2343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FFFFFF"/>
                </a:solidFill>
              </a:defRPr>
            </a:pPr>
            <a:r>
              <a:rPr sz="1125" b="1" i="0">
                <a:solidFill>
                  <a:srgbClr val="FFFFFF"/>
                </a:solidFill>
              </a:rPr>
              <a:t>Typed order + status models</a:t>
            </a:r>
          </a:p>
        </p:txBody>
      </p:sp>
      <p:sp>
        <p:nvSpPr>
          <p:cNvPr id="18" name="">
            <a:extLst xmlns:a="http://schemas.openxmlformats.org/drawingml/2006/main">
              <a:ext uri="{FF2B5EF4-FFF2-40B4-BE49-F238E27FC236}">
                <a16:creationId xmlns:a16="http://schemas.microsoft.com/office/drawing/2014/main" id="{042218E4-5D7C-4FE0-9592-270E96CF8AB6}"/>
              </a:ext>
            </a:extLst>
          </p:cNvPr>
          <p:cNvSpPr>
            <a:spLocks xmlns:a="http://schemas.openxmlformats.org/drawingml/2006/main" noGrp="1"/>
          </p:cNvSpPr>
          <p:nvPr/>
        </p:nvSpPr>
        <p:spPr>
          <a:xfrm xmlns:a="http://schemas.openxmlformats.org/drawingml/2006/main">
            <a:off x="3409950" y="4229100"/>
            <a:ext cx="76200" cy="666750"/>
          </a:xfrm>
          <a:prstGeom xmlns:a="http://schemas.openxmlformats.org/drawingml/2006/main" prst="rect">
            <a:avLst/>
          </a:prstGeom>
          <a:solidFill xmlns:a="http://schemas.openxmlformats.org/drawingml/2006/main">
            <a:srgbClr val="E4002B"/>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E43084E-D998-4275-B157-B8534B287BD5}"/>
              </a:ext>
            </a:extLst>
          </p:cNvPr>
          <p:cNvSpPr>
            <a:spLocks xmlns:a="http://schemas.openxmlformats.org/drawingml/2006/main" noGrp="1"/>
          </p:cNvSpPr>
          <p:nvPr/>
        </p:nvSpPr>
        <p:spPr>
          <a:xfrm xmlns:a="http://schemas.openxmlformats.org/drawingml/2006/main">
            <a:off x="3619500" y="4267200"/>
            <a:ext cx="2343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FFFFFF"/>
                </a:solidFill>
              </a:defRPr>
            </a:pPr>
            <a:r>
              <a:rPr sz="1125" b="1" i="0">
                <a:solidFill>
                  <a:srgbClr val="FFFFFF"/>
                </a:solidFill>
              </a:rPr>
              <a:t>Correlation + idempotency keys</a:t>
            </a:r>
          </a:p>
        </p:txBody>
      </p:sp>
      <p:sp>
        <p:nvSpPr>
          <p:cNvPr id="20" name="">
            <a:extLst xmlns:a="http://schemas.openxmlformats.org/drawingml/2006/main">
              <a:ext uri="{FF2B5EF4-FFF2-40B4-BE49-F238E27FC236}">
                <a16:creationId xmlns:a16="http://schemas.microsoft.com/office/drawing/2014/main" id="{1D6568CE-A20D-43DA-B08E-1253F1EE3FFE}"/>
              </a:ext>
            </a:extLst>
          </p:cNvPr>
          <p:cNvSpPr>
            <a:spLocks xmlns:a="http://schemas.openxmlformats.org/drawingml/2006/main" noGrp="1"/>
          </p:cNvSpPr>
          <p:nvPr/>
        </p:nvSpPr>
        <p:spPr>
          <a:xfrm xmlns:a="http://schemas.openxmlformats.org/drawingml/2006/main">
            <a:off x="6115050" y="4229100"/>
            <a:ext cx="76200" cy="666750"/>
          </a:xfrm>
          <a:prstGeom xmlns:a="http://schemas.openxmlformats.org/drawingml/2006/main" prst="rect">
            <a:avLst/>
          </a:prstGeom>
          <a:solidFill xmlns:a="http://schemas.openxmlformats.org/drawingml/2006/main">
            <a:srgbClr val="E4002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C40389D-DA08-4813-9AC4-BEB861213285}"/>
              </a:ext>
            </a:extLst>
          </p:cNvPr>
          <p:cNvSpPr>
            <a:spLocks xmlns:a="http://schemas.openxmlformats.org/drawingml/2006/main" noGrp="1"/>
          </p:cNvSpPr>
          <p:nvPr/>
        </p:nvSpPr>
        <p:spPr>
          <a:xfrm xmlns:a="http://schemas.openxmlformats.org/drawingml/2006/main">
            <a:off x="6324600" y="4267200"/>
            <a:ext cx="2343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FFFFFF"/>
                </a:solidFill>
              </a:defRPr>
            </a:pPr>
            <a:r>
              <a:rPr sz="1125" b="1" i="0">
                <a:solidFill>
                  <a:srgbClr val="FFFFFF"/>
                </a:solidFill>
              </a:rPr>
              <a:t>Failure + cancellation mapping</a:t>
            </a:r>
          </a:p>
        </p:txBody>
      </p:sp>
      <p:sp>
        <p:nvSpPr>
          <p:cNvPr id="22" name="">
            <a:extLst xmlns:a="http://schemas.openxmlformats.org/drawingml/2006/main">
              <a:ext uri="{FF2B5EF4-FFF2-40B4-BE49-F238E27FC236}">
                <a16:creationId xmlns:a16="http://schemas.microsoft.com/office/drawing/2014/main" id="{34CA7CB6-A8CA-4749-83CA-417B415A7391}"/>
              </a:ext>
            </a:extLst>
          </p:cNvPr>
          <p:cNvSpPr>
            <a:spLocks xmlns:a="http://schemas.openxmlformats.org/drawingml/2006/main" noGrp="1"/>
          </p:cNvSpPr>
          <p:nvPr/>
        </p:nvSpPr>
        <p:spPr>
          <a:xfrm xmlns:a="http://schemas.openxmlformats.org/drawingml/2006/main">
            <a:off x="8820150" y="4229100"/>
            <a:ext cx="76200" cy="666750"/>
          </a:xfrm>
          <a:prstGeom xmlns:a="http://schemas.openxmlformats.org/drawingml/2006/main" prst="rect">
            <a:avLst/>
          </a:prstGeom>
          <a:solidFill xmlns:a="http://schemas.openxmlformats.org/drawingml/2006/main">
            <a:srgbClr val="E4002B"/>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1A61DCF-B62A-4679-A7CE-33B70A00DA87}"/>
              </a:ext>
            </a:extLst>
          </p:cNvPr>
          <p:cNvSpPr>
            <a:spLocks xmlns:a="http://schemas.openxmlformats.org/drawingml/2006/main" noGrp="1"/>
          </p:cNvSpPr>
          <p:nvPr/>
        </p:nvSpPr>
        <p:spPr>
          <a:xfrm xmlns:a="http://schemas.openxmlformats.org/drawingml/2006/main">
            <a:off x="9029700" y="4267200"/>
            <a:ext cx="2343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FFFFFF"/>
                </a:solidFill>
              </a:defRPr>
            </a:pPr>
            <a:r>
              <a:rPr sz="1125" b="1" i="0">
                <a:solidFill>
                  <a:srgbClr val="FFFFFF"/>
                </a:solidFill>
              </a:rPr>
              <a:t>Raw status kept for reconciliation</a:t>
            </a:r>
          </a:p>
        </p:txBody>
      </p:sp>
      <p:sp>
        <p:nvSpPr>
          <p:cNvPr id="24" name="">
            <a:extLst xmlns:a="http://schemas.openxmlformats.org/drawingml/2006/main">
              <a:ext uri="{FF2B5EF4-FFF2-40B4-BE49-F238E27FC236}">
                <a16:creationId xmlns:a16="http://schemas.microsoft.com/office/drawing/2014/main" id="{4182FD47-C74C-4D05-8E99-78AE187819A3}"/>
              </a:ext>
            </a:extLst>
          </p:cNvPr>
          <p:cNvSpPr>
            <a:spLocks xmlns:a="http://schemas.openxmlformats.org/drawingml/2006/main" noGrp="1"/>
          </p:cNvSpPr>
          <p:nvPr/>
        </p:nvSpPr>
        <p:spPr>
          <a:xfrm xmlns:a="http://schemas.openxmlformats.org/drawingml/2006/main">
            <a:off x="704850" y="5276850"/>
            <a:ext cx="10801350" cy="495300"/>
          </a:xfrm>
          <a:prstGeom xmlns:a="http://schemas.openxmlformats.org/drawingml/2006/main" prst="roundRect">
            <a:avLst>
              <a:gd name="adj" fmla="val 23077"/>
            </a:avLst>
          </a:prstGeom>
          <a:solidFill xmlns:a="http://schemas.openxmlformats.org/drawingml/2006/main">
            <a:srgbClr val="F7F2E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96EBCEC0-364F-45A6-8511-081705BD3DCD}"/>
              </a:ext>
            </a:extLst>
          </p:cNvPr>
          <p:cNvSpPr>
            <a:spLocks xmlns:a="http://schemas.openxmlformats.org/drawingml/2006/main" noGrp="1"/>
          </p:cNvSpPr>
          <p:nvPr/>
        </p:nvSpPr>
        <p:spPr>
          <a:xfrm xmlns:a="http://schemas.openxmlformats.org/drawingml/2006/main">
            <a:off x="952500" y="54102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E4002B"/>
                </a:solidFill>
              </a:defRPr>
            </a:pPr>
            <a:r>
              <a:rPr sz="1200" b="1" i="0">
                <a:solidFill>
                  <a:srgbClr val="E4002B"/>
                </a:solidFill>
              </a:rPr>
              <a:t>CURRENT PROOF  /  SIMULATED ADAPTERS</a:t>
            </a:r>
          </a:p>
        </p:txBody>
      </p:sp>
      <p:sp>
        <p:nvSpPr>
          <p:cNvPr id="26" name="">
            <a:extLst xmlns:a="http://schemas.openxmlformats.org/drawingml/2006/main">
              <a:ext uri="{FF2B5EF4-FFF2-40B4-BE49-F238E27FC236}">
                <a16:creationId xmlns:a16="http://schemas.microsoft.com/office/drawing/2014/main" id="{004E214D-9F27-446C-8582-2A7D20FE4F88}"/>
              </a:ext>
            </a:extLst>
          </p:cNvPr>
          <p:cNvSpPr>
            <a:spLocks xmlns:a="http://schemas.openxmlformats.org/drawingml/2006/main" noGrp="1"/>
          </p:cNvSpPr>
          <p:nvPr/>
        </p:nvSpPr>
        <p:spPr>
          <a:xfrm xmlns:a="http://schemas.openxmlformats.org/drawingml/2006/main">
            <a:off x="4914900" y="5381625"/>
            <a:ext cx="6305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i="0">
                <a:solidFill>
                  <a:srgbClr val="0B0B0D"/>
                </a:solidFill>
              </a:defRPr>
            </a:pPr>
            <a:r>
              <a:rPr sz="1050" b="1" i="0">
                <a:solidFill>
                  <a:srgbClr val="0B0B0D"/>
                </a:solidFill>
              </a:rPr>
              <a:t>Real integration requires authoritative APIs, sandbox, auth, webhooks, and conformance tests.</a:t>
            </a:r>
          </a:p>
        </p:txBody>
      </p:sp>
      <p:sp>
        <p:nvSpPr>
          <p:cNvPr id="27" name="">
            <a:extLst xmlns:a="http://schemas.openxmlformats.org/drawingml/2006/main">
              <a:ext uri="{FF2B5EF4-FFF2-40B4-BE49-F238E27FC236}">
                <a16:creationId xmlns:a16="http://schemas.microsoft.com/office/drawing/2014/main" id="{8C717F46-90CD-4426-8B55-69B6E4904BC3}"/>
              </a:ext>
            </a:extLst>
          </p:cNvPr>
          <p:cNvSpPr>
            <a:spLocks xmlns:a="http://schemas.openxmlformats.org/drawingml/2006/main" noGrp="1"/>
          </p:cNvSpPr>
          <p:nvPr/>
        </p:nvSpPr>
        <p:spPr>
          <a:xfrm xmlns:a="http://schemas.openxmlformats.org/drawingml/2006/main">
            <a:off x="685800" y="6457950"/>
            <a:ext cx="590550" cy="47625"/>
          </a:xfrm>
          <a:prstGeom xmlns:a="http://schemas.openxmlformats.org/drawingml/2006/main" prst="rect">
            <a:avLst/>
          </a:prstGeom>
          <a:solidFill xmlns:a="http://schemas.openxmlformats.org/drawingml/2006/main">
            <a:srgbClr val="E4002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3EA3BC3-4785-424F-AF5A-ED1DD81C3BB3}"/>
              </a:ext>
            </a:extLst>
          </p:cNvPr>
          <p:cNvSpPr>
            <a:spLocks xmlns:a="http://schemas.openxmlformats.org/drawingml/2006/main" noGrp="1"/>
          </p:cNvSpPr>
          <p:nvPr/>
        </p:nvSpPr>
        <p:spPr>
          <a:xfrm xmlns:a="http://schemas.openxmlformats.org/drawingml/2006/main">
            <a:off x="1466850" y="6381750"/>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B8B2A8"/>
                </a:solidFill>
              </a:defRPr>
            </a:pPr>
            <a:r>
              <a:rPr sz="825" b="1" i="0">
                <a:solidFill>
                  <a:srgbClr val="B8B2A8"/>
                </a:solidFill>
              </a:rPr>
              <a:t>TEAM BRAISE  /  KFC COMMERCE AGENT</a:t>
            </a:r>
          </a:p>
        </p:txBody>
      </p:sp>
    </p:spTree>
    <p:extLst>
      <p:ext uri="{BB962C8B-B14F-4D97-AF65-F5344CB8AC3E}">
        <p14:creationId xmlns:p14="http://schemas.microsoft.com/office/powerpoint/2010/main" val="13718609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2026-07-11T20:53:25.4540000Z</dcterms:created>
  <dcterms:modified xsi:type="dcterms:W3CDTF">2026-07-11T20:53:25.4540000Z</dcterms:modified>
</coreProperties>
</file>