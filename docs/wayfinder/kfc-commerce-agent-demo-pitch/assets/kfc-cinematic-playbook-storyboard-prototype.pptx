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ee3d5bdf934b90" /><Relationship Type="http://schemas.openxmlformats.org/officeDocument/2006/relationships/extended-properties" Target="/docProps/app.xml" Id="Rf65548ba5def432f" /><Relationship Type="http://schemas.openxmlformats.org/officeDocument/2006/relationships/officeDocument" Target="/ppt/presentation.xml" Id="R4c87809945014e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ed2a8be63d46fa"/>
  </p:sldMasterIdLst>
  <p:notesMasterIdLst>
    <p:notesMasterId xmlns:r="http://schemas.openxmlformats.org/officeDocument/2006/relationships" r:id="R42adf3473a914381"/>
  </p:notesMasterIdLst>
  <p:sldIdLst>
    <p:sldId xmlns:r="http://schemas.openxmlformats.org/officeDocument/2006/relationships" id="256" r:id="R8bd0101af9224b76"/>
    <p:sldId xmlns:r="http://schemas.openxmlformats.org/officeDocument/2006/relationships" id="257" r:id="R616990ef3a734965"/>
    <p:sldId xmlns:r="http://schemas.openxmlformats.org/officeDocument/2006/relationships" id="258" r:id="R0fc1d536070a47d7"/>
    <p:sldId xmlns:r="http://schemas.openxmlformats.org/officeDocument/2006/relationships" id="259" r:id="Rcc7e979f15d347ac"/>
    <p:sldId xmlns:r="http://schemas.openxmlformats.org/officeDocument/2006/relationships" id="260" r:id="R41ec4408522f4739"/>
    <p:sldId xmlns:r="http://schemas.openxmlformats.org/officeDocument/2006/relationships" id="261" r:id="Rd4fe93a291b643f2"/>
    <p:sldId xmlns:r="http://schemas.openxmlformats.org/officeDocument/2006/relationships" id="262" r:id="Rd0fe561e53074d62"/>
    <p:sldId xmlns:r="http://schemas.openxmlformats.org/officeDocument/2006/relationships" id="263" r:id="Rd954b6d21f504c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8a75ce8a64419d" /><Relationship Type="http://schemas.openxmlformats.org/officeDocument/2006/relationships/slideMaster" Target="/ppt/slideMasters/slideMaster1.xml" Id="Rb7ed2a8be63d46fa" /><Relationship Type="http://schemas.openxmlformats.org/officeDocument/2006/relationships/notesMaster" Target="/ppt/notesMasters/notesMaster1.xml" Id="R42adf3473a914381" /><Relationship Type="http://schemas.openxmlformats.org/officeDocument/2006/relationships/presProps" Target="/ppt/presProps.xml" Id="R4913abc660d4481e" /><Relationship Type="http://schemas.openxmlformats.org/officeDocument/2006/relationships/tableStyles" Target="/ppt/tableStyles.xml" Id="Raaa8acb55f1e4098" /><Relationship Type="http://schemas.openxmlformats.org/officeDocument/2006/relationships/slide" Target="/ppt/slides/slide1.xml" Id="R8bd0101af9224b76" /><Relationship Type="http://schemas.openxmlformats.org/officeDocument/2006/relationships/slide" Target="/ppt/slides/slide2.xml" Id="R616990ef3a734965" /><Relationship Type="http://schemas.openxmlformats.org/officeDocument/2006/relationships/slide" Target="/ppt/slides/slide3.xml" Id="R0fc1d536070a47d7" /><Relationship Type="http://schemas.openxmlformats.org/officeDocument/2006/relationships/slide" Target="/ppt/slides/slide4.xml" Id="Rcc7e979f15d347ac" /><Relationship Type="http://schemas.openxmlformats.org/officeDocument/2006/relationships/slide" Target="/ppt/slides/slide5.xml" Id="R41ec4408522f4739" /><Relationship Type="http://schemas.openxmlformats.org/officeDocument/2006/relationships/slide" Target="/ppt/slides/slide6.xml" Id="Rd4fe93a291b643f2" /><Relationship Type="http://schemas.openxmlformats.org/officeDocument/2006/relationships/slide" Target="/ppt/slides/slide7.xml" Id="Rd0fe561e53074d62" /><Relationship Type="http://schemas.openxmlformats.org/officeDocument/2006/relationships/slide" Target="/ppt/slides/slide8.xml" Id="Rd954b6d21f504c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5acaf3633240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186761eb1d45fa" /><Relationship Type="http://schemas.openxmlformats.org/officeDocument/2006/relationships/notesMaster" Target="/ppt/notesMasters/notesMaster1.xml" Id="R057c48c2c70e42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d68b5234de4ad1" /><Relationship Type="http://schemas.openxmlformats.org/officeDocument/2006/relationships/notesMaster" Target="/ppt/notesMasters/notesMaster1.xml" Id="R01249fd2f8844c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4aade12e53441b" /><Relationship Type="http://schemas.openxmlformats.org/officeDocument/2006/relationships/notesMaster" Target="/ppt/notesMasters/notesMaster1.xml" Id="Rfedfe151aae146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eae877623c44e0" /><Relationship Type="http://schemas.openxmlformats.org/officeDocument/2006/relationships/notesMaster" Target="/ppt/notesMasters/notesMaster1.xml" Id="Rc085e88a9ae348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f6c0a7498d4afe" /><Relationship Type="http://schemas.openxmlformats.org/officeDocument/2006/relationships/notesMaster" Target="/ppt/notesMasters/notesMaster1.xml" Id="R224aba0fa28f45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030899aadd479f" /><Relationship Type="http://schemas.openxmlformats.org/officeDocument/2006/relationships/notesMaster" Target="/ppt/notesMasters/notesMaster1.xml" Id="Refedd231af334b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3d1c54488e4b3a" /><Relationship Type="http://schemas.openxmlformats.org/officeDocument/2006/relationships/notesMaster" Target="/ppt/notesMasters/notesMaster1.xml" Id="Ra216100f261c41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75e71c9e75423b" /><Relationship Type="http://schemas.openxmlformats.org/officeDocument/2006/relationships/notesMaster" Target="/ppt/notesMasters/notesMaster1.xml" Id="Rdaa07e836db44f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8137eb4a84a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7121d13f1b4a13" /><Relationship Type="http://schemas.openxmlformats.org/officeDocument/2006/relationships/slideLayout" Target="/ppt/slideLayouts/slideLayout1.xml" Id="Re9f6732f8b894e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f6732f8b894e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bc151d8574fa7" /><Relationship Type="http://schemas.openxmlformats.org/officeDocument/2006/relationships/image" Target="/ppt/media/image.png" Id="R2dae96ebfba64957" /><Relationship Type="http://schemas.openxmlformats.org/officeDocument/2006/relationships/notesSlide" Target="/ppt/notesSlides/notesSlide1.xml" Id="R294d4fdc438e45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43668e64644aa" /><Relationship Type="http://schemas.openxmlformats.org/officeDocument/2006/relationships/notesSlide" Target="/ppt/notesSlides/notesSlide2.xml" Id="R38f4dbea0f0a4a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0851bd4c344da" /><Relationship Type="http://schemas.openxmlformats.org/officeDocument/2006/relationships/notesSlide" Target="/ppt/notesSlides/notesSlide3.xml" Id="R40cf9e984b1044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acc29f4de4096" /><Relationship Type="http://schemas.openxmlformats.org/officeDocument/2006/relationships/image" Target="/ppt/media/image2.png" Id="Raa8140b640a24086" /><Relationship Type="http://schemas.openxmlformats.org/officeDocument/2006/relationships/notesSlide" Target="/ppt/notesSlides/notesSlide4.xml" Id="Rdac0064777364b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9f1b8f33445d7" /><Relationship Type="http://schemas.openxmlformats.org/officeDocument/2006/relationships/image" Target="/ppt/media/image3.png" Id="R2f3feb67aa8c42a0" /><Relationship Type="http://schemas.openxmlformats.org/officeDocument/2006/relationships/notesSlide" Target="/ppt/notesSlides/notesSlide5.xml" Id="Rf59520feb76c41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358a6d53a4d6f" /><Relationship Type="http://schemas.openxmlformats.org/officeDocument/2006/relationships/image" Target="/ppt/media/image4.png" Id="R4ea8752960874a71" /><Relationship Type="http://schemas.openxmlformats.org/officeDocument/2006/relationships/notesSlide" Target="/ppt/notesSlides/notesSlide6.xml" Id="Rbe3d177fa4bc4e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4f331ba354931" /><Relationship Type="http://schemas.openxmlformats.org/officeDocument/2006/relationships/notesSlide" Target="/ppt/notesSlides/notesSlide7.xml" Id="R7b95fab350c14d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0f83485fe48c8" /><Relationship Type="http://schemas.openxmlformats.org/officeDocument/2006/relationships/notesSlide" Target="/ppt/notesSlides/notesSlide8.xml" Id="R395844d33da840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ae96ebfba6495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EEC47-411B-4C0E-93C3-2E80E9B6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8A5AA-5E59-462E-AC5F-D36F5781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4002B"/>
                </a:solidFill>
              </a:defRPr>
            </a:pPr>
            <a:r>
              <a:rPr sz="1350" b="1" i="0">
                <a:solidFill>
                  <a:srgbClr val="E4002B"/>
                </a:solidFill>
              </a:rPr>
              <a:t>TEAM BRAISE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735D9-0BD6-4953-A251-01AFD06C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143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FFFFFF"/>
                </a:solidFill>
              </a:defRPr>
            </a:pPr>
            <a:r>
              <a:rPr sz="4500" b="1" i="0">
                <a:solidFill>
                  <a:srgbClr val="FFFFFF"/>
                </a:solidFill>
              </a:rPr>
              <a:t>KFC Commerce</a:t>
            </a:r>
          </a:p>
          <a:p xmlns:a="http://schemas.openxmlformats.org/drawingml/2006/main">
            <a:pPr algn="l">
              <a:defRPr sz="4500" b="1" i="0">
                <a:solidFill>
                  <a:srgbClr val="FFFFFF"/>
                </a:solidFill>
              </a:defRPr>
            </a:pPr>
            <a:r>
              <a:rPr sz="45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AA598-DBB6-4B79-8312-4B9B3D67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7F2E8"/>
                </a:solidFill>
              </a:defRPr>
            </a:pPr>
            <a:r>
              <a:rPr sz="2175" b="1" i="0">
                <a:solidFill>
                  <a:srgbClr val="F7F2E8"/>
                </a:solidFill>
              </a:rPr>
              <a:t>For KFC customers, we turn natural</a:t>
            </a:r>
          </a:p>
          <a:p xmlns:a="http://schemas.openxmlformats.org/drawingml/2006/main">
            <a:pPr algn="l">
              <a:defRPr sz="2175" b="1" i="0">
                <a:solidFill>
                  <a:srgbClr val="F7F2E8"/>
                </a:solidFill>
              </a:defRPr>
            </a:pPr>
            <a:r>
              <a:rPr sz="2175" b="1" i="0">
                <a:solidFill>
                  <a:srgbClr val="F7F2E8"/>
                </a:solidFill>
              </a:rPr>
              <a:t>conversations into completed orders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C64D6-1C82-4DEF-A4E6-560F0860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771DD-FA0B-44A2-9F10-87D2373E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4933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by coordinating commerce systems, requesting</a:t>
            </a:r>
          </a:p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approval, and verifying the result.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746A4-A9D6-4157-BD37-A9FF4CB6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8B2A8"/>
                </a:solidFill>
              </a:defRPr>
            </a:pPr>
            <a:r>
              <a:rPr sz="1125" b="1" i="0">
                <a:solidFill>
                  <a:srgbClr val="B8B2A8"/>
                </a:solidFill>
              </a:rPr>
              <a:t>Commerce execution  ×  Agent engineering  ×  Product 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68058-FF64-409A-92BA-4FF0B1D7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THANG  /  PRESENTER</a:t>
            </a:r>
          </a:p>
        </p:txBody>
      </p:sp>
    </p:spTree>
    <p:extLst>
      <p:ext uri="{BB962C8B-B14F-4D97-AF65-F5344CB8AC3E}">
        <p14:creationId xmlns:p14="http://schemas.microsoft.com/office/powerpoint/2010/main" val="6782422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1F52F5-35E4-4245-BF6A-EB65CD16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02  /  THE CUSTOMER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3579A-8B00-4619-99A3-BE746B44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95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B0B0D"/>
                </a:solidFill>
              </a:defRPr>
            </a:pPr>
            <a:r>
              <a:rPr sz="975" b="1" i="0">
                <a:solidFill>
                  <a:srgbClr val="0B0B0D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EE345-7FF3-4FAB-9449-CBA23D91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0B0D"/>
                </a:solidFill>
              </a:defRPr>
            </a:pPr>
            <a:r>
              <a:rPr sz="3300" b="1" i="0">
                <a:solidFill>
                  <a:srgbClr val="0B0B0D"/>
                </a:solidFill>
              </a:rPr>
              <a:t>High-intent customers are already in chat—</a:t>
            </a:r>
          </a:p>
          <a:p xmlns:a="http://schemas.openxmlformats.org/drawingml/2006/main">
            <a:pPr algn="l">
              <a:defRPr sz="3300" b="1" i="0">
                <a:solidFill>
                  <a:srgbClr val="0B0B0D"/>
                </a:solidFill>
              </a:defRPr>
            </a:pPr>
            <a:r>
              <a:rPr sz="3300" b="1" i="0">
                <a:solidFill>
                  <a:srgbClr val="0B0B0D"/>
                </a:solidFill>
              </a:rPr>
              <a:t>but ordering sends them elsewhere.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57D05-65DA-4CFC-9E4E-93974C5E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5614A-2539-4D8A-9AB7-0D76A849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0B0D"/>
                </a:solidFill>
              </a:defRPr>
            </a:pPr>
            <a:r>
              <a:rPr sz="1200" b="1" i="0">
                <a:solidFill>
                  <a:srgbClr val="0B0B0D"/>
                </a:solidFill>
              </a:rPr>
              <a:t>THE CUSTOMER HAS 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134A1-0705-402B-A4FB-63AA9A9C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30C0F-0D90-49D9-8C77-FC9D0C9F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0B0D"/>
                </a:solidFill>
              </a:defRPr>
            </a:pPr>
            <a:r>
              <a:rPr sz="1350" b="1" i="0">
                <a:solidFill>
                  <a:srgbClr val="0B0B0D"/>
                </a:solidFill>
              </a:rPr>
              <a:t>Switch from Messenger or Zalo to another app or site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31617-07AE-47C2-B24F-1257E1B1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06FC3-0D34-4619-9B8B-8E64F6AC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0B0D"/>
                </a:solidFill>
              </a:defRPr>
            </a:pPr>
            <a:r>
              <a:rPr sz="1350" b="1" i="0">
                <a:solidFill>
                  <a:srgbClr val="0B0B0D"/>
                </a:solidFill>
              </a:rPr>
              <a:t>Leave chat to order, apply vouchers, or check loyalty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94670-C776-4F06-B89E-420B1BA4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9F23B-E185-41C8-AE51-ACDB71B4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386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0B0D"/>
                </a:solidFill>
              </a:defRPr>
            </a:pPr>
            <a:r>
              <a:rPr sz="1350" b="1" i="0">
                <a:solidFill>
                  <a:srgbClr val="0B0B0D"/>
                </a:solidFill>
              </a:rPr>
              <a:t>Wait for staff to carry the journey forward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40B89-4659-43B4-968A-55CD8F70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00300"/>
            <a:ext cx="5829300" cy="293370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58496-A89E-4511-928D-6B019338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43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WITH KFC COMMERCE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AD765-AB10-4E19-ACD5-6DB5C385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575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STAY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860A7-48F9-4FEB-8783-D5D5FF6A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28975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Complete the ordering journey in chat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54EDC-4857-4264-A877-866B865A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147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67A98-B9CB-4660-B07A-A9CC9F47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052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CONNECT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ADA60-6D31-4B0C-907F-AB4EE0D8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76675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Coordinate ordering, vouchers, loyalty, and fulfillment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95240-0471-46BE-B299-560B217E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362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907E5-2277-4B51-826A-02DBC40B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529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HAND OFF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184180-CAF7-427C-A4EE-4413E8A5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24375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Bring in staff when human help is needed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5859A8-34B5-4D79-95EE-D0993595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80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E40A52-4D4C-4BC8-8E4D-213B8B10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67400"/>
            <a:ext cx="1080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B0B0D"/>
                </a:solidFill>
              </a:defRPr>
            </a:pPr>
            <a:r>
              <a:rPr sz="1950" b="1" i="0">
                <a:solidFill>
                  <a:srgbClr val="0B0B0D"/>
                </a:solidFill>
              </a:rPr>
              <a:t>One conversation. One channel. One completed order.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96E3DA-5B5A-42C9-AC02-F98A9B11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C56ADC-DC30-4A8E-870F-DDCCAB62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817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6A63"/>
                </a:solidFill>
              </a:defRPr>
            </a:pPr>
            <a:r>
              <a:rPr sz="825" b="1" i="0">
                <a:solidFill>
                  <a:srgbClr val="6F6A63"/>
                </a:solidFill>
              </a:rPr>
              <a:t>TEAM BRAISE  /  KFC COMMERCE AGENT</a:t>
            </a:r>
          </a:p>
        </p:txBody>
      </p:sp>
    </p:spTree>
    <p:extLst>
      <p:ext uri="{BB962C8B-B14F-4D97-AF65-F5344CB8AC3E}">
        <p14:creationId xmlns:p14="http://schemas.microsoft.com/office/powerpoint/2010/main" val="446273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6E83E3-5469-4A80-9B48-757BB6F4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03  /  THE AGENT AT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71D5B-274F-465B-A090-F72964F7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95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D7AD4-65BD-42B9-B291-F920256C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Our agent runs a guarded</a:t>
            </a:r>
          </a:p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commerce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88A00-7010-4FAE-A985-33575370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162050"/>
            <a:ext cx="461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8B2A8"/>
                </a:solidFill>
              </a:defRPr>
            </a:pPr>
            <a:r>
              <a:rPr sz="1350" b="1" i="0">
                <a:solidFill>
                  <a:srgbClr val="B8B2A8"/>
                </a:solidFill>
              </a:rPr>
              <a:t>One agent keeps planning until the order is verified, clarified, or handed off.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E783B-A19B-41C3-902C-8423D4CB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3219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FFE24-B1FD-473A-ADDA-9FFDBD0C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171A0-B27B-4197-9917-48B959C6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431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CONTEXT / 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3C408-3FE6-4648-AC48-464AD536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8B2A8"/>
                </a:solidFill>
              </a:defRPr>
            </a:pPr>
            <a:r>
              <a:rPr sz="1125" b="1" i="0">
                <a:solidFill>
                  <a:srgbClr val="B8B2A8"/>
                </a:solidFill>
              </a:rPr>
              <a:t>Message + recent turns + verified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0B3E2-5A6C-45B4-B0A3-4B3EAC05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622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4002B"/>
                </a:solidFill>
              </a:defRPr>
            </a:pPr>
            <a:r>
              <a:rPr sz="165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89FD7-AA77-4984-ADED-2DFFA081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3219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1AE3B-2E16-4790-93C2-788A3BC7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563CA-97DC-43D7-8BBD-43FEE99C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431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16AB2-F822-4D16-A694-2E029B61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24175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8B2A8"/>
                </a:solidFill>
              </a:defRPr>
            </a:pPr>
            <a:r>
              <a:rPr sz="1125" b="1" i="0">
                <a:solidFill>
                  <a:srgbClr val="B8B2A8"/>
                </a:solidFill>
              </a:rPr>
              <a:t>Intent + entities + next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5FDF5-D8A9-416F-968B-100B7873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622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4002B"/>
                </a:solidFill>
              </a:defRPr>
            </a:pPr>
            <a:r>
              <a:rPr sz="165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A146D-8BFE-4AE3-A643-EFCC1D50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00300"/>
            <a:ext cx="3219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69AAE-B3DB-4551-A5D4-C81FA11C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CB4082-05D6-427E-B419-9CF52BF7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431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SELECT 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AC127E-3A0C-487F-B318-846B206F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24175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8B2A8"/>
                </a:solidFill>
              </a:defRPr>
            </a:pPr>
            <a:r>
              <a:rPr sz="1125" b="1" i="0">
                <a:solidFill>
                  <a:srgbClr val="B8B2A8"/>
                </a:solidFill>
              </a:rPr>
              <a:t>Bounded commerce 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58C3BD-FF6A-4BFB-8150-79A44737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219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0B54E6-0009-4869-9AA0-0C349471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241EDE-6ADE-4AFB-8424-671DE73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147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GUARD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C488F1-49BB-4C05-A755-5793D408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95775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8B2A8"/>
                </a:solidFill>
              </a:defRPr>
            </a:pPr>
            <a:r>
              <a:rPr sz="1125" b="1" i="0">
                <a:solidFill>
                  <a:srgbClr val="B8B2A8"/>
                </a:solidFill>
              </a:rPr>
              <a:t>Items + fulfillment + approval +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872338-D9E8-4A96-82FE-74E2C8B6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338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4002B"/>
                </a:solidFill>
              </a:defRPr>
            </a:pPr>
            <a:r>
              <a:rPr sz="165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DD6EDA-0E6C-4731-BC92-6DB7D4F1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71900"/>
            <a:ext cx="3219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0A6B99-4824-4007-AEB3-36CA1641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433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C1B8BE-99C0-4341-9E9F-3F06CD2B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147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478D81-A252-48CB-9927-570C279A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95775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Execute typed tool calls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5BC02A-7050-4AD5-96B4-655B5C07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338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4002B"/>
                </a:solidFill>
              </a:defRPr>
            </a:pPr>
            <a:r>
              <a:rPr sz="165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2C844D-5187-4D20-A56E-8F746F2A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3219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6A93F6-A1A4-4692-9ABF-39EA1F1A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663F46-E7F7-48FB-8F5C-C792D252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147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VERIFY + ADAPT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BB00FC-E84F-4D44-95BF-B065DC08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95775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8B2A8"/>
                </a:solidFill>
              </a:defRPr>
            </a:pPr>
            <a:r>
              <a:rPr sz="1125" b="1" i="0">
                <a:solidFill>
                  <a:srgbClr val="B8B2A8"/>
                </a:solidFill>
              </a:rPr>
              <a:t>Persist state; replan, respond, or hand 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944D3A-71D7-454A-B518-1A4C207C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72100"/>
            <a:ext cx="10801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7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2BFCA6-6F83-4127-B824-D807A306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43550"/>
            <a:ext cx="1015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0B0D"/>
                </a:solidFill>
              </a:defRPr>
            </a:pPr>
            <a:r>
              <a:rPr sz="1575" b="1" i="0">
                <a:solidFill>
                  <a:srgbClr val="0B0B0D"/>
                </a:solidFill>
              </a:rPr>
              <a:t>Only verified tool results become customer-visible commerce state.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4919A1-0423-4C82-A82E-68A976CE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3DC47B-8C48-4E10-99B7-14A872BB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817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B2A8"/>
                </a:solidFill>
              </a:defRPr>
            </a:pPr>
            <a:r>
              <a:rPr sz="825" b="1" i="0">
                <a:solidFill>
                  <a:srgbClr val="B8B2A8"/>
                </a:solidFill>
              </a:rPr>
              <a:t>TEAM BRAISE  /  KFC COMMERCE AGENT</a:t>
            </a:r>
          </a:p>
        </p:txBody>
      </p:sp>
    </p:spTree>
    <p:extLst>
      <p:ext uri="{BB962C8B-B14F-4D97-AF65-F5344CB8AC3E}">
        <p14:creationId xmlns:p14="http://schemas.microsoft.com/office/powerpoint/2010/main" val="12873000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5FDEC1-C704-43ED-A893-11387D46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04A  /  COMPLETE THE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69E7F-6DFD-4E97-9242-A5CB8FE9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95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B0B0D"/>
                </a:solidFill>
              </a:defRPr>
            </a:pPr>
            <a:r>
              <a:rPr sz="975" b="1" i="0">
                <a:solidFill>
                  <a:srgbClr val="0B0B0D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16EAB-9AA7-43BA-8D37-AACFE428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B0B0D"/>
                </a:solidFill>
              </a:defRPr>
            </a:pPr>
            <a:r>
              <a:rPr sz="3450" b="1" i="0">
                <a:solidFill>
                  <a:srgbClr val="0B0B0D"/>
                </a:solidFill>
              </a:rPr>
              <a:t>Complete the order</a:t>
            </a:r>
          </a:p>
          <a:p xmlns:a="http://schemas.openxmlformats.org/drawingml/2006/main">
            <a:pPr algn="l">
              <a:defRPr sz="3450" b="1" i="0">
                <a:solidFill>
                  <a:srgbClr val="0B0B0D"/>
                </a:solidFill>
              </a:defRPr>
            </a:pPr>
            <a:r>
              <a:rPr sz="3450" b="1" i="0">
                <a:solidFill>
                  <a:srgbClr val="0B0B0D"/>
                </a:solidFill>
              </a:rPr>
              <a:t>without leaving chat.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673A0-7CA8-4844-8673-644452D7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SOLVES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AC3DF-3E15-400F-AA87-1E669877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0B0D"/>
                </a:solidFill>
              </a:defRPr>
            </a:pPr>
            <a:r>
              <a:rPr sz="1725" b="1" i="0">
                <a:solidFill>
                  <a:srgbClr val="0B0B0D"/>
                </a:solidFill>
              </a:rPr>
              <a:t>Channel switching, broken ordering journeys,</a:t>
            </a:r>
          </a:p>
          <a:p xmlns:a="http://schemas.openxmlformats.org/drawingml/2006/main">
            <a:pPr algn="l">
              <a:defRPr sz="1725" b="1" i="0">
                <a:solidFill>
                  <a:srgbClr val="0B0B0D"/>
                </a:solidFill>
              </a:defRPr>
            </a:pPr>
            <a:r>
              <a:rPr sz="1725" b="1" i="0">
                <a:solidFill>
                  <a:srgbClr val="0B0B0D"/>
                </a:solidFill>
              </a:rPr>
              <a:t>and unnecessary manual handling.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459FD-8930-4C06-A7C1-9D2D8884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WHAT THE PRODUCT CONNECTS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6D32E-ADCB-4ACA-86AD-9B4D0402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0B0D"/>
                </a:solidFill>
              </a:defRPr>
            </a:pPr>
            <a:r>
              <a:rPr sz="1425" b="1" i="0">
                <a:solidFill>
                  <a:srgbClr val="0B0B0D"/>
                </a:solidFill>
              </a:rPr>
              <a:t>Messenger → cart → fulfillment → confirmation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DEB6A-146C-4672-BC41-3149BF8F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F6A63"/>
                </a:solidFill>
              </a:defRPr>
            </a:pPr>
            <a:r>
              <a:rPr sz="975" b="1" i="0">
                <a:solidFill>
                  <a:srgbClr val="6F6A63"/>
                </a:solidFill>
              </a:rPr>
              <a:t>SIMULATED / REPLACEABLE OMS ADAPTER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140b640a24086"/>
          <a:srcRect xmlns:a="http://schemas.openxmlformats.org/drawingml/2006/main" l="0" t="2396" r="0" b="23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1066800"/>
            <a:ext cx="4953000" cy="4343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1E2C9-F362-4467-959F-1289BCC0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67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MESSENGER PROOF  /  CONFIRMED ORDER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AF0AF-83D1-44B4-84DE-AA8648C7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1080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EF198-0355-4A8D-B87D-ADBA23AA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80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0B0D"/>
                </a:solidFill>
              </a:defRPr>
            </a:pPr>
            <a:r>
              <a:rPr sz="1500" b="1" i="0">
                <a:solidFill>
                  <a:srgbClr val="0B0B0D"/>
                </a:solidFill>
              </a:rPr>
              <a:t>One customer journey—coordinated across the systems needed to finish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16C42-9CE6-45BC-B781-A99305AD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6E7A5-618E-4F6A-B8CC-D8533D7D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817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6A63"/>
                </a:solidFill>
              </a:defRPr>
            </a:pPr>
            <a:r>
              <a:rPr sz="825" b="1" i="0">
                <a:solidFill>
                  <a:srgbClr val="6F6A63"/>
                </a:solidFill>
              </a:rPr>
              <a:t>TEAM BRAISE  /  KFC COMMERCE AGENT</a:t>
            </a:r>
          </a:p>
        </p:txBody>
      </p:sp>
    </p:spTree>
    <p:extLst>
      <p:ext uri="{BB962C8B-B14F-4D97-AF65-F5344CB8AC3E}">
        <p14:creationId xmlns:p14="http://schemas.microsoft.com/office/powerpoint/2010/main" val="16327647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1E0A39-7D46-4290-B14B-2802E506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04B  /  CLEAR CUSTOMER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C8252-8E1C-4F07-9722-508256CD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95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D83B8-3771-45D2-BC19-EADBDF95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Turn complex choices into</a:t>
            </a:r>
          </a:p>
          <a:p xmlns:a="http://schemas.openxmlformats.org/drawingml/2006/main">
            <a:pPr algn="l"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clear customer 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5642D-1427-4973-BB6D-91670A56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SOLVES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66FB1-A007-40CC-9E92-4B195303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Ambiguous text threads and difficult</a:t>
            </a:r>
          </a:p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multi-step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12482-EE1C-45C9-AC40-1E2311DE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4762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0C220-6382-4FCE-9DB8-4274B607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STRUCTURED GenUI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86DDF-D20F-45AC-A928-15DADD76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Verified store, ETA, fee, and address become a clear next action.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feb67aa8c42a0"/>
          <a:stretch xmlns:a="http://schemas.openxmlformats.org/drawingml/2006/main"/>
        </p:blipFill>
        <p:spPr>
          <a:xfrm xmlns:a="http://schemas.openxmlformats.org/drawingml/2006/main">
            <a:off x="7847009" y="800100"/>
            <a:ext cx="2479682" cy="53911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85BD3-47BA-42B4-BC0D-AF0C742E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1912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MOBILE GenUI  /  VERIFIED ORDER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16D4B-2C0A-4201-9503-DEBD6474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9467A-B641-4918-B14B-8E9F7594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817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B2A8"/>
                </a:solidFill>
              </a:defRPr>
            </a:pPr>
            <a:r>
              <a:rPr sz="825" b="1" i="0">
                <a:solidFill>
                  <a:srgbClr val="B8B2A8"/>
                </a:solidFill>
              </a:rPr>
              <a:t>TEAM BRAISE  /  KFC COMMERCE AGENT</a:t>
            </a:r>
          </a:p>
        </p:txBody>
      </p:sp>
    </p:spTree>
    <p:extLst>
      <p:ext uri="{BB962C8B-B14F-4D97-AF65-F5344CB8AC3E}">
        <p14:creationId xmlns:p14="http://schemas.microsoft.com/office/powerpoint/2010/main" val="4481677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EDB356-567B-4526-B3C2-D3439631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04C  /  SAFE EXECUTION +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DCAAE-8E3E-4FE2-B0B7-04EE39B0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95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B0B0D"/>
                </a:solidFill>
              </a:defRPr>
            </a:pPr>
            <a:r>
              <a:rPr sz="975" b="1" i="0">
                <a:solidFill>
                  <a:srgbClr val="0B0B0D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191A3-4952-427B-8CE5-02966B17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0B0D"/>
                </a:solidFill>
              </a:defRPr>
            </a:pPr>
            <a:r>
              <a:rPr sz="3000" b="1" i="0">
                <a:solidFill>
                  <a:srgbClr val="0B0B0D"/>
                </a:solidFill>
              </a:rPr>
              <a:t>Execute safely—and recover</a:t>
            </a:r>
          </a:p>
          <a:p xmlns:a="http://schemas.openxmlformats.org/drawingml/2006/main">
            <a:pPr algn="l">
              <a:defRPr sz="3000" b="1" i="0">
                <a:solidFill>
                  <a:srgbClr val="0B0B0D"/>
                </a:solidFill>
              </a:defRPr>
            </a:pPr>
            <a:r>
              <a:rPr sz="3000" b="1" i="0">
                <a:solidFill>
                  <a:srgbClr val="0B0B0D"/>
                </a:solidFill>
              </a:rPr>
              <a:t>when needed.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F76E9-4B15-4AE6-A46E-1E5B8C7E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SOLVES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BFC03-0D2D-4BB4-BF69-C037B2EB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0B0D"/>
                </a:solidFill>
              </a:defRPr>
            </a:pPr>
            <a:r>
              <a:rPr sz="1650" b="1" i="0">
                <a:solidFill>
                  <a:srgbClr val="0B0B0D"/>
                </a:solidFill>
              </a:rPr>
              <a:t>Unintended actions, invalid orders, unsupported claims,</a:t>
            </a:r>
          </a:p>
          <a:p xmlns:a="http://schemas.openxmlformats.org/drawingml/2006/main">
            <a:pPr algn="l">
              <a:defRPr sz="1650" b="1" i="0">
                <a:solidFill>
                  <a:srgbClr val="0B0B0D"/>
                </a:solidFill>
              </a:defRPr>
            </a:pPr>
            <a:r>
              <a:rPr sz="1650" b="1" i="0">
                <a:solidFill>
                  <a:srgbClr val="0B0B0D"/>
                </a:solidFill>
              </a:rPr>
              <a:t>and exceptions that require staff.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6A11A-BF82-4EEF-A591-E13C23C0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MONITOR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834B0-E72C-46D4-9F6F-214FBD48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671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0B0D"/>
                </a:solidFill>
              </a:defRPr>
            </a:pPr>
            <a:r>
              <a:rPr sz="1275" b="1" i="0">
                <a:solidFill>
                  <a:srgbClr val="0B0B0D"/>
                </a:solidFill>
              </a:rPr>
              <a:t>See live channel, context, confidence, and control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51790-DCE1-4B0B-9C13-3783FBA6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TAKE 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3EDE6-33BF-4223-AC53-365B703D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81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0B0D"/>
                </a:solidFill>
              </a:defRPr>
            </a:pPr>
            <a:r>
              <a:rPr sz="1275" b="1" i="0">
                <a:solidFill>
                  <a:srgbClr val="0B0B0D"/>
                </a:solidFill>
              </a:rPr>
              <a:t>A human can join when the session needs help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91AB3-B267-45F4-A435-228F9F12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RESUME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95133-9BAE-4837-8875-1A3D7207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958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0B0D"/>
                </a:solidFill>
              </a:defRPr>
            </a:pPr>
            <a:r>
              <a:rPr sz="1275" b="1" i="0">
                <a:solidFill>
                  <a:srgbClr val="0B0B0D"/>
                </a:solidFill>
              </a:rPr>
              <a:t>Return control to AI with explicit operator action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8752960874a71"/>
          <a:stretch xmlns:a="http://schemas.openxmlformats.org/drawingml/2006/main"/>
        </p:blipFill>
        <p:spPr>
          <a:xfrm xmlns:a="http://schemas.openxmlformats.org/drawingml/2006/main">
            <a:off x="6191250" y="881955"/>
            <a:ext cx="5048250" cy="4941691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E1709-D710-431C-BE63-C198E4B2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055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OPERATIONS MONITOR  /  AI HANDLING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2E92A-B583-489C-B061-ECBB1E4B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89460-608F-483A-BFBB-C084AD0C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0B0D"/>
                </a:solidFill>
              </a:defRPr>
            </a:pPr>
            <a:r>
              <a:rPr sz="1425" b="1" i="0">
                <a:solidFill>
                  <a:srgbClr val="0B0B0D"/>
                </a:solidFill>
              </a:rPr>
              <a:t>Customer control stays explicit—even when the happy path breaks.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88FA9-701F-4A76-B3D2-46DF7416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E2F7C-71FD-4CA3-A4CF-BBFE6D18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817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6A63"/>
                </a:solidFill>
              </a:defRPr>
            </a:pPr>
            <a:r>
              <a:rPr sz="825" b="1" i="0">
                <a:solidFill>
                  <a:srgbClr val="6F6A63"/>
                </a:solidFill>
              </a:rPr>
              <a:t>TEAM BRAISE  /  KFC COMMERCE AGENT</a:t>
            </a:r>
          </a:p>
        </p:txBody>
      </p:sp>
    </p:spTree>
    <p:extLst>
      <p:ext uri="{BB962C8B-B14F-4D97-AF65-F5344CB8AC3E}">
        <p14:creationId xmlns:p14="http://schemas.microsoft.com/office/powerpoint/2010/main" val="17472563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EEE23F-F784-449A-AC1E-5C12FC1C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05  / 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CCD90-DEDB-4015-A57B-9FAA5702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95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35A58-6989-43FA-BF08-525AED6F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We evaluated nine complete</a:t>
            </a:r>
          </a:p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customer outcomes.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25B92-5F41-45EE-BFA3-1D7956C8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8B2A8"/>
                </a:solidFill>
              </a:defRPr>
            </a:pPr>
            <a:r>
              <a:rPr sz="1275" b="1" i="0">
                <a:solidFill>
                  <a:srgbClr val="B8B2A8"/>
                </a:solidFill>
              </a:rPr>
              <a:t>Representative scenario evaluation—not a measured business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6F9B7-A3DF-42DD-B7C6-AFB5C409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305D5-1A1A-41F1-A07E-706DCD68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OUTCOME COMPLETED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046A3-D092-4C8A-8239-6D78E04A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193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31E6D-D8C7-4CAD-BFFE-0DB57DFF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384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COMMERCE STATE VALID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2FE85-9900-42E4-9BFA-ED7907E5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91D31-2E18-4B02-B33B-6F0DD84C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384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APPROVAL ENFORCED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E3C66-1466-4BD7-B132-3864837A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193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A574D-B65F-4272-BE26-F60C3293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384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FAILURE RECOVERED OR HANDED 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92FFA-3164-4352-8E95-265DC53E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ORDERING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2CDB5-3A29-4727-9BF0-38961D18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88312-38EB-4B53-AA47-978184F2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  Clear order + confirmation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93DA1-5056-4EBB-89E4-BAE497EC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  Combo recommendation + upsell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C181F-ED73-43D9-A34A-8B017FAA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06  Natural-language safety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F3FC8-D6A3-46A7-A73F-ECCE572D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07  Personalization + loyalty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3AB03-44CD-4C35-BACB-B9B6D1EA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9525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BD791D-ED33-43A7-8C23-87E75709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FULFILLMENT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024584-84CF-4A73-AEEB-9AA60863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480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5AA64-F0A6-4D90-AE9E-0D5DFCA2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  Inventory + address + store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D618E-9F2A-42A6-9A12-E09249A0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86100"/>
            <a:ext cx="9525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F69B9-DB6C-4C25-A37E-D00980FA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PAYMENT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49B4AB-F32E-4E46-9D1B-703169C7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1F3A33-14E5-438B-A4F3-D071FB0A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08  Payment failure + anomaly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ADDBCA-D02A-4337-9EFD-5070B2DD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09  Payment method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39C3FE-A50D-40FF-A95C-59C1342B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86100"/>
            <a:ext cx="9525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EAD152-EAA6-4F58-A6BF-C77565B0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002B"/>
                </a:solidFill>
              </a:defRPr>
            </a:pPr>
            <a:r>
              <a:rPr sz="1050" b="1" i="0">
                <a:solidFill>
                  <a:srgbClr val="E4002B"/>
                </a:solidFill>
              </a:rPr>
              <a:t>RECOVERY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00DE1E-581F-4AC3-83C4-F52CBBBB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480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EDDB7F-CD44-472F-AC31-1D8E3597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385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04  Post-order support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86C8CB-9E4F-4C33-BA94-2E976B90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05  Complaint + human handoff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1AA38D-A2D4-4FD6-A412-16F55132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5E0517-8422-419B-A79A-7797913F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002B"/>
                </a:solidFill>
              </a:defRPr>
            </a:pPr>
            <a:r>
              <a:rPr sz="975" b="1" i="0">
                <a:solidFill>
                  <a:srgbClr val="E4002B"/>
                </a:solidFill>
              </a:rPr>
              <a:t>CONTINUOUS QUALITY LOOP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504A25-35F9-4728-BDBA-170157B8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619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OBSERVE LOGS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31583C-471D-4A9F-A0E9-88196F6E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19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4002B"/>
                </a:solidFill>
              </a:defRPr>
            </a:pPr>
            <a:r>
              <a:rPr sz="135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EF11F7-3DFE-4543-BD3B-FB316D55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19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FIND GAPS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8CBB4D-DBDE-4430-A062-D97A5650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19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4002B"/>
                </a:solidFill>
              </a:defRPr>
            </a:pPr>
            <a:r>
              <a:rPr sz="135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207969-A6A0-43D6-8350-142FED3A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197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IMPROVE BEHAVIOR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0BFB81-7931-4E29-B5F4-278307ED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619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4002B"/>
                </a:solidFill>
              </a:defRPr>
            </a:pPr>
            <a:r>
              <a:rPr sz="1350" b="1" i="0">
                <a:solidFill>
                  <a:srgbClr val="E4002B"/>
                </a:solidFill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45E33E-CC23-4FC3-B193-F3CCF76E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619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RE-EVALUATE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25537C-F53B-44E8-BE45-0DE7B0C1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81700"/>
            <a:ext cx="784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B8B2A8"/>
                </a:solidFill>
              </a:defRPr>
            </a:pPr>
            <a:r>
              <a:rPr sz="1200" b="1" i="0">
                <a:solidFill>
                  <a:srgbClr val="B8B2A8"/>
                </a:solidFill>
              </a:rPr>
              <a:t>Every journey produces logs and outcome data that feed the next quality cycle.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3A522F-DBC9-4155-BE3C-E16BA7C0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CD208E-0B35-45A9-9D67-E17B23F2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817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B2A8"/>
                </a:solidFill>
              </a:defRPr>
            </a:pPr>
            <a:r>
              <a:rPr sz="825" b="1" i="0">
                <a:solidFill>
                  <a:srgbClr val="B8B2A8"/>
                </a:solidFill>
              </a:rPr>
              <a:t>TEAM BRAISE  /  KFC COMMERCE AGENT</a:t>
            </a:r>
          </a:p>
        </p:txBody>
      </p:sp>
    </p:spTree>
    <p:extLst>
      <p:ext uri="{BB962C8B-B14F-4D97-AF65-F5344CB8AC3E}">
        <p14:creationId xmlns:p14="http://schemas.microsoft.com/office/powerpoint/2010/main" val="3809712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F86AB7-D023-41B0-BCE9-2CC35B42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06  / 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99620-8294-445B-838B-B157E466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95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3C2DC-4F9D-4229-9075-B64A287B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Improve the basket—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without taking control away.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B68BE-46F8-4176-B34E-0C2D0D42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62A52-3FCE-440B-A2F6-499492DC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GOAL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C1C4F-BB01-4272-B816-329D36EB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Feed four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within 300K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B6CA5-9925-4261-8D7D-5F92D196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813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81610-740C-4952-A1B0-B7940224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TRIGGER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CE208-A251-44A8-BFAE-06DA2665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00400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10 chicken pieces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+ 4 Pepsi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04FDE-AE3E-4026-89C4-AECC50C4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1B3D2-A9FB-46C7-9C95-F413A0C4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622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AGENT 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AC349-DC3F-4AC7-989D-7ABAA80C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00400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2 verified combos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+ priced upsize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3A279-2368-471C-A96D-D1EBD258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813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84188-881D-4A7D-B32B-B656865D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622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002B"/>
                </a:solidFill>
              </a:defRPr>
            </a:pPr>
            <a:r>
              <a:rPr sz="1125" b="1" i="0">
                <a:solidFill>
                  <a:srgbClr val="E4002B"/>
                </a:solidFill>
              </a:rPr>
              <a:t>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F0463-4BD7-4176-816C-0F308A54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00400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Customer approves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both changes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5390F-443C-47B8-A1A9-9F7AF9E6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813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865AD-EA0E-427A-83CC-E75AF2E8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622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DA66E"/>
                </a:solidFill>
              </a:defRPr>
            </a:pPr>
            <a:r>
              <a:rPr sz="1125" b="1" i="0">
                <a:solidFill>
                  <a:srgbClr val="2DA66E"/>
                </a:solidFill>
              </a:rPr>
              <a:t>PROOF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057FB-5914-4D9B-AD9D-E08637F7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00400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304K confirmed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COD order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EA17CF-4904-45A3-819A-57C6A40B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1080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746E11-481D-441B-A7EB-B7CD7FA7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1080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7F2E8"/>
                </a:solidFill>
              </a:defRPr>
            </a:pPr>
            <a:r>
              <a:rPr sz="1725" b="1" i="0">
                <a:solidFill>
                  <a:srgbClr val="F7F2E8"/>
                </a:solidFill>
              </a:rPr>
              <a:t>No combo conversion or upsize happens before customer approval.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FBF4B2-8207-4870-AF88-803819E5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1080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B8B2A8"/>
                </a:solidFill>
              </a:defRPr>
            </a:pPr>
            <a:r>
              <a:rPr sz="1275" b="1" i="0">
                <a:solidFill>
                  <a:srgbClr val="B8B2A8"/>
                </a:solidFill>
              </a:rPr>
              <a:t>Loose items  →  better-fit combo  →  priced upsize  →  verified 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2ABB81-0E0C-4873-82D6-866B9BAC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0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2CB893-DFE6-4AD0-9CCB-91226997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817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B2A8"/>
                </a:solidFill>
              </a:defRPr>
            </a:pPr>
            <a:r>
              <a:rPr sz="825" b="1" i="0">
                <a:solidFill>
                  <a:srgbClr val="B8B2A8"/>
                </a:solidFill>
              </a:rPr>
              <a:t>TEAM BRAISE  /  KFC COMMERCE AGENT</a:t>
            </a:r>
          </a:p>
        </p:txBody>
      </p:sp>
    </p:spTree>
    <p:extLst>
      <p:ext uri="{BB962C8B-B14F-4D97-AF65-F5344CB8AC3E}">
        <p14:creationId xmlns:p14="http://schemas.microsoft.com/office/powerpoint/2010/main" val="1988989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2026-07-11T18:21:32.5880000Z</dcterms:created>
  <dcterms:modified xsi:type="dcterms:W3CDTF">2026-07-11T18:21:32.5880000Z</dcterms:modified>
</coreProperties>
</file>