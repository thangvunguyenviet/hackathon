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b7d30af3743f6" /><Relationship Type="http://schemas.openxmlformats.org/officeDocument/2006/relationships/extended-properties" Target="/docProps/app.xml" Id="R4c44c30e84004933" /><Relationship Type="http://schemas.openxmlformats.org/officeDocument/2006/relationships/officeDocument" Target="/ppt/presentation.xml" Id="Rf380c00b3cbe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0c1c901014fb4"/>
  </p:sldMasterIdLst>
  <p:notesMasterIdLst>
    <p:notesMasterId xmlns:r="http://schemas.openxmlformats.org/officeDocument/2006/relationships" r:id="R054bba2374f9436e"/>
  </p:notesMasterIdLst>
  <p:sldIdLst>
    <p:sldId xmlns:r="http://schemas.openxmlformats.org/officeDocument/2006/relationships" id="256" r:id="R26a8570f17124e75"/>
    <p:sldId xmlns:r="http://schemas.openxmlformats.org/officeDocument/2006/relationships" id="257" r:id="R42ad8ad91f58469c"/>
    <p:sldId xmlns:r="http://schemas.openxmlformats.org/officeDocument/2006/relationships" id="258" r:id="Rbd7dcd13b7b54393"/>
    <p:sldId xmlns:r="http://schemas.openxmlformats.org/officeDocument/2006/relationships" id="259" r:id="Rdd95482ced8041ee"/>
    <p:sldId xmlns:r="http://schemas.openxmlformats.org/officeDocument/2006/relationships" id="260" r:id="Rc3b8d3969ca545a0"/>
    <p:sldId xmlns:r="http://schemas.openxmlformats.org/officeDocument/2006/relationships" id="261" r:id="R30912305363449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2b1b3bb9c4287" /><Relationship Type="http://schemas.openxmlformats.org/officeDocument/2006/relationships/slideMaster" Target="/ppt/slideMasters/slideMaster1.xml" Id="R7af0c1c901014fb4" /><Relationship Type="http://schemas.openxmlformats.org/officeDocument/2006/relationships/notesMaster" Target="/ppt/notesMasters/notesMaster1.xml" Id="R054bba2374f9436e" /><Relationship Type="http://schemas.openxmlformats.org/officeDocument/2006/relationships/presProps" Target="/ppt/presProps.xml" Id="Rcdf9f44b55214630" /><Relationship Type="http://schemas.openxmlformats.org/officeDocument/2006/relationships/tableStyles" Target="/ppt/tableStyles.xml" Id="R6037c2ec7cc44484" /><Relationship Type="http://schemas.openxmlformats.org/officeDocument/2006/relationships/slide" Target="/ppt/slides/slide1.xml" Id="R26a8570f17124e75" /><Relationship Type="http://schemas.openxmlformats.org/officeDocument/2006/relationships/slide" Target="/ppt/slides/slide2.xml" Id="R42ad8ad91f58469c" /><Relationship Type="http://schemas.openxmlformats.org/officeDocument/2006/relationships/slide" Target="/ppt/slides/slide3.xml" Id="Rbd7dcd13b7b54393" /><Relationship Type="http://schemas.openxmlformats.org/officeDocument/2006/relationships/slide" Target="/ppt/slides/slide4.xml" Id="Rdd95482ced8041ee" /><Relationship Type="http://schemas.openxmlformats.org/officeDocument/2006/relationships/slide" Target="/ppt/slides/slide5.xml" Id="Rc3b8d3969ca545a0" /><Relationship Type="http://schemas.openxmlformats.org/officeDocument/2006/relationships/slide" Target="/ppt/slides/slide6.xml" Id="R309123053634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d626804aa74d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d8dcc6cdd48ee" /><Relationship Type="http://schemas.openxmlformats.org/officeDocument/2006/relationships/notesMaster" Target="/ppt/notesMasters/notesMaster1.xml" Id="R488b80471b844f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5b0f65c674861" /><Relationship Type="http://schemas.openxmlformats.org/officeDocument/2006/relationships/notesMaster" Target="/ppt/notesMasters/notesMaster1.xml" Id="R24b4ddb777ef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b5477163942e1" /><Relationship Type="http://schemas.openxmlformats.org/officeDocument/2006/relationships/notesMaster" Target="/ppt/notesMasters/notesMaster1.xml" Id="R6e67eb6a9aba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bcd00d0fd4c96" /><Relationship Type="http://schemas.openxmlformats.org/officeDocument/2006/relationships/notesMaster" Target="/ppt/notesMasters/notesMaster1.xml" Id="Rd4e5160b055e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b3f74ca7f4449" /><Relationship Type="http://schemas.openxmlformats.org/officeDocument/2006/relationships/notesMaster" Target="/ppt/notesMasters/notesMaster1.xml" Id="Rde6b7ab0a3274e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f9cc84acb433c" /><Relationship Type="http://schemas.openxmlformats.org/officeDocument/2006/relationships/notesMaster" Target="/ppt/notesMasters/notesMaster1.xml" Id="Rdfe908be1c424d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a604eacd2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10c5af56b4efc" /><Relationship Type="http://schemas.openxmlformats.org/officeDocument/2006/relationships/slideLayout" Target="/ppt/slideLayouts/slideLayout1.xml" Id="R418e204346de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8e204346de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4266330fa4a7c" /><Relationship Type="http://schemas.openxmlformats.org/officeDocument/2006/relationships/notesSlide" Target="/ppt/notesSlides/notesSlide1.xml" Id="Re478bda510ae4b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4e1130a344b9" /><Relationship Type="http://schemas.openxmlformats.org/officeDocument/2006/relationships/notesSlide" Target="/ppt/notesSlides/notesSlide2.xml" Id="R24c3fc333f42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39db97a434035" /><Relationship Type="http://schemas.openxmlformats.org/officeDocument/2006/relationships/notesSlide" Target="/ppt/notesSlides/notesSlide3.xml" Id="R22856a13d1b84d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68b82728b486d" /><Relationship Type="http://schemas.openxmlformats.org/officeDocument/2006/relationships/notesSlide" Target="/ppt/notesSlides/notesSlide4.xml" Id="Rada757a2674c41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fda13e7a348d4" /><Relationship Type="http://schemas.openxmlformats.org/officeDocument/2006/relationships/notesSlide" Target="/ppt/notesSlides/notesSlide5.xml" Id="R06cffaecdfa6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2f7dbedfe4603" /><Relationship Type="http://schemas.openxmlformats.org/officeDocument/2006/relationships/notesSlide" Target="/ppt/notesSlides/notesSlide6.xml" Id="R9e88234d4208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7B36E-9E26-4DBE-909B-1A461B5B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97386"/>
                </a:solidFill>
              </a:defRPr>
            </a:pPr>
            <a:r>
              <a:rPr sz="975" b="1" i="0">
                <a:solidFill>
                  <a:srgbClr val="697386"/>
                </a:solidFill>
              </a:rPr>
              <a:t>01  /  TEAM +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FD09-1134-43EB-881D-58D54EE7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2237"/>
                </a:solidFill>
              </a:defRPr>
            </a:pPr>
            <a:r>
              <a:rPr sz="975" b="1" i="0">
                <a:solidFill>
                  <a:srgbClr val="142237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54A28-018C-4BC0-95F4-5EF233D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4342F-6571-45AE-A7F5-BF909F8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386"/>
                </a:solidFill>
              </a:defRPr>
            </a:pPr>
            <a:r>
              <a:rPr sz="825" b="1" i="0">
                <a:solidFill>
                  <a:srgbClr val="697386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94DE2-5940-41EC-880C-42098974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WE 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B475B-D2B1-41E3-9346-1D01270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42237"/>
                </a:solidFill>
              </a:defRPr>
            </a:pPr>
            <a:r>
              <a:rPr sz="3300" b="1" i="0">
                <a:solidFill>
                  <a:srgbClr val="142237"/>
                </a:solidFill>
              </a:rPr>
              <a:t>Team Braise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4165C-8FD3-4ADD-9135-293D62A4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WE 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890E9-D84B-446D-B218-66EF3C8E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42237"/>
                </a:solidFill>
              </a:defRPr>
            </a:pPr>
            <a:r>
              <a:rPr sz="3750" b="1" i="0">
                <a:solidFill>
                  <a:srgbClr val="142237"/>
                </a:solidFill>
              </a:rPr>
              <a:t>KFC Commerce</a:t>
            </a:r>
          </a:p>
          <a:p xmlns:a="http://schemas.openxmlformats.org/drawingml/2006/main">
            <a:pPr algn="l">
              <a:defRPr sz="3750" b="1" i="0">
                <a:solidFill>
                  <a:srgbClr val="142237"/>
                </a:solidFill>
              </a:defRPr>
            </a:pPr>
            <a:r>
              <a:rPr sz="3750" b="1" i="0">
                <a:solidFill>
                  <a:srgbClr val="142237"/>
                </a:solidFill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E8571-3839-4F28-98CB-C303E81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2869-D2F8-4355-86DD-11993B58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THANG  /  PRESENTER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B3A5A-581A-4391-AB31-88B3BAD7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38200"/>
            <a:ext cx="6305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3C6DE-1FD6-4935-A7A2-BF0CFE9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38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6BFF"/>
                </a:solidFill>
              </a:defRPr>
            </a:pPr>
            <a:r>
              <a:rPr sz="1125" b="1" i="0">
                <a:solidFill>
                  <a:srgbClr val="2F6BFF"/>
                </a:solidFill>
              </a:rPr>
              <a:t>FOR KFC CUSTOMERS, WE DELIVER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C2B82-37D8-4D55-B9E7-DFEC002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14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F6BFF"/>
                </a:solidFill>
              </a:defRPr>
            </a:pPr>
            <a:r>
              <a:rPr sz="3450" b="1" i="0">
                <a:solidFill>
                  <a:srgbClr val="2F6BFF"/>
                </a:solidFill>
              </a:rPr>
              <a:t>a confirmed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108F6-153D-49F0-A7C7-259DC95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62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2237"/>
                </a:solidFill>
              </a:defRPr>
            </a:pPr>
            <a:r>
              <a:rPr sz="2250" b="1" i="0">
                <a:solidFill>
                  <a:srgbClr val="142237"/>
                </a:solidFill>
              </a:rPr>
              <a:t>from a natural 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CADF6-5D73-493D-9096-AD473EC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521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2237"/>
                </a:solidFill>
              </a:defRPr>
            </a:pPr>
            <a:r>
              <a:rPr sz="1725" b="0" i="0">
                <a:solidFill>
                  <a:srgbClr val="142237"/>
                </a:solidFill>
              </a:rPr>
              <a:t>by using an AI agent to plan, use commerce tools, execute approved changes, and verify the result.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06D20-A33D-433D-A174-EB637BBF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E7A31-7A68-4001-93E7-591674A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237"/>
                </a:solidFill>
              </a:defRPr>
            </a:pPr>
            <a:r>
              <a:rPr sz="1350" b="1" i="0">
                <a:solidFill>
                  <a:srgbClr val="142237"/>
                </a:solidFill>
              </a:rPr>
              <a:t>Conversation becomes a customer-approved, verified order.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B7739-4B59-40DE-A5D0-F361AA63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15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97386"/>
                </a:solidFill>
              </a:defRPr>
            </a:pPr>
            <a:r>
              <a:rPr sz="1200" b="1" i="0">
                <a:solidFill>
                  <a:srgbClr val="697386"/>
                </a:solidFill>
              </a:rPr>
              <a:t>Commerce workflow  ×  Agent engineering  ×  Product experience</a:t>
            </a:r>
          </a:p>
        </p:txBody>
      </p:sp>
    </p:spTree>
    <p:extLst>
      <p:ext uri="{BB962C8B-B14F-4D97-AF65-F5344CB8AC3E}">
        <p14:creationId xmlns:p14="http://schemas.microsoft.com/office/powerpoint/2010/main" val="929878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7EE6E-87E8-441E-8CFF-C90D197C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97386"/>
                </a:solidFill>
              </a:defRPr>
            </a:pPr>
            <a:r>
              <a:rPr sz="975" b="1" i="0">
                <a:solidFill>
                  <a:srgbClr val="697386"/>
                </a:solidFill>
              </a:rPr>
              <a:t>02  /  PROBLEM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AD5F1-4680-4826-AB3E-9AC063F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2237"/>
                </a:solidFill>
              </a:defRPr>
            </a:pPr>
            <a:r>
              <a:rPr sz="975" b="1" i="0">
                <a:solidFill>
                  <a:srgbClr val="14223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971B6-ED80-45E3-AAE5-A39C141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718B9-E2D6-4BA7-BEEB-61336AE9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386"/>
                </a:solidFill>
              </a:defRPr>
            </a:pPr>
            <a:r>
              <a:rPr sz="825" b="1" i="0">
                <a:solidFill>
                  <a:srgbClr val="697386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926E-98B7-43FD-8A4B-B52730E9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38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237"/>
                </a:solidFill>
              </a:defRPr>
            </a:pPr>
            <a:r>
              <a:rPr sz="3000" b="1" i="0">
                <a:solidFill>
                  <a:srgbClr val="142237"/>
                </a:solidFill>
              </a:rPr>
              <a:t>Customers are not asking for answers.</a:t>
            </a:r>
          </a:p>
          <a:p xmlns:a="http://schemas.openxmlformats.org/drawingml/2006/main">
            <a:pPr algn="l">
              <a:defRPr sz="3000" b="1" i="0">
                <a:solidFill>
                  <a:srgbClr val="142237"/>
                </a:solidFill>
              </a:defRPr>
            </a:pPr>
            <a:r>
              <a:rPr sz="3000" b="1" i="0">
                <a:solidFill>
                  <a:srgbClr val="142237"/>
                </a:solidFill>
              </a:rPr>
              <a:t>They are trying to complete an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5198C-757D-4B19-BDAF-AB260556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WHO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6D01F-DBC6-4D1E-A4FC-2C64F47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288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237"/>
                </a:solidFill>
              </a:defRPr>
            </a:pPr>
            <a:r>
              <a:rPr sz="1500" b="0" i="0">
                <a:solidFill>
                  <a:srgbClr val="142237"/>
                </a:solidFill>
              </a:rPr>
              <a:t>KFC customer ordering in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8A24-090C-419D-BA2D-63B55705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BF63F-6F11-4674-AAA1-653E041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89FDF-8730-49F6-BA61-33E3604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237"/>
                </a:solidFill>
              </a:defRPr>
            </a:pPr>
            <a:r>
              <a:rPr sz="1500" b="0" i="0">
                <a:solidFill>
                  <a:srgbClr val="142237"/>
                </a:solidFill>
              </a:rPr>
              <a:t>Get the right meal ordered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1F0B-263D-416A-8AA1-C2CC71A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73BA2-515B-4B5D-9738-95505C2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33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2A40-4FA5-4E15-972E-F6A1E497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86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237"/>
                </a:solidFill>
              </a:defRPr>
            </a:pPr>
            <a:r>
              <a:rPr sz="1500" b="0" i="0">
                <a:solidFill>
                  <a:srgbClr val="142237"/>
                </a:solidFill>
              </a:rPr>
              <a:t>Intent changes across menu, cart, delivery, and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A49FF-2580-48F9-AF00-B13072F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3AED6-5556-45A2-880A-EEF507C1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ROOT CAUSE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39411-8393-4E8E-BB86-4A8D4017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14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2237"/>
                </a:solidFill>
              </a:defRPr>
            </a:pPr>
            <a:r>
              <a:rPr sz="1500" b="0" i="0">
                <a:solidFill>
                  <a:srgbClr val="142237"/>
                </a:solidFill>
              </a:rPr>
              <a:t>Chat context and commerce state drift apart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209F9-D7B5-43A0-B068-88F3AA50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A44BF-531E-4513-BE70-8886FDB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CA30F-114F-4F14-AA57-7AE90CF6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434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237"/>
                </a:solidFill>
              </a:defRPr>
            </a:pPr>
            <a:r>
              <a:rPr sz="1500" b="1" i="0">
                <a:solidFill>
                  <a:srgbClr val="142237"/>
                </a:solidFill>
              </a:rPr>
              <a:t>KFC stakeholders prioritize sensible combo suggestions, size changes, and order modification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2BC3A-0B51-45A2-ADFB-00BE403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3EB55-B235-45D5-8DF5-CC6DCE39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667000" cy="31432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8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8D286-8E84-43B0-8182-804002E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THE INSIGHT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02F31-2366-4B30-8474-5F7B3AF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The hard part is not the reply.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51024-E1D0-44C7-A31A-8086531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8E1ED"/>
                </a:solidFill>
              </a:defRPr>
            </a:pPr>
            <a:r>
              <a:rPr sz="1500" b="0" i="0">
                <a:solidFill>
                  <a:srgbClr val="D8E1ED"/>
                </a:solidFill>
              </a:rPr>
              <a:t>It is keeping customer intent and the order state aligned until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881990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403AD-91CB-421C-A32B-CE2AD5EA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97386"/>
                </a:solidFill>
              </a:defRPr>
            </a:pPr>
            <a:r>
              <a:rPr sz="975" b="1" i="0">
                <a:solidFill>
                  <a:srgbClr val="697386"/>
                </a:solidFill>
              </a:rPr>
              <a:t>03  /  AGENTIC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8EB2D-F695-4E33-BD32-A1587DD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2237"/>
                </a:solidFill>
              </a:defRPr>
            </a:pPr>
            <a:r>
              <a:rPr sz="975" b="1" i="0">
                <a:solidFill>
                  <a:srgbClr val="14223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86CB1-A3E0-4C49-AECB-EF58F64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84ADE-B0DC-43EC-9635-066DAA5C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386"/>
                </a:solidFill>
              </a:defRPr>
            </a:pPr>
            <a:r>
              <a:rPr sz="825" b="1" i="0">
                <a:solidFill>
                  <a:srgbClr val="697386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0A709-3D60-4EB1-AFC3-DB2D156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42237"/>
                </a:solidFill>
              </a:defRPr>
            </a:pPr>
            <a:r>
              <a:rPr sz="2925" b="1" i="0">
                <a:solidFill>
                  <a:srgbClr val="142237"/>
                </a:solidFill>
              </a:rPr>
              <a:t>The agent turns intent into verified commerce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92648-E838-4F48-ADF4-45E34D8B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97386"/>
                </a:solidFill>
              </a:defRPr>
            </a:pPr>
            <a:r>
              <a:rPr sz="1425" b="0" i="0">
                <a:solidFill>
                  <a:srgbClr val="697386"/>
                </a:solidFill>
              </a:rPr>
              <a:t>Judges can see the decision and the action—not just a chatbot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45B85-F2B0-4A67-80EE-09459DED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057400" cy="2667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531A-31E8-48DF-AD7C-42EFE30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7839C-DFAE-4D55-8E6D-07355C9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2237"/>
                </a:solidFill>
              </a:defRPr>
            </a:pPr>
            <a:r>
              <a:rPr sz="2025" b="1" i="0">
                <a:solidFill>
                  <a:srgbClr val="142237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F083D-32E7-44C4-AECF-001B76E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Understand party size, budget, and delivery need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E5C42-D1F7-4476-82D5-81419303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386"/>
                </a:solidFill>
              </a:defRPr>
            </a:pPr>
            <a:r>
              <a:rPr sz="1350" b="1" i="0">
                <a:solidFill>
                  <a:srgbClr val="69738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D6833-695D-4958-B631-06EC02FC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2057400" cy="2667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A0AC3-D2FA-4BD2-9CD6-32831D69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2CD84-FE72-4EEB-BB32-EF922B0C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2237"/>
                </a:solidFill>
              </a:defRPr>
            </a:pPr>
            <a:r>
              <a:rPr sz="2025" b="1" i="0">
                <a:solidFill>
                  <a:srgbClr val="142237"/>
                </a:solidFill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EAB76-35FF-4A39-80A0-7514D75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Identify missing decisions and the next safe 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68CA5-D3D7-4167-9A64-A67D37A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386"/>
                </a:solidFill>
              </a:defRPr>
            </a:pPr>
            <a:r>
              <a:rPr sz="1350" b="1" i="0">
                <a:solidFill>
                  <a:srgbClr val="69738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4FBE-9465-4D71-8032-A1C447EE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2057400" cy="2667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DA54E-BEEF-4FB3-B5C2-1ABFCBE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25DA2-F562-4441-B466-5A1425B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2237"/>
                </a:solidFill>
              </a:defRPr>
            </a:pPr>
            <a:r>
              <a:rPr sz="2025" b="1" i="0">
                <a:solidFill>
                  <a:srgbClr val="142237"/>
                </a:solidFill>
              </a:rPr>
              <a:t>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C8E16-2F6B-4783-B941-F2D47920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3380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Use catalog, cart, availability, fulfillment, and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936CD-6A8E-484B-B0F9-E5DBB9F8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386"/>
                </a:solidFill>
              </a:defRPr>
            </a:pPr>
            <a:r>
              <a:rPr sz="1350" b="1" i="0">
                <a:solidFill>
                  <a:srgbClr val="69738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73F43-7F47-4488-BD26-7CDA12AF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2057400" cy="2667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002B"/>
          </a:solidFill>
          <a:ln xmlns:a="http://schemas.openxmlformats.org/drawingml/2006/main" w="9525">
            <a:solidFill>
              <a:srgbClr val="E400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0E9D6-739B-4218-A2AC-5F9BAFB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9B984-A9FE-4AC6-94FF-B2AEA2CE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7F6BB-537B-49B8-B844-5BDDB53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Recommend, update, and execute approved changes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4792B-20E8-4BAF-B152-E4A4F23A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97386"/>
                </a:solidFill>
              </a:defRPr>
            </a:pPr>
            <a:r>
              <a:rPr sz="1350" b="1" i="0">
                <a:solidFill>
                  <a:srgbClr val="697386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66F96-6E98-44A2-89EE-27818EA4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57400" cy="2667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F1E0D-CC9D-419A-AD23-7DB1F697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F7BDB-9E4A-4DF8-953D-EF69D43B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2237"/>
                </a:solidFill>
              </a:defRPr>
            </a:pPr>
            <a:r>
              <a:rPr sz="2025" b="1" i="0">
                <a:solidFill>
                  <a:srgbClr val="142237"/>
                </a:solidFill>
              </a:rPr>
              <a:t>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DA280-0302-4FFF-A415-96A95B1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Check price, consent, fulfillment, and order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F401E-7084-45D4-80A5-AEE10BD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658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E5B72-85A1-4D9E-A2A8-589E3F7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53075"/>
            <a:ext cx="712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Irreversible action waits for explicit customer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23343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7CF58-EC98-4809-8073-25B08D2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97386"/>
                </a:solidFill>
              </a:defRPr>
            </a:pPr>
            <a:r>
              <a:rPr sz="975" b="1" i="0">
                <a:solidFill>
                  <a:srgbClr val="697386"/>
                </a:solidFill>
              </a:rPr>
              <a:t>04  /  WHY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3C6EF-F29D-4C5B-9834-160447E7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2237"/>
                </a:solidFill>
              </a:defRPr>
            </a:pPr>
            <a:r>
              <a:rPr sz="975" b="1" i="0">
                <a:solidFill>
                  <a:srgbClr val="14223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AEEF0-1C1F-4216-8D0E-A562516B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7C6D2-AD82-4624-A13F-D288C39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386"/>
                </a:solidFill>
              </a:defRPr>
            </a:pPr>
            <a:r>
              <a:rPr sz="825" b="1" i="0">
                <a:solidFill>
                  <a:srgbClr val="697386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1011-D17A-4FE2-AEC2-25186FE0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42237"/>
                </a:solidFill>
              </a:defRPr>
            </a:pPr>
            <a:r>
              <a:rPr sz="3000" b="1" i="0">
                <a:solidFill>
                  <a:srgbClr val="142237"/>
                </a:solidFill>
              </a:rPr>
              <a:t>It improves the basket without taking control 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8CE9B-A654-4891-8E4E-9B8E754F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97386"/>
                </a:solidFill>
              </a:defRPr>
            </a:pPr>
            <a:r>
              <a:rPr sz="1425" b="0" i="0">
                <a:solidFill>
                  <a:srgbClr val="697386"/>
                </a:solidFill>
              </a:rPr>
              <a:t>Every technical choice resolves a customer or operator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C8A35-CE36-44EE-90C0-012A6BD4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DESIGN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01F93-E05A-4146-96E4-D92F1A9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6BFF"/>
                </a:solidFill>
              </a:defRPr>
            </a:pPr>
            <a:r>
              <a:rPr sz="975" b="1" i="0">
                <a:solidFill>
                  <a:srgbClr val="2F6BFF"/>
                </a:solidFill>
              </a:rPr>
              <a:t>WHAT IT GIVES KFC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1BEEB-F7E3-4607-A939-5ACE27CF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955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2237"/>
                </a:solidFill>
              </a:defRPr>
            </a:pPr>
            <a:r>
              <a:rPr sz="1575" b="1" i="0">
                <a:solidFill>
                  <a:srgbClr val="142237"/>
                </a:solidFill>
              </a:rPr>
              <a:t>End-to-end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F045F-9AF3-4EDA-8E72-9BBD358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765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4002B"/>
                </a:solidFill>
              </a:defRPr>
            </a:pPr>
            <a:r>
              <a:rPr sz="18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23870-96A4-450C-A65D-B6DECEC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6267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910A6-2804-42AC-9E91-FD3D1282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622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4002B"/>
                </a:solidFill>
              </a:defRPr>
            </a:pPr>
            <a:r>
              <a:rPr sz="825" b="1" i="0">
                <a:solidFill>
                  <a:srgbClr val="E4002B"/>
                </a:solidFill>
              </a:rPr>
              <a:t>REAL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6AD2D-DF38-4E18-B9A3-3416121A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237"/>
                </a:solidFill>
              </a:defRPr>
            </a:pPr>
            <a:r>
              <a:rPr sz="1425" b="1" i="0">
                <a:solidFill>
                  <a:srgbClr val="142237"/>
                </a:solidFill>
              </a:rPr>
              <a:t>A conversation becomes an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E992A-A330-43C3-9CA7-6A9381D7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2237"/>
                </a:solidFill>
              </a:defRPr>
            </a:pPr>
            <a:r>
              <a:rPr sz="1575" b="1" i="0">
                <a:solidFill>
                  <a:srgbClr val="142237"/>
                </a:solidFill>
              </a:rPr>
              <a:t>Validation +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ED37B-10E1-41F6-AB3F-66A3A7CF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81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4002B"/>
                </a:solidFill>
              </a:defRPr>
            </a:pPr>
            <a:r>
              <a:rPr sz="18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D5479-AEE9-4283-BCEA-0D6AEAD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6267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BFDA7-2F44-4F44-8BA8-D9B54183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671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6BFF"/>
                </a:solidFill>
              </a:defRPr>
            </a:pPr>
            <a:r>
              <a:rPr sz="825" b="1" i="0">
                <a:solidFill>
                  <a:srgbClr val="2F6BFF"/>
                </a:solidFill>
              </a:rPr>
              <a:t>RELIABLE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6C6F2-663C-4FF9-9006-6E1F625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237"/>
                </a:solidFill>
              </a:defRPr>
            </a:pPr>
            <a:r>
              <a:rPr sz="1425" b="1" i="0">
                <a:solidFill>
                  <a:srgbClr val="142237"/>
                </a:solidFill>
              </a:rPr>
              <a:t>Invalid state never silently proceeds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CEEA6-357F-4CDF-A87B-115F740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2237"/>
                </a:solidFill>
              </a:defRPr>
            </a:pPr>
            <a:r>
              <a:rPr sz="1575" b="1" i="0">
                <a:solidFill>
                  <a:srgbClr val="142237"/>
                </a:solidFill>
              </a:rPr>
              <a:t>Explicit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1AE5C-BE56-4276-81DB-205454E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862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4002B"/>
                </a:solidFill>
              </a:defRPr>
            </a:pPr>
            <a:r>
              <a:rPr sz="18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9F7E5-F31E-44FC-9203-B039BF2A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19550"/>
            <a:ext cx="6267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C7508-7A46-405B-BC39-CE3C87D7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4002B"/>
                </a:solidFill>
              </a:defRPr>
            </a:pPr>
            <a:r>
              <a:rPr sz="825" b="1" i="0">
                <a:solidFill>
                  <a:srgbClr val="E4002B"/>
                </a:solidFill>
              </a:rPr>
              <a:t>CONTROLLED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1AD02-3462-4626-939D-4A18B89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237"/>
                </a:solidFill>
              </a:defRPr>
            </a:pPr>
            <a:r>
              <a:rPr sz="1425" b="1" i="0">
                <a:solidFill>
                  <a:srgbClr val="142237"/>
                </a:solidFill>
              </a:rPr>
              <a:t>No order without customer confirmation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12A11-5EDC-44F1-A0CC-102DF77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2237"/>
                </a:solidFill>
              </a:defRPr>
            </a:pPr>
            <a:r>
              <a:rPr sz="1575" b="1" i="0">
                <a:solidFill>
                  <a:srgbClr val="142237"/>
                </a:solidFill>
              </a:rPr>
              <a:t>One state, two interfaces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C11CF-F702-4B7D-BEBA-025FF4E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91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4002B"/>
                </a:solidFill>
              </a:defRPr>
            </a:pPr>
            <a:r>
              <a:rPr sz="180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D68F2-443E-4A5B-B9BA-D4B037A2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6267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D9E6C-21D6-4595-AB99-9F616A7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6BFF"/>
                </a:solidFill>
              </a:defRPr>
            </a:pPr>
            <a:r>
              <a:rPr sz="825" b="1" i="0">
                <a:solidFill>
                  <a:srgbClr val="2F6BFF"/>
                </a:solidFill>
              </a:rPr>
              <a:t>DIFFERENT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8D1FD3-B819-4DC8-B391-80190F91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29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237"/>
                </a:solidFill>
              </a:defRPr>
            </a:pPr>
            <a:r>
              <a:rPr sz="1425" b="1" i="0">
                <a:solidFill>
                  <a:srgbClr val="142237"/>
                </a:solidFill>
              </a:rPr>
              <a:t>Customer flow plus operator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A27B0-F5F3-4222-928F-56C268C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A90EF-9BC2-4392-9070-C92CA57C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237"/>
                </a:solidFill>
              </a:defRPr>
            </a:pPr>
            <a:r>
              <a:rPr sz="1350" b="1" i="0">
                <a:solidFill>
                  <a:srgbClr val="142237"/>
                </a:solidFill>
              </a:rPr>
              <a:t>Relevant combo and size suggestions improve basket fit; the customer approves every change.</a:t>
            </a:r>
          </a:p>
        </p:txBody>
      </p:sp>
    </p:spTree>
    <p:extLst>
      <p:ext uri="{BB962C8B-B14F-4D97-AF65-F5344CB8AC3E}">
        <p14:creationId xmlns:p14="http://schemas.microsoft.com/office/powerpoint/2010/main" val="1217020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D88A9-8CE4-4EFD-9740-27DE7F8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AB7C8"/>
                </a:solidFill>
              </a:defRPr>
            </a:pPr>
            <a:r>
              <a:rPr sz="975" b="1" i="0">
                <a:solidFill>
                  <a:srgbClr val="AAB7C8"/>
                </a:solidFill>
              </a:rPr>
              <a:t>05  /  EVIDENCE +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E97D-DC37-48B1-A15F-DF11EE0B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908D9-B11B-4716-BAF8-1683EB1F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94D4A-A930-436F-A11E-5521FBEB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2A0B3"/>
                </a:solidFill>
              </a:defRPr>
            </a:pPr>
            <a:r>
              <a:rPr sz="825" b="1" i="0">
                <a:solidFill>
                  <a:srgbClr val="92A0B3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E1993-1456-400E-9D60-406DC47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Our evidence covers nine representative customer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7ECBF-5509-4A99-8C5F-E7351B58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8"/>
                </a:solidFill>
              </a:defRPr>
            </a:pPr>
            <a:r>
              <a:rPr sz="1275" b="1" i="0">
                <a:solidFill>
                  <a:srgbClr val="AAB7C8"/>
                </a:solidFill>
              </a:rPr>
              <a:t>Evidence level: representative scenario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D8028-CCFE-459F-995A-6AA1DEEA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ORDERING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37E39-66B4-4ED8-A029-3A4CD6B7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B317-B28E-455D-A1F5-966100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01  Clear order + confirmation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B5B49-11F7-448F-B246-735BA214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02  Combo recommendation + upsell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89E2C-B89D-48B2-9E1C-43FAE14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06  Natural-language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C7160-B925-4FFF-B0BC-2F0FC752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07  Personalization + loyalty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A4B16-4D82-4CEE-A014-A126AA9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07702-6DF2-4B1E-81DF-439CFA92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FULFILLMENT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60B5A-0BD1-4304-8D90-1B324B87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215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18DB7-C2FD-4CD1-97EA-49F6990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03  Inventory + address +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A6907-FEF7-4F7D-8CB9-B63BA4D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97849-B274-4775-B9C8-CF271FA5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570DA-8D7A-4A6B-BAC6-6EE86BB8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15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90250-2F92-410D-980B-84410E40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08  Payment failure + anomaly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BE8C5-4F82-4C05-9D4B-BD6FAF9C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09  Payment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48A6A-FE9E-478F-894C-4D150DEF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11115-6925-4321-9A1B-F8B1BAB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4FC58-1182-4C35-A2D5-AC9F42D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15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AAA74-4EC3-4C73-882E-A434EEB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04  Post-order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752BE-63A9-4013-BADC-34CF66E3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05  Complaint + human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0E040-D377-479A-916D-3636EB35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15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BE973-2CE4-4B31-8AE3-A5E3A513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What it proves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8E77B-8C79-443C-8E9C-B80B6BF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435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Workflow breadth and outcome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7C805-4678-4F61-8525-8ECAE7B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Target impact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69A06-0B55-41CF-8751-5EA324A7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43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More conversations completed as orders</a:t>
            </a:r>
          </a:p>
        </p:txBody>
      </p:sp>
    </p:spTree>
    <p:extLst>
      <p:ext uri="{BB962C8B-B14F-4D97-AF65-F5344CB8AC3E}">
        <p14:creationId xmlns:p14="http://schemas.microsoft.com/office/powerpoint/2010/main" val="215756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59F613-7029-481D-B788-C4EFCE72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97386"/>
                </a:solidFill>
              </a:defRPr>
            </a:pPr>
            <a:r>
              <a:rPr sz="975" b="1" i="0">
                <a:solidFill>
                  <a:srgbClr val="697386"/>
                </a:solidFill>
              </a:rPr>
              <a:t>06  /  DEMO +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5F3B7-8BAA-4FB4-B790-BD86F77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2237"/>
                </a:solidFill>
              </a:defRPr>
            </a:pPr>
            <a:r>
              <a:rPr sz="975" b="1" i="0">
                <a:solidFill>
                  <a:srgbClr val="14223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4465-78CB-42E5-837C-579DFAA3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ABB6A-49E3-479D-A1BA-8163E6E8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10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386"/>
                </a:solidFill>
              </a:defRPr>
            </a:pPr>
            <a:r>
              <a:rPr sz="825" b="1" i="0">
                <a:solidFill>
                  <a:srgbClr val="697386"/>
                </a:solidFill>
              </a:rPr>
              <a:t>TEAM BRAISE  /  KFC COMMERCE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2E9D6-3278-4DD9-A529-A9E5DAE6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42237"/>
                </a:solidFill>
              </a:defRPr>
            </a:pPr>
            <a:r>
              <a:rPr sz="2925" b="1" i="0">
                <a:solidFill>
                  <a:srgbClr val="142237"/>
                </a:solidFill>
              </a:rPr>
              <a:t>One minute: from loose items to a confirmed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1DF5D-EF0E-4A4E-BC1A-81FFE54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97386"/>
                </a:solidFill>
              </a:defRPr>
            </a:pPr>
            <a:r>
              <a:rPr sz="1425" b="0" i="0">
                <a:solidFill>
                  <a:srgbClr val="697386"/>
                </a:solidFill>
              </a:rPr>
              <a:t>The live demo ends on the customer outcome—not the technology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8E4F6-E310-49B6-9B9C-EFB1F580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057400" cy="22669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8F08B-C8CF-4B92-85A0-FC53F9B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50B52-8A7C-444E-ABE7-223AE4C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2237"/>
                </a:solidFill>
              </a:defRPr>
            </a:pPr>
            <a:r>
              <a:rPr sz="1650" b="1" i="0">
                <a:solidFill>
                  <a:srgbClr val="142237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8911-6C86-4861-A798-724EF7F8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A meal for four within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E02B4-DB51-447F-A6EF-38E1ACC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149CC-58D9-4EF2-B2EF-55928DC7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2057400" cy="22669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2E94D-0655-4E79-8EB0-E778C45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F8490-59DB-445E-8B7C-457434F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2237"/>
                </a:solidFill>
              </a:defRPr>
            </a:pPr>
            <a:r>
              <a:rPr sz="1650" b="1" i="0">
                <a:solidFill>
                  <a:srgbClr val="142237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A4CF5-E539-4EEC-AA26-EE829882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A natural Vietnamese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D3E09-0B10-4C1B-8DB6-212B8F8E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A87E3-F34A-409B-8410-2CC6D64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057400" cy="22669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AAEBA-4B92-4BF6-8C6B-35BD5E23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CA16A-DC71-49FF-9CB1-E30C6B0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86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2237"/>
                </a:solidFill>
              </a:defRPr>
            </a:pPr>
            <a:r>
              <a:rPr sz="1650" b="1" i="0">
                <a:solidFill>
                  <a:srgbClr val="142237"/>
                </a:solidFill>
              </a:rPr>
              <a:t>AGENT 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D1CC8-881F-4323-B64A-3344DC4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Suggest combo and size; update cart; prepare 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5989E-6434-4E30-AC62-D45DB38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57F79-1347-4EE1-854C-5CA9C90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62200"/>
            <a:ext cx="2057400" cy="22669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BCBB0-B7AE-41FB-BB78-A554CE2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74C5A-2BE3-4215-BD34-319C1E6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86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2237"/>
                </a:solidFill>
              </a:defRPr>
            </a:pPr>
            <a:r>
              <a:rPr sz="1650" b="1" i="0">
                <a:solidFill>
                  <a:srgbClr val="142237"/>
                </a:solidFill>
              </a:rPr>
              <a:t>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07FE8-771B-4F52-A46D-7F3B5FB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38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97386"/>
                </a:solidFill>
              </a:defRPr>
            </a:pPr>
            <a:r>
              <a:rPr sz="1275" b="0" i="0">
                <a:solidFill>
                  <a:srgbClr val="697386"/>
                </a:solidFill>
              </a:rPr>
              <a:t>Customer approves the final 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52543-33E6-47D5-AA1A-7F5068B1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202F8-E75D-4642-BD4F-054C24A7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2057400" cy="22669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81B33"/>
          </a:solidFill>
          <a:ln xmlns:a="http://schemas.openxmlformats.org/drawingml/2006/main" w="9525">
            <a:solidFill>
              <a:srgbClr val="081B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5170B9-2A99-4DEE-A3E2-310BC5ED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9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2D621-C8B8-4E20-8A39-B268827B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86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C3E64-8044-457A-BDEE-49F8D24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Order ID and verified order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67A53-F65D-469E-A779-CE77657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15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83419-7072-4320-A332-9AD040F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6BFF"/>
                </a:solidFill>
              </a:defRPr>
            </a:pPr>
            <a:r>
              <a:rPr sz="1950" b="1" i="0">
                <a:solidFill>
                  <a:srgbClr val="2F6BFF"/>
                </a:solidFill>
              </a:rPr>
              <a:t>Choose Team Braise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C6C8F0-B499-45BA-9214-09C901C7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102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2237"/>
                </a:solidFill>
              </a:defRPr>
            </a:pPr>
            <a:r>
              <a:rPr sz="1725" b="1" i="0">
                <a:solidFill>
                  <a:srgbClr val="142237"/>
                </a:solidFill>
              </a:rPr>
              <a:t>to turn KFC conversations into completed orders.</a:t>
            </a:r>
          </a:p>
        </p:txBody>
      </p:sp>
    </p:spTree>
    <p:extLst>
      <p:ext uri="{BB962C8B-B14F-4D97-AF65-F5344CB8AC3E}">
        <p14:creationId xmlns:p14="http://schemas.microsoft.com/office/powerpoint/2010/main" val="592858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2026-07-11T16:16:18.6980000Z</dcterms:created>
  <dcterms:modified xsi:type="dcterms:W3CDTF">2026-07-11T16:16:18.6980000Z</dcterms:modified>
</coreProperties>
</file>